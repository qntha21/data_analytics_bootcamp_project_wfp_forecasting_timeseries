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499" r:id="rId2"/>
    <p:sldId id="504" r:id="rId3"/>
    <p:sldId id="440" r:id="rId4"/>
    <p:sldId id="442" r:id="rId5"/>
    <p:sldId id="469" r:id="rId6"/>
    <p:sldId id="470" r:id="rId7"/>
    <p:sldId id="471" r:id="rId8"/>
    <p:sldId id="503" r:id="rId9"/>
    <p:sldId id="439" r:id="rId10"/>
    <p:sldId id="474" r:id="rId11"/>
    <p:sldId id="444" r:id="rId12"/>
    <p:sldId id="487" r:id="rId13"/>
    <p:sldId id="475" r:id="rId14"/>
    <p:sldId id="446" r:id="rId15"/>
    <p:sldId id="513" r:id="rId16"/>
    <p:sldId id="514" r:id="rId17"/>
    <p:sldId id="515" r:id="rId18"/>
    <p:sldId id="508" r:id="rId19"/>
    <p:sldId id="509" r:id="rId20"/>
    <p:sldId id="511" r:id="rId21"/>
    <p:sldId id="454" r:id="rId22"/>
    <p:sldId id="445" r:id="rId23"/>
    <p:sldId id="506" r:id="rId24"/>
    <p:sldId id="507" r:id="rId25"/>
    <p:sldId id="450" r:id="rId26"/>
    <p:sldId id="510" r:id="rId27"/>
    <p:sldId id="453" r:id="rId28"/>
    <p:sldId id="484" r:id="rId29"/>
    <p:sldId id="486" r:id="rId30"/>
    <p:sldId id="455" r:id="rId31"/>
    <p:sldId id="456" r:id="rId32"/>
    <p:sldId id="512" r:id="rId33"/>
    <p:sldId id="462" r:id="rId34"/>
    <p:sldId id="431" r:id="rId35"/>
    <p:sldId id="463" r:id="rId3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86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705"/>
    <p:restoredTop sz="96309"/>
  </p:normalViewPr>
  <p:slideViewPr>
    <p:cSldViewPr snapToGrid="0" snapToObjects="1">
      <p:cViewPr>
        <p:scale>
          <a:sx n="183" d="100"/>
          <a:sy n="183" d="100"/>
        </p:scale>
        <p:origin x="-32" y="-296"/>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98" d="100"/>
          <a:sy n="98" d="100"/>
        </p:scale>
        <p:origin x="4304" y="20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19606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B8877-9E0D-E9E0-8CDC-8A4BAFFB17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80CE66-04E1-2EEE-8DC4-253450F272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90BECC-023C-C894-8290-79B7761C11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D9B11A-BAFE-EEBF-ECE2-6F2B6B43C584}"/>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426902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Insert </a:t>
            </a:r>
            <a:r>
              <a:rPr lang="en-US" dirty="0" err="1"/>
              <a:t>df</a:t>
            </a:r>
            <a:r>
              <a:rPr lang="en-US" dirty="0"/>
              <a:t> info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7D467-31B6-411C-DC87-D542C8BF58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5FECE8-54D1-91F4-B459-2B5F2F2B28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25BAF2-DFCF-6DC2-C4FB-512DD48E429E}"/>
              </a:ext>
            </a:extLst>
          </p:cNvPr>
          <p:cNvSpPr>
            <a:spLocks noGrp="1"/>
          </p:cNvSpPr>
          <p:nvPr>
            <p:ph type="body" idx="1"/>
          </p:nvPr>
        </p:nvSpPr>
        <p:spPr/>
        <p:txBody>
          <a:bodyPr/>
          <a:lstStyle/>
          <a:p>
            <a:r>
              <a:rPr lang="en-US" dirty="0"/>
              <a:t>Change to extreme price</a:t>
            </a:r>
          </a:p>
        </p:txBody>
      </p:sp>
      <p:sp>
        <p:nvSpPr>
          <p:cNvPr id="4" name="Slide Number Placeholder 3">
            <a:extLst>
              <a:ext uri="{FF2B5EF4-FFF2-40B4-BE49-F238E27FC236}">
                <a16:creationId xmlns:a16="http://schemas.microsoft.com/office/drawing/2014/main" id="{D81450B1-7A98-5429-63FF-C1620F11030F}"/>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7883740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8D55D-3C8F-1218-1CB9-6BBA6DBCB2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72A43D-8891-6FB7-57E0-169C3DF25C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6BEFAE-27C0-7926-F350-0461C768A9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3BB1B3-D65E-58EC-1C44-41421C08764D}"/>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6114729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0CF10-8B3F-86EA-B61E-85893560C3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D6ABCC-7101-1B1C-924A-316FE43D6A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B2260F-2045-0AE3-6CED-1CC4F034B8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B7450A-49D7-67FF-6A77-6249A529835C}"/>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1211797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E24E3-0129-1BF0-F99A-BBBE689552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A19FD8-586D-FFAA-6CF9-89CF4F6BA0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B2B409-75AA-F0E4-3EC9-CF349B150619}"/>
              </a:ext>
            </a:extLst>
          </p:cNvPr>
          <p:cNvSpPr>
            <a:spLocks noGrp="1"/>
          </p:cNvSpPr>
          <p:nvPr>
            <p:ph type="body" idx="1"/>
          </p:nvPr>
        </p:nvSpPr>
        <p:spPr/>
        <p:txBody>
          <a:bodyPr/>
          <a:lstStyle/>
          <a:p>
            <a:r>
              <a:rPr lang="en-US" dirty="0"/>
              <a:t>It shows gap because most of the commodity sits at the lower end whereas some more pricey. Technical side </a:t>
            </a:r>
            <a:r>
              <a:rPr lang="en-US" dirty="0">
                <a:sym typeface="Wingdings" pitchFamily="2" charset="2"/>
              </a:rPr>
              <a:t> model will mostly capture the lower side</a:t>
            </a:r>
            <a:endParaRPr lang="en-US" dirty="0"/>
          </a:p>
        </p:txBody>
      </p:sp>
      <p:sp>
        <p:nvSpPr>
          <p:cNvPr id="4" name="Slide Number Placeholder 3">
            <a:extLst>
              <a:ext uri="{FF2B5EF4-FFF2-40B4-BE49-F238E27FC236}">
                <a16:creationId xmlns:a16="http://schemas.microsoft.com/office/drawing/2014/main" id="{EF5C5601-1F57-452E-6427-F2C64808FE5C}"/>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7745981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421A4-511F-FBA3-5931-100BEB71C3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309966-5A52-EE12-FEA0-F78ACF0682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303704-6972-4AFC-DF3A-D81B72A2651F}"/>
              </a:ext>
            </a:extLst>
          </p:cNvPr>
          <p:cNvSpPr>
            <a:spLocks noGrp="1"/>
          </p:cNvSpPr>
          <p:nvPr>
            <p:ph type="body" idx="1"/>
          </p:nvPr>
        </p:nvSpPr>
        <p:spPr/>
        <p:txBody>
          <a:bodyPr/>
          <a:lstStyle/>
          <a:p>
            <a:r>
              <a:rPr lang="en-US" dirty="0"/>
              <a:t>Explain coefficient of variation (volatility) </a:t>
            </a:r>
          </a:p>
        </p:txBody>
      </p:sp>
      <p:sp>
        <p:nvSpPr>
          <p:cNvPr id="4" name="Slide Number Placeholder 3">
            <a:extLst>
              <a:ext uri="{FF2B5EF4-FFF2-40B4-BE49-F238E27FC236}">
                <a16:creationId xmlns:a16="http://schemas.microsoft.com/office/drawing/2014/main" id="{2F55F0B8-0A0D-2075-F270-E891813FED20}"/>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3723078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E5EBE-CEEE-6136-4B50-FD9EE15EF3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959EB-1F89-8CE3-7118-973C5C25E7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F43427-1910-0F6C-6E8D-4AE64E3A8918}"/>
              </a:ext>
            </a:extLst>
          </p:cNvPr>
          <p:cNvSpPr>
            <a:spLocks noGrp="1"/>
          </p:cNvSpPr>
          <p:nvPr>
            <p:ph type="body" idx="1"/>
          </p:nvPr>
        </p:nvSpPr>
        <p:spPr/>
        <p:txBody>
          <a:bodyPr/>
          <a:lstStyle/>
          <a:p>
            <a:r>
              <a:rPr lang="en-US" dirty="0"/>
              <a:t>Check for broad consumption source</a:t>
            </a:r>
          </a:p>
        </p:txBody>
      </p:sp>
      <p:sp>
        <p:nvSpPr>
          <p:cNvPr id="4" name="Slide Number Placeholder 3">
            <a:extLst>
              <a:ext uri="{FF2B5EF4-FFF2-40B4-BE49-F238E27FC236}">
                <a16:creationId xmlns:a16="http://schemas.microsoft.com/office/drawing/2014/main" id="{CF0994E3-6015-61C0-AC24-212DD04EDD73}"/>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9648818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E81094-4179-7452-BD80-92C16EC6BF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BF37A7-B8BA-8A29-7171-3859A312C9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0F445-0222-5B02-20E8-71748AEDDB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C04C1C-3C6E-5193-4A53-BF4E84E96330}"/>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7307371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73BF4-FE3A-9B94-02A1-DFF8653C8C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F29569-EE9C-ED56-169A-98D7A1EBDC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D60911-7753-4C8A-2D55-A05A959A6F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D330A3-286E-AA47-8889-6BEE429E7A92}"/>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055034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Not normally distributed, it means it’s imbalanced</a:t>
            </a:r>
          </a:p>
        </p:txBody>
      </p:sp>
    </p:spTree>
    <p:extLst>
      <p:ext uri="{BB962C8B-B14F-4D97-AF65-F5344CB8AC3E}">
        <p14:creationId xmlns:p14="http://schemas.microsoft.com/office/powerpoint/2010/main" val="578339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0533D-A7AD-1A5C-4DC9-371E8FCDDC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2FB802-7804-0D29-9747-238B789C878B}"/>
              </a:ext>
            </a:extLst>
          </p:cNvPr>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4AF9C7F5-E828-6835-6A86-9539298E4FB5}"/>
              </a:ext>
            </a:extLst>
          </p:cNvPr>
          <p:cNvSpPr>
            <a:spLocks noGrp="1"/>
          </p:cNvSpPr>
          <p:nvPr>
            <p:ph type="body" idx="1"/>
          </p:nvPr>
        </p:nvSpPr>
        <p:spPr>
          <a:xfrm>
            <a:off x="514350" y="4400550"/>
            <a:ext cx="4114800" cy="3600450"/>
          </a:xfrm>
          <a:prstGeom prst="rect">
            <a:avLst/>
          </a:prstGeom>
        </p:spPr>
        <p:txBody>
          <a:bodyPr/>
          <a:lstStyle/>
          <a:p>
            <a:endParaRPr lang="en-US"/>
          </a:p>
        </p:txBody>
      </p:sp>
    </p:spTree>
    <p:extLst>
      <p:ext uri="{BB962C8B-B14F-4D97-AF65-F5344CB8AC3E}">
        <p14:creationId xmlns:p14="http://schemas.microsoft.com/office/powerpoint/2010/main" val="37041198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FCFB6-3BAA-7FA7-429B-D4A2BAEEC4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014B53-9766-7546-7B5D-F835482F2F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C8BFA3-5B5D-ABF8-1710-6924862234A4}"/>
              </a:ext>
            </a:extLst>
          </p:cNvPr>
          <p:cNvSpPr>
            <a:spLocks noGrp="1"/>
          </p:cNvSpPr>
          <p:nvPr>
            <p:ph type="body" idx="1"/>
          </p:nvPr>
        </p:nvSpPr>
        <p:spPr/>
        <p:txBody>
          <a:bodyPr/>
          <a:lstStyle/>
          <a:p>
            <a:r>
              <a:rPr lang="en-US" dirty="0"/>
              <a:t>Highlight the shock in 2023</a:t>
            </a:r>
          </a:p>
        </p:txBody>
      </p:sp>
      <p:sp>
        <p:nvSpPr>
          <p:cNvPr id="4" name="Slide Number Placeholder 3">
            <a:extLst>
              <a:ext uri="{FF2B5EF4-FFF2-40B4-BE49-F238E27FC236}">
                <a16:creationId xmlns:a16="http://schemas.microsoft.com/office/drawing/2014/main" id="{1DE0982D-DF0D-6E28-E9C8-D5FA53B5473A}"/>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315883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F0AD6-69AC-4746-3D77-A69E1AD92B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DDDD6D-6899-C9AE-3856-037D8D63A3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186287-BC0E-C2B4-B694-8AFC58271274}"/>
              </a:ext>
            </a:extLst>
          </p:cNvPr>
          <p:cNvSpPr>
            <a:spLocks noGrp="1"/>
          </p:cNvSpPr>
          <p:nvPr>
            <p:ph type="body" idx="1"/>
          </p:nvPr>
        </p:nvSpPr>
        <p:spPr/>
        <p:txBody>
          <a:bodyPr/>
          <a:lstStyle/>
          <a:p>
            <a:r>
              <a:rPr lang="en-US" dirty="0"/>
              <a:t>More research on the tech side. Stationarity impact </a:t>
            </a:r>
          </a:p>
        </p:txBody>
      </p:sp>
      <p:sp>
        <p:nvSpPr>
          <p:cNvPr id="4" name="Slide Number Placeholder 3">
            <a:extLst>
              <a:ext uri="{FF2B5EF4-FFF2-40B4-BE49-F238E27FC236}">
                <a16:creationId xmlns:a16="http://schemas.microsoft.com/office/drawing/2014/main" id="{703A32D9-2E90-2D72-DD37-156C94D926C0}"/>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32537035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Regime aware </a:t>
            </a:r>
            <a:r>
              <a:rPr lang="en-US" dirty="0" err="1"/>
              <a:t>sarima</a:t>
            </a:r>
            <a:r>
              <a:rPr lang="en-US" dirty="0"/>
              <a:t> is based on abnormality</a:t>
            </a:r>
          </a:p>
        </p:txBody>
      </p:sp>
    </p:spTree>
    <p:extLst>
      <p:ext uri="{BB962C8B-B14F-4D97-AF65-F5344CB8AC3E}">
        <p14:creationId xmlns:p14="http://schemas.microsoft.com/office/powerpoint/2010/main" val="38091701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r>
              <a:rPr lang="en-US" dirty="0"/>
              <a:t>Add why no attempt in </a:t>
            </a:r>
            <a:r>
              <a:rPr lang="en-US" dirty="0" err="1"/>
              <a:t>sarimax</a:t>
            </a:r>
            <a:r>
              <a:rPr lang="en-US" dirty="0"/>
              <a:t> with exogenous variable (</a:t>
            </a:r>
            <a:r>
              <a:rPr lang="en-US" dirty="0" err="1"/>
              <a:t>ramadan</a:t>
            </a:r>
            <a:r>
              <a:rPr lang="en-US" dirty="0"/>
              <a:t>)</a:t>
            </a:r>
          </a:p>
        </p:txBody>
      </p:sp>
    </p:spTree>
    <p:extLst>
      <p:ext uri="{BB962C8B-B14F-4D97-AF65-F5344CB8AC3E}">
        <p14:creationId xmlns:p14="http://schemas.microsoft.com/office/powerpoint/2010/main" val="42607719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links for the journal links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7991E-11EB-9D0E-048B-9A0611C8A8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1CE896-2983-EFE8-652E-C26AB8919E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DFB33C-F9BF-6C42-3B10-CAB9CC2CA8B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56CB5E-953A-C4ED-AE14-1CA7E3320BF1}"/>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2064447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0.png"/><Relationship Id="rId3" Type="http://schemas.openxmlformats.org/officeDocument/2006/relationships/hyperlink" Target="http://www.linkedin.com/in/nurlina-t" TargetMode="External"/><Relationship Id="rId7" Type="http://schemas.openxmlformats.org/officeDocument/2006/relationships/hyperlink" Target="https://github.com/qntha21" TargetMode="External"/><Relationship Id="rId12"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8.png"/><Relationship Id="rId5" Type="http://schemas.openxmlformats.org/officeDocument/2006/relationships/hyperlink" Target="mailto:quratul.thaher@outlook.com" TargetMode="External"/><Relationship Id="rId15" Type="http://schemas.openxmlformats.org/officeDocument/2006/relationships/image" Target="../media/image1.png"/><Relationship Id="rId10" Type="http://schemas.openxmlformats.org/officeDocument/2006/relationships/image" Target="../media/image7.jpg"/><Relationship Id="rId4" Type="http://schemas.openxmlformats.org/officeDocument/2006/relationships/image" Target="../media/image4.png"/><Relationship Id="rId9" Type="http://schemas.openxmlformats.org/officeDocument/2006/relationships/hyperlink" Target="https://public.tableau.com/app/profile/q.nurlina.t/vizzes" TargetMode="External"/><Relationship Id="rId1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9.svg"/></Relationships>
</file>

<file path=ppt/slides/_rels/slide9.xml.rels><?xml version="1.0" encoding="UTF-8" standalone="yes"?>
<Relationships xmlns="http://schemas.openxmlformats.org/package/2006/relationships"><Relationship Id="rId3" Type="http://schemas.openxmlformats.org/officeDocument/2006/relationships/hyperlink" Target="https://data.humdata.org/dataset/global-wfp-food-prices"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1.png"/><Relationship Id="rId7" Type="http://schemas.openxmlformats.org/officeDocument/2006/relationships/image" Target="../media/image24.sv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34.png"/><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38.png"/><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40.png"/><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42.png"/><Relationship Id="rId4" Type="http://schemas.openxmlformats.org/officeDocument/2006/relationships/hyperlink" Target="https://www.allaboutfeed.net/market/market-trends/indonesia-poultry-industry-crisis-triggers-feed-market-turbulence/" TargetMode="Externa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44.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46.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1B69"/>
        </a:solidFill>
        <a:effectLst/>
      </p:bgPr>
    </p:bg>
    <p:spTree>
      <p:nvGrpSpPr>
        <p:cNvPr id="1" name=""/>
        <p:cNvGrpSpPr/>
        <p:nvPr/>
      </p:nvGrpSpPr>
      <p:grpSpPr>
        <a:xfrm>
          <a:off x="0" y="0"/>
          <a:ext cx="0" cy="0"/>
          <a:chOff x="0" y="0"/>
          <a:chExt cx="0" cy="0"/>
        </a:xfrm>
      </p:grpSpPr>
      <p:sp>
        <p:nvSpPr>
          <p:cNvPr id="5" name="Text 3"/>
          <p:cNvSpPr/>
          <p:nvPr/>
        </p:nvSpPr>
        <p:spPr>
          <a:xfrm>
            <a:off x="457200" y="1249766"/>
            <a:ext cx="8229600" cy="128016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rPr>
              <a:t>Indonesia Egg Price</a:t>
            </a:r>
          </a:p>
          <a:p>
            <a:pPr marL="0" indent="0">
              <a:buNone/>
            </a:pPr>
            <a:r>
              <a:rPr lang="en-US" sz="4400" b="1" dirty="0">
                <a:solidFill>
                  <a:srgbClr val="FFFFFF"/>
                </a:solidFill>
                <a:latin typeface="Cambria" pitchFamily="34" charset="0"/>
              </a:rPr>
              <a:t>Forecasting</a:t>
            </a:r>
          </a:p>
        </p:txBody>
      </p:sp>
      <p:sp>
        <p:nvSpPr>
          <p:cNvPr id="6" name="Text 4"/>
          <p:cNvSpPr/>
          <p:nvPr/>
        </p:nvSpPr>
        <p:spPr>
          <a:xfrm>
            <a:off x="457200" y="3889597"/>
            <a:ext cx="8229600" cy="36576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Prepared by: Quratul Nurlina Oktavialin Thahir</a:t>
            </a:r>
            <a:endParaRPr lang="en-US" sz="1400" dirty="0"/>
          </a:p>
        </p:txBody>
      </p:sp>
      <p:sp>
        <p:nvSpPr>
          <p:cNvPr id="7" name="Text 5"/>
          <p:cNvSpPr/>
          <p:nvPr/>
        </p:nvSpPr>
        <p:spPr>
          <a:xfrm>
            <a:off x="457200" y="4191010"/>
            <a:ext cx="8229600" cy="365760"/>
          </a:xfrm>
          <a:prstGeom prst="rect">
            <a:avLst/>
          </a:prstGeom>
          <a:noFill/>
          <a:ln/>
        </p:spPr>
        <p:txBody>
          <a:bodyPr wrap="square" lIns="0" tIns="0" rIns="0" bIns="0" rtlCol="0" anchor="ctr"/>
          <a:lstStyle/>
          <a:p>
            <a:pPr marL="0" indent="0">
              <a:buNone/>
            </a:pPr>
            <a:r>
              <a:rPr lang="en-US" sz="1200" dirty="0">
                <a:solidFill>
                  <a:srgbClr val="C9BCE8"/>
                </a:solidFill>
                <a:latin typeface="Calibri" pitchFamily="34" charset="0"/>
                <a:ea typeface="Calibri" pitchFamily="34" charset="-122"/>
                <a:cs typeface="Calibri" pitchFamily="34" charset="-120"/>
              </a:rPr>
              <a:t>Final Project · Student Bootcamp Offline Data Analytics · </a:t>
            </a:r>
            <a:r>
              <a:rPr lang="en-US" sz="1200" dirty="0" err="1">
                <a:solidFill>
                  <a:srgbClr val="C9BCE8"/>
                </a:solidFill>
                <a:latin typeface="Calibri" pitchFamily="34" charset="0"/>
                <a:ea typeface="Calibri" pitchFamily="34" charset="-122"/>
                <a:cs typeface="Calibri" pitchFamily="34" charset="-120"/>
              </a:rPr>
              <a:t>Dibimbing</a:t>
            </a:r>
            <a:r>
              <a:rPr lang="en-US" sz="1200" dirty="0">
                <a:solidFill>
                  <a:srgbClr val="C9BCE8"/>
                </a:solidFill>
                <a:latin typeface="Calibri" pitchFamily="34" charset="0"/>
                <a:ea typeface="Calibri" pitchFamily="34" charset="-122"/>
                <a:cs typeface="Calibri" pitchFamily="34" charset="-120"/>
              </a:rPr>
              <a:t> Batch #3</a:t>
            </a:r>
            <a:endParaRPr lang="en-US" sz="1200" dirty="0"/>
          </a:p>
        </p:txBody>
      </p:sp>
      <p:pic>
        <p:nvPicPr>
          <p:cNvPr id="8" name="Picture 7">
            <a:extLst>
              <a:ext uri="{FF2B5EF4-FFF2-40B4-BE49-F238E27FC236}">
                <a16:creationId xmlns:a16="http://schemas.microsoft.com/office/drawing/2014/main" id="{098C5A1E-651C-798D-5D81-541A1CCCDFF3}"/>
              </a:ext>
            </a:extLst>
          </p:cNvPr>
          <p:cNvPicPr>
            <a:picLocks noChangeAspect="1"/>
          </p:cNvPicPr>
          <p:nvPr/>
        </p:nvPicPr>
        <p:blipFill>
          <a:blip r:embed="rId3"/>
          <a:stretch/>
        </p:blipFill>
        <p:spPr>
          <a:xfrm>
            <a:off x="123987" y="43394"/>
            <a:ext cx="1645546" cy="1097031"/>
          </a:xfrm>
          <a:prstGeom prst="rect">
            <a:avLst/>
          </a:prstGeom>
        </p:spPr>
      </p:pic>
      <p:sp>
        <p:nvSpPr>
          <p:cNvPr id="9" name="Text 5">
            <a:extLst>
              <a:ext uri="{FF2B5EF4-FFF2-40B4-BE49-F238E27FC236}">
                <a16:creationId xmlns:a16="http://schemas.microsoft.com/office/drawing/2014/main" id="{A8ACDC05-DACA-A76A-C9D0-64AC439CDBB4}"/>
              </a:ext>
            </a:extLst>
          </p:cNvPr>
          <p:cNvSpPr/>
          <p:nvPr/>
        </p:nvSpPr>
        <p:spPr>
          <a:xfrm>
            <a:off x="457200" y="2613575"/>
            <a:ext cx="8229600" cy="365760"/>
          </a:xfrm>
          <a:prstGeom prst="rect">
            <a:avLst/>
          </a:prstGeom>
          <a:noFill/>
          <a:ln/>
        </p:spPr>
        <p:txBody>
          <a:bodyPr wrap="square" lIns="0" tIns="0" rIns="0" bIns="0" rtlCol="0" anchor="t"/>
          <a:lstStyle/>
          <a:p>
            <a:pPr marL="0" indent="0">
              <a:buNone/>
            </a:pPr>
            <a:r>
              <a:rPr lang="en-US" sz="1200" i="1" dirty="0">
                <a:solidFill>
                  <a:schemeClr val="bg1"/>
                </a:solidFill>
                <a:latin typeface="Calibri" pitchFamily="34" charset="0"/>
                <a:ea typeface="Calibri" pitchFamily="34" charset="-122"/>
                <a:cs typeface="Calibri" pitchFamily="34" charset="-120"/>
              </a:rPr>
              <a:t>A regime-aware approach to market volatility and calendar risk</a:t>
            </a:r>
            <a:endParaRPr lang="en-US" sz="1200" dirty="0">
              <a:solidFill>
                <a:schemeClr val="bg1"/>
              </a:solidFill>
            </a:endParaRPr>
          </a:p>
        </p:txBody>
      </p:sp>
      <p:sp>
        <p:nvSpPr>
          <p:cNvPr id="12" name="CoverTriBR">
            <a:extLst>
              <a:ext uri="{FF2B5EF4-FFF2-40B4-BE49-F238E27FC236}">
                <a16:creationId xmlns:a16="http://schemas.microsoft.com/office/drawing/2014/main" id="{2B7B3C5B-D24D-6541-94FA-815ED3CED28E}"/>
              </a:ext>
            </a:extLst>
          </p:cNvPr>
          <p:cNvSpPr/>
          <p:nvPr/>
        </p:nvSpPr>
        <p:spPr>
          <a:xfrm>
            <a:off x="8229600" y="4597400"/>
            <a:ext cx="660400" cy="508000"/>
          </a:xfrm>
          <a:prstGeom prst="triangle">
            <a:avLst/>
          </a:prstGeom>
          <a:solidFill>
            <a:srgbClr val="7030A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2D1B69"/>
              </a:solidFill>
            </a:endParaRPr>
          </a:p>
        </p:txBody>
      </p:sp>
      <p:sp>
        <p:nvSpPr>
          <p:cNvPr id="13" name="CoverTriTR">
            <a:extLst>
              <a:ext uri="{FF2B5EF4-FFF2-40B4-BE49-F238E27FC236}">
                <a16:creationId xmlns:a16="http://schemas.microsoft.com/office/drawing/2014/main" id="{7444E12D-B3F9-9346-A5E7-474369D52032}"/>
              </a:ext>
            </a:extLst>
          </p:cNvPr>
          <p:cNvSpPr/>
          <p:nvPr/>
        </p:nvSpPr>
        <p:spPr>
          <a:xfrm rot="10800000">
            <a:off x="8712200" y="0"/>
            <a:ext cx="431800" cy="330200"/>
          </a:xfrm>
          <a:prstGeom prst="triangle">
            <a:avLst/>
          </a:prstGeom>
          <a:solidFill>
            <a:srgbClr val="7030A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solidFill>
                <a:srgbClr val="2D1B69"/>
              </a:solidFill>
            </a:endParaRPr>
          </a:p>
        </p:txBody>
      </p:sp>
      <p:pic>
        <p:nvPicPr>
          <p:cNvPr id="16" name="Graphic 16" descr="Map pin representing Indonesia market focus"/>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8800" y="3200400"/>
            <a:ext cx="254000" cy="254000"/>
          </a:xfrm>
          <a:prstGeom prst="rect">
            <a:avLst/>
          </a:prstGeom>
        </p:spPr>
      </p:pic>
      <p:pic>
        <p:nvPicPr>
          <p:cNvPr id="40" name="EggForecastVisual" descr="Illustration of eggs in a carton beneath a rising price forecast chart"/>
          <p:cNvPicPr>
            <a:picLocks noChangeAspect="1"/>
          </p:cNvPicPr>
          <p:nvPr/>
        </p:nvPicPr>
        <p:blipFill>
          <a:blip r:embed="rId5"/>
          <a:stretch>
            <a:fillRect/>
          </a:stretch>
        </p:blipFill>
        <p:spPr>
          <a:xfrm>
            <a:off x="5638800" y="762000"/>
            <a:ext cx="3276600" cy="327660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11574024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D1B69"/>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64008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Table of Contents</a:t>
            </a:r>
            <a:endParaRPr lang="en-US" sz="3400" dirty="0"/>
          </a:p>
        </p:txBody>
      </p:sp>
      <p:sp>
        <p:nvSpPr>
          <p:cNvPr id="3" name="Shape 1"/>
          <p:cNvSpPr/>
          <p:nvPr/>
        </p:nvSpPr>
        <p:spPr>
          <a:xfrm>
            <a:off x="457200" y="1231900"/>
            <a:ext cx="3975100" cy="711200"/>
          </a:xfrm>
          <a:prstGeom prst="roundRect">
            <a:avLst>
              <a:gd name="adj" fmla="val 9524"/>
            </a:avLst>
          </a:prstGeom>
          <a:solidFill>
            <a:srgbClr val="3B2C6E"/>
          </a:solidFill>
          <a:ln/>
          <a:effectLst>
            <a:outerShdw blurRad="88900" dist="38100" dir="5400000" algn="bl" rotWithShape="0">
              <a:srgbClr val="1A0F40">
                <a:alpha val="35000"/>
              </a:srgbClr>
            </a:outerShdw>
          </a:effectLst>
        </p:spPr>
        <p:txBody>
          <a:bodyPr/>
          <a:lstStyle/>
          <a:p>
            <a:endParaRPr lang="en-US"/>
          </a:p>
        </p:txBody>
      </p:sp>
      <p:sp>
        <p:nvSpPr>
          <p:cNvPr id="4" name="Shape 2"/>
          <p:cNvSpPr/>
          <p:nvPr/>
        </p:nvSpPr>
        <p:spPr>
          <a:xfrm>
            <a:off x="622300" y="1397000"/>
            <a:ext cx="381000" cy="381000"/>
          </a:xfrm>
          <a:prstGeom prst="ellipse">
            <a:avLst/>
          </a:prstGeom>
          <a:solidFill>
            <a:srgbClr val="5A3FA0"/>
          </a:solidFill>
          <a:ln/>
        </p:spPr>
        <p:txBody>
          <a:bodyPr/>
          <a:lstStyle/>
          <a:p>
            <a:endParaRPr lang="en-US"/>
          </a:p>
        </p:txBody>
      </p:sp>
      <p:sp>
        <p:nvSpPr>
          <p:cNvPr id="5" name="Text 3"/>
          <p:cNvSpPr/>
          <p:nvPr/>
        </p:nvSpPr>
        <p:spPr>
          <a:xfrm>
            <a:off x="622300" y="1397000"/>
            <a:ext cx="381000" cy="3810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6" name="Text 4"/>
          <p:cNvSpPr/>
          <p:nvPr/>
        </p:nvSpPr>
        <p:spPr>
          <a:xfrm>
            <a:off x="1219200" y="1333500"/>
            <a:ext cx="3048000" cy="2794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About Author</a:t>
            </a:r>
            <a:endParaRPr lang="en-US" sz="1450" dirty="0"/>
          </a:p>
        </p:txBody>
      </p:sp>
      <p:sp>
        <p:nvSpPr>
          <p:cNvPr id="7" name="Text 5"/>
          <p:cNvSpPr/>
          <p:nvPr/>
        </p:nvSpPr>
        <p:spPr>
          <a:xfrm>
            <a:off x="1219200" y="1612900"/>
            <a:ext cx="3048000" cy="228600"/>
          </a:xfrm>
          <a:prstGeom prst="rect">
            <a:avLst/>
          </a:prstGeom>
          <a:noFill/>
          <a:ln/>
        </p:spPr>
        <p:txBody>
          <a:bodyPr wrap="square" lIns="0" tIns="0" rIns="0" bIns="0" rtlCol="0" anchor="ctr"/>
          <a:lstStyle/>
          <a:p>
            <a:pPr marL="0" indent="0">
              <a:buNone/>
            </a:pPr>
            <a:r>
              <a:rPr lang="en-US" sz="1100">
                <a:solidFill>
                  <a:srgbClr val="C9BCE8"/>
                </a:solidFill>
                <a:latin typeface="Calibri" pitchFamily="34" charset="0"/>
                <a:ea typeface="Calibri" pitchFamily="34" charset="-122"/>
                <a:cs typeface="Calibri" pitchFamily="34" charset="-120"/>
              </a:rPr>
              <a:t>Professional background </a:t>
            </a:r>
            <a:r>
              <a:rPr lang="en-US" sz="1100" dirty="0">
                <a:solidFill>
                  <a:srgbClr val="C9BCE8"/>
                </a:solidFill>
                <a:latin typeface="Calibri" pitchFamily="34" charset="0"/>
                <a:ea typeface="Calibri" pitchFamily="34" charset="-122"/>
                <a:cs typeface="Calibri" pitchFamily="34" charset="-120"/>
              </a:rPr>
              <a:t>&amp; </a:t>
            </a:r>
            <a:r>
              <a:rPr lang="en-US" sz="1100">
                <a:solidFill>
                  <a:srgbClr val="C9BCE8"/>
                </a:solidFill>
                <a:latin typeface="Calibri" pitchFamily="34" charset="0"/>
                <a:ea typeface="Calibri" pitchFamily="34" charset="-122"/>
                <a:cs typeface="Calibri" pitchFamily="34" charset="-120"/>
              </a:rPr>
              <a:t>education</a:t>
            </a:r>
            <a:endParaRPr lang="en-US" sz="1100" dirty="0"/>
          </a:p>
        </p:txBody>
      </p:sp>
      <p:sp>
        <p:nvSpPr>
          <p:cNvPr id="8" name="Shape 6"/>
          <p:cNvSpPr/>
          <p:nvPr/>
        </p:nvSpPr>
        <p:spPr>
          <a:xfrm>
            <a:off x="4940300" y="1231900"/>
            <a:ext cx="3975100" cy="711200"/>
          </a:xfrm>
          <a:prstGeom prst="roundRect">
            <a:avLst>
              <a:gd name="adj" fmla="val 9524"/>
            </a:avLst>
          </a:prstGeom>
          <a:solidFill>
            <a:srgbClr val="3B2C6E"/>
          </a:solidFill>
          <a:ln/>
          <a:effectLst>
            <a:outerShdw blurRad="88900" dist="38100" dir="5400000" algn="bl" rotWithShape="0">
              <a:srgbClr val="1A0F40">
                <a:alpha val="35000"/>
              </a:srgbClr>
            </a:outerShdw>
          </a:effectLst>
        </p:spPr>
        <p:txBody>
          <a:bodyPr/>
          <a:lstStyle/>
          <a:p>
            <a:endParaRPr lang="en-US"/>
          </a:p>
        </p:txBody>
      </p:sp>
      <p:sp>
        <p:nvSpPr>
          <p:cNvPr id="9" name="Shape 7"/>
          <p:cNvSpPr/>
          <p:nvPr/>
        </p:nvSpPr>
        <p:spPr>
          <a:xfrm>
            <a:off x="5105400" y="1397000"/>
            <a:ext cx="381000" cy="381000"/>
          </a:xfrm>
          <a:prstGeom prst="ellipse">
            <a:avLst/>
          </a:prstGeom>
          <a:solidFill>
            <a:srgbClr val="5A3FA0"/>
          </a:solidFill>
          <a:ln/>
        </p:spPr>
        <p:txBody>
          <a:bodyPr/>
          <a:lstStyle/>
          <a:p>
            <a:endParaRPr lang="en-US"/>
          </a:p>
        </p:txBody>
      </p:sp>
      <p:sp>
        <p:nvSpPr>
          <p:cNvPr id="10" name="Text 8"/>
          <p:cNvSpPr/>
          <p:nvPr/>
        </p:nvSpPr>
        <p:spPr>
          <a:xfrm>
            <a:off x="5105400" y="1397000"/>
            <a:ext cx="381000" cy="3810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1" name="Text 9"/>
          <p:cNvSpPr/>
          <p:nvPr/>
        </p:nvSpPr>
        <p:spPr>
          <a:xfrm>
            <a:off x="5702300" y="1333500"/>
            <a:ext cx="3048000" cy="279400"/>
          </a:xfrm>
          <a:prstGeom prst="rect">
            <a:avLst/>
          </a:prstGeom>
          <a:noFill/>
          <a:ln/>
        </p:spPr>
        <p:txBody>
          <a:bodyPr wrap="square" lIns="0" tIns="0" rIns="0" bIns="0" rtlCol="0" anchor="ctr"/>
          <a:lstStyle/>
          <a:p>
            <a:pPr marL="0" indent="0">
              <a:buNone/>
            </a:pPr>
            <a:r>
              <a:rPr lang="en-US" sz="1450" b="1">
                <a:solidFill>
                  <a:srgbClr val="FFFFFF"/>
                </a:solidFill>
                <a:latin typeface="Calibri" pitchFamily="34" charset="0"/>
                <a:ea typeface="Calibri" pitchFamily="34" charset="-122"/>
                <a:cs typeface="Calibri" pitchFamily="34" charset="-120"/>
              </a:rPr>
              <a:t>Project </a:t>
            </a:r>
            <a:r>
              <a:rPr lang="en-US" sz="1450" b="1" dirty="0">
                <a:solidFill>
                  <a:srgbClr val="FFFFFF"/>
                </a:solidFill>
                <a:latin typeface="Calibri" pitchFamily="34" charset="0"/>
                <a:ea typeface="Calibri" pitchFamily="34" charset="-122"/>
                <a:cs typeface="Calibri" pitchFamily="34" charset="-120"/>
              </a:rPr>
              <a:t>Overview</a:t>
            </a:r>
            <a:endParaRPr lang="en-US" sz="1450" dirty="0"/>
          </a:p>
        </p:txBody>
      </p:sp>
      <p:sp>
        <p:nvSpPr>
          <p:cNvPr id="12" name="Text 10"/>
          <p:cNvSpPr/>
          <p:nvPr/>
        </p:nvSpPr>
        <p:spPr>
          <a:xfrm>
            <a:off x="5702300" y="1612900"/>
            <a:ext cx="3048000" cy="228600"/>
          </a:xfrm>
          <a:prstGeom prst="rect">
            <a:avLst/>
          </a:prstGeom>
          <a:noFill/>
          <a:ln/>
        </p:spPr>
        <p:txBody>
          <a:bodyPr wrap="square" lIns="0" tIns="0" rIns="0" bIns="0" rtlCol="0" anchor="ctr"/>
          <a:lstStyle/>
          <a:p>
            <a:pPr marL="0" indent="0">
              <a:buNone/>
            </a:pPr>
            <a:r>
              <a:rPr lang="en-US" sz="1100" dirty="0">
                <a:solidFill>
                  <a:srgbClr val="C9BCE8"/>
                </a:solidFill>
                <a:latin typeface="Calibri" pitchFamily="34" charset="0"/>
              </a:rPr>
              <a:t>Defining the analysis direction</a:t>
            </a:r>
          </a:p>
        </p:txBody>
      </p:sp>
      <p:sp>
        <p:nvSpPr>
          <p:cNvPr id="13" name="Shape 11"/>
          <p:cNvSpPr/>
          <p:nvPr/>
        </p:nvSpPr>
        <p:spPr>
          <a:xfrm>
            <a:off x="457200" y="2070100"/>
            <a:ext cx="3975100" cy="711200"/>
          </a:xfrm>
          <a:prstGeom prst="roundRect">
            <a:avLst>
              <a:gd name="adj" fmla="val 9524"/>
            </a:avLst>
          </a:prstGeom>
          <a:solidFill>
            <a:srgbClr val="3B2C6E"/>
          </a:solidFill>
          <a:ln/>
          <a:effectLst>
            <a:outerShdw blurRad="88900" dist="38100" dir="5400000" algn="bl" rotWithShape="0">
              <a:srgbClr val="1A0F40">
                <a:alpha val="35000"/>
              </a:srgbClr>
            </a:outerShdw>
          </a:effectLst>
        </p:spPr>
        <p:txBody>
          <a:bodyPr/>
          <a:lstStyle/>
          <a:p>
            <a:endParaRPr lang="en-US"/>
          </a:p>
        </p:txBody>
      </p:sp>
      <p:sp>
        <p:nvSpPr>
          <p:cNvPr id="14" name="Shape 12"/>
          <p:cNvSpPr/>
          <p:nvPr/>
        </p:nvSpPr>
        <p:spPr>
          <a:xfrm>
            <a:off x="622300" y="2235200"/>
            <a:ext cx="381000" cy="381000"/>
          </a:xfrm>
          <a:prstGeom prst="ellipse">
            <a:avLst/>
          </a:prstGeom>
          <a:solidFill>
            <a:srgbClr val="5A3FA0"/>
          </a:solidFill>
          <a:ln/>
        </p:spPr>
        <p:txBody>
          <a:bodyPr/>
          <a:lstStyle/>
          <a:p>
            <a:endParaRPr lang="en-US"/>
          </a:p>
        </p:txBody>
      </p:sp>
      <p:sp>
        <p:nvSpPr>
          <p:cNvPr id="15" name="Text 13"/>
          <p:cNvSpPr/>
          <p:nvPr/>
        </p:nvSpPr>
        <p:spPr>
          <a:xfrm>
            <a:off x="622300" y="2235200"/>
            <a:ext cx="381000" cy="3810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16" name="Text 14"/>
          <p:cNvSpPr/>
          <p:nvPr/>
        </p:nvSpPr>
        <p:spPr>
          <a:xfrm>
            <a:off x="1219200" y="2171700"/>
            <a:ext cx="3048000" cy="2794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Problem Statement</a:t>
            </a:r>
            <a:endParaRPr lang="en-US" sz="1450" dirty="0"/>
          </a:p>
        </p:txBody>
      </p:sp>
      <p:sp>
        <p:nvSpPr>
          <p:cNvPr id="17" name="Text 15"/>
          <p:cNvSpPr/>
          <p:nvPr/>
        </p:nvSpPr>
        <p:spPr>
          <a:xfrm>
            <a:off x="1219200" y="2451100"/>
            <a:ext cx="3048000" cy="228600"/>
          </a:xfrm>
          <a:prstGeom prst="rect">
            <a:avLst/>
          </a:prstGeom>
          <a:noFill/>
          <a:ln/>
        </p:spPr>
        <p:txBody>
          <a:bodyPr wrap="square" lIns="0" tIns="0" rIns="0" bIns="0" rtlCol="0" anchor="ctr"/>
          <a:lstStyle/>
          <a:p>
            <a:pPr marL="0" indent="0">
              <a:buNone/>
            </a:pPr>
            <a:r>
              <a:rPr lang="en-US" sz="1000" dirty="0">
                <a:solidFill>
                  <a:srgbClr val="C9BCE8"/>
                </a:solidFill>
                <a:latin typeface="Calibri" pitchFamily="34" charset="0"/>
              </a:rPr>
              <a:t>Framing the research question &amp; scope</a:t>
            </a:r>
          </a:p>
        </p:txBody>
      </p:sp>
      <p:sp>
        <p:nvSpPr>
          <p:cNvPr id="18" name="Shape 16"/>
          <p:cNvSpPr/>
          <p:nvPr/>
        </p:nvSpPr>
        <p:spPr>
          <a:xfrm>
            <a:off x="4940300" y="2070100"/>
            <a:ext cx="3975100" cy="711200"/>
          </a:xfrm>
          <a:prstGeom prst="roundRect">
            <a:avLst>
              <a:gd name="adj" fmla="val 9524"/>
            </a:avLst>
          </a:prstGeom>
          <a:solidFill>
            <a:srgbClr val="3B2C6E"/>
          </a:solidFill>
          <a:ln/>
          <a:effectLst>
            <a:outerShdw blurRad="88900" dist="38100" dir="5400000" algn="bl" rotWithShape="0">
              <a:srgbClr val="1A0F40">
                <a:alpha val="35000"/>
              </a:srgbClr>
            </a:outerShdw>
          </a:effectLst>
        </p:spPr>
        <p:txBody>
          <a:bodyPr/>
          <a:lstStyle/>
          <a:p>
            <a:endParaRPr lang="en-US"/>
          </a:p>
        </p:txBody>
      </p:sp>
      <p:sp>
        <p:nvSpPr>
          <p:cNvPr id="19" name="Shape 17"/>
          <p:cNvSpPr/>
          <p:nvPr/>
        </p:nvSpPr>
        <p:spPr>
          <a:xfrm>
            <a:off x="5105400" y="2235200"/>
            <a:ext cx="381000" cy="381000"/>
          </a:xfrm>
          <a:prstGeom prst="ellipse">
            <a:avLst/>
          </a:prstGeom>
          <a:solidFill>
            <a:srgbClr val="5A3FA0"/>
          </a:solidFill>
          <a:ln/>
        </p:spPr>
        <p:txBody>
          <a:bodyPr/>
          <a:lstStyle/>
          <a:p>
            <a:endParaRPr lang="en-US"/>
          </a:p>
        </p:txBody>
      </p:sp>
      <p:sp>
        <p:nvSpPr>
          <p:cNvPr id="20" name="Text 18"/>
          <p:cNvSpPr/>
          <p:nvPr/>
        </p:nvSpPr>
        <p:spPr>
          <a:xfrm>
            <a:off x="5105400" y="2235200"/>
            <a:ext cx="381000" cy="3810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21" name="Text 19"/>
          <p:cNvSpPr/>
          <p:nvPr/>
        </p:nvSpPr>
        <p:spPr>
          <a:xfrm>
            <a:off x="5702300" y="2171700"/>
            <a:ext cx="3048000" cy="2794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Data Understanding &amp; Preparation </a:t>
            </a:r>
            <a:endParaRPr lang="en-US" sz="1450" dirty="0"/>
          </a:p>
        </p:txBody>
      </p:sp>
      <p:sp>
        <p:nvSpPr>
          <p:cNvPr id="22" name="Text 20"/>
          <p:cNvSpPr/>
          <p:nvPr/>
        </p:nvSpPr>
        <p:spPr>
          <a:xfrm>
            <a:off x="5702300" y="2451100"/>
            <a:ext cx="3048000" cy="228600"/>
          </a:xfrm>
          <a:prstGeom prst="rect">
            <a:avLst/>
          </a:prstGeom>
          <a:noFill/>
          <a:ln/>
        </p:spPr>
        <p:txBody>
          <a:bodyPr wrap="square" lIns="0" tIns="0" rIns="0" bIns="0" rtlCol="0" anchor="ctr"/>
          <a:lstStyle/>
          <a:p>
            <a:pPr marL="0" indent="0">
              <a:buNone/>
            </a:pPr>
            <a:r>
              <a:rPr lang="en-US" sz="1000" dirty="0">
                <a:solidFill>
                  <a:srgbClr val="C9BCE8"/>
                </a:solidFill>
                <a:latin typeface="Calibri" pitchFamily="34" charset="0"/>
              </a:rPr>
              <a:t>Dataset scope and cleaning process</a:t>
            </a:r>
          </a:p>
        </p:txBody>
      </p:sp>
      <p:sp>
        <p:nvSpPr>
          <p:cNvPr id="23" name="Shape 21"/>
          <p:cNvSpPr/>
          <p:nvPr/>
        </p:nvSpPr>
        <p:spPr>
          <a:xfrm>
            <a:off x="4940300" y="2908300"/>
            <a:ext cx="3975100" cy="711200"/>
          </a:xfrm>
          <a:prstGeom prst="roundRect">
            <a:avLst>
              <a:gd name="adj" fmla="val 9524"/>
            </a:avLst>
          </a:prstGeom>
          <a:solidFill>
            <a:srgbClr val="3B2C6E"/>
          </a:solidFill>
          <a:ln/>
          <a:effectLst>
            <a:outerShdw blurRad="88900" dist="38100" dir="5400000" algn="bl" rotWithShape="0">
              <a:srgbClr val="1A0F40">
                <a:alpha val="35000"/>
              </a:srgbClr>
            </a:outerShdw>
          </a:effectLst>
        </p:spPr>
        <p:txBody>
          <a:bodyPr/>
          <a:lstStyle/>
          <a:p>
            <a:endParaRPr lang="en-US"/>
          </a:p>
        </p:txBody>
      </p:sp>
      <p:sp>
        <p:nvSpPr>
          <p:cNvPr id="24" name="Shape 22"/>
          <p:cNvSpPr/>
          <p:nvPr/>
        </p:nvSpPr>
        <p:spPr>
          <a:xfrm>
            <a:off x="5105400" y="3073400"/>
            <a:ext cx="381000" cy="381000"/>
          </a:xfrm>
          <a:prstGeom prst="ellipse">
            <a:avLst/>
          </a:prstGeom>
          <a:solidFill>
            <a:srgbClr val="5A3FA0"/>
          </a:solidFill>
          <a:ln/>
        </p:spPr>
        <p:txBody>
          <a:bodyPr/>
          <a:lstStyle/>
          <a:p>
            <a:endParaRPr lang="en-US"/>
          </a:p>
        </p:txBody>
      </p:sp>
      <p:sp>
        <p:nvSpPr>
          <p:cNvPr id="25" name="Text 23"/>
          <p:cNvSpPr/>
          <p:nvPr/>
        </p:nvSpPr>
        <p:spPr>
          <a:xfrm>
            <a:off x="5105400" y="3073400"/>
            <a:ext cx="381000" cy="3810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rPr>
              <a:t>06</a:t>
            </a:r>
          </a:p>
        </p:txBody>
      </p:sp>
      <p:sp>
        <p:nvSpPr>
          <p:cNvPr id="26" name="Text 24"/>
          <p:cNvSpPr/>
          <p:nvPr/>
        </p:nvSpPr>
        <p:spPr>
          <a:xfrm>
            <a:off x="5702300" y="3009900"/>
            <a:ext cx="3048000" cy="2794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rPr>
              <a:t>Modeling &amp; Forecasting</a:t>
            </a:r>
          </a:p>
        </p:txBody>
      </p:sp>
      <p:sp>
        <p:nvSpPr>
          <p:cNvPr id="27" name="Text 25"/>
          <p:cNvSpPr/>
          <p:nvPr/>
        </p:nvSpPr>
        <p:spPr>
          <a:xfrm>
            <a:off x="5702300" y="3289300"/>
            <a:ext cx="3048000" cy="228600"/>
          </a:xfrm>
          <a:prstGeom prst="rect">
            <a:avLst/>
          </a:prstGeom>
          <a:noFill/>
          <a:ln/>
        </p:spPr>
        <p:txBody>
          <a:bodyPr wrap="square" lIns="0" tIns="0" rIns="0" bIns="0" rtlCol="0" anchor="ctr"/>
          <a:lstStyle/>
          <a:p>
            <a:pPr marL="0" indent="0">
              <a:buNone/>
            </a:pPr>
            <a:r>
              <a:rPr lang="en-US" sz="1000" dirty="0">
                <a:solidFill>
                  <a:srgbClr val="C9BCE8"/>
                </a:solidFill>
                <a:latin typeface="Calibri" pitchFamily="34" charset="0"/>
              </a:rPr>
              <a:t>Split selection, model comparison &amp; regime-aware SARIMA</a:t>
            </a:r>
          </a:p>
        </p:txBody>
      </p:sp>
      <p:sp>
        <p:nvSpPr>
          <p:cNvPr id="28" name="Shape 26"/>
          <p:cNvSpPr/>
          <p:nvPr/>
        </p:nvSpPr>
        <p:spPr>
          <a:xfrm>
            <a:off x="457200" y="3746500"/>
            <a:ext cx="3975100" cy="711200"/>
          </a:xfrm>
          <a:prstGeom prst="roundRect">
            <a:avLst>
              <a:gd name="adj" fmla="val 9524"/>
            </a:avLst>
          </a:prstGeom>
          <a:solidFill>
            <a:srgbClr val="3B2C6E"/>
          </a:solidFill>
          <a:ln/>
          <a:effectLst>
            <a:outerShdw blurRad="88900" dist="38100" dir="5400000" algn="bl" rotWithShape="0">
              <a:srgbClr val="1A0F40">
                <a:alpha val="35000"/>
              </a:srgbClr>
            </a:outerShdw>
          </a:effectLst>
        </p:spPr>
        <p:txBody>
          <a:bodyPr/>
          <a:lstStyle/>
          <a:p>
            <a:endParaRPr lang="en-US"/>
          </a:p>
        </p:txBody>
      </p:sp>
      <p:sp>
        <p:nvSpPr>
          <p:cNvPr id="29" name="Shape 27"/>
          <p:cNvSpPr/>
          <p:nvPr/>
        </p:nvSpPr>
        <p:spPr>
          <a:xfrm>
            <a:off x="622300" y="3911600"/>
            <a:ext cx="381000" cy="381000"/>
          </a:xfrm>
          <a:prstGeom prst="ellipse">
            <a:avLst/>
          </a:prstGeom>
          <a:solidFill>
            <a:srgbClr val="5A3FA0"/>
          </a:solidFill>
          <a:ln/>
        </p:spPr>
        <p:txBody>
          <a:bodyPr/>
          <a:lstStyle/>
          <a:p>
            <a:endParaRPr lang="en-US"/>
          </a:p>
        </p:txBody>
      </p:sp>
      <p:sp>
        <p:nvSpPr>
          <p:cNvPr id="30" name="Text 28"/>
          <p:cNvSpPr/>
          <p:nvPr/>
        </p:nvSpPr>
        <p:spPr>
          <a:xfrm>
            <a:off x="622300" y="3911600"/>
            <a:ext cx="381000" cy="3810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rPr>
              <a:t>07</a:t>
            </a:r>
          </a:p>
        </p:txBody>
      </p:sp>
      <p:sp>
        <p:nvSpPr>
          <p:cNvPr id="31" name="Text 29"/>
          <p:cNvSpPr/>
          <p:nvPr/>
        </p:nvSpPr>
        <p:spPr>
          <a:xfrm>
            <a:off x="1219200" y="3848100"/>
            <a:ext cx="3048000" cy="27940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rPr>
              <a:t>Dashboard Analysis</a:t>
            </a:r>
          </a:p>
        </p:txBody>
      </p:sp>
      <p:sp>
        <p:nvSpPr>
          <p:cNvPr id="32" name="Text 30"/>
          <p:cNvSpPr/>
          <p:nvPr/>
        </p:nvSpPr>
        <p:spPr>
          <a:xfrm>
            <a:off x="1219200" y="4127500"/>
            <a:ext cx="3048000" cy="228600"/>
          </a:xfrm>
          <a:prstGeom prst="rect">
            <a:avLst/>
          </a:prstGeom>
          <a:noFill/>
          <a:ln/>
        </p:spPr>
        <p:txBody>
          <a:bodyPr wrap="square" lIns="0" tIns="0" rIns="0" bIns="0" rtlCol="0" anchor="ctr"/>
          <a:lstStyle/>
          <a:p>
            <a:pPr marL="0" indent="0">
              <a:buNone/>
            </a:pPr>
            <a:r>
              <a:rPr lang="en-US" sz="1100" dirty="0">
                <a:solidFill>
                  <a:srgbClr val="C9BCE8"/>
                </a:solidFill>
                <a:latin typeface="Calibri" pitchFamily="34" charset="0"/>
              </a:rPr>
              <a:t>2 Tableau dashboards</a:t>
            </a:r>
          </a:p>
        </p:txBody>
      </p:sp>
      <p:pic>
        <p:nvPicPr>
          <p:cNvPr id="33" name="Copied Picture 33">
            <a:extLst>
              <a:ext uri="{FF2B5EF4-FFF2-40B4-BE49-F238E27FC236}">
                <a16:creationId xmlns:a16="http://schemas.microsoft.com/office/drawing/2014/main" id="{098C5A1E-651C-798D-5D81-541A1CCCDFF3}"/>
              </a:ext>
            </a:extLst>
          </p:cNvPr>
          <p:cNvPicPr>
            <a:picLocks noChangeAspect="1"/>
          </p:cNvPicPr>
          <p:nvPr/>
        </p:nvPicPr>
        <p:blipFill>
          <a:blip r:embed="rId3"/>
          <a:stretch/>
        </p:blipFill>
        <p:spPr>
          <a:xfrm>
            <a:off x="7901259" y="0"/>
            <a:ext cx="1141141" cy="753153"/>
          </a:xfrm>
          <a:prstGeom prst="rect">
            <a:avLst/>
          </a:prstGeom>
        </p:spPr>
      </p:pic>
      <p:sp>
        <p:nvSpPr>
          <p:cNvPr id="34" name="Rounded Rectangle 33">
            <a:extLst>
              <a:ext uri="{FF2B5EF4-FFF2-40B4-BE49-F238E27FC236}">
                <a16:creationId xmlns:a16="http://schemas.microsoft.com/office/drawing/2014/main" id="{ED70EE8F-1809-3F44-8913-41BBA75D01A4}"/>
              </a:ext>
            </a:extLst>
          </p:cNvPr>
          <p:cNvSpPr/>
          <p:nvPr/>
        </p:nvSpPr>
        <p:spPr>
          <a:xfrm>
            <a:off x="457200" y="2908300"/>
            <a:ext cx="3975100" cy="711200"/>
          </a:xfrm>
          <a:prstGeom prst="roundRect">
            <a:avLst/>
          </a:prstGeom>
          <a:solidFill>
            <a:srgbClr val="3B2C6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5" name="Oval 34">
            <a:extLst>
              <a:ext uri="{FF2B5EF4-FFF2-40B4-BE49-F238E27FC236}">
                <a16:creationId xmlns:a16="http://schemas.microsoft.com/office/drawing/2014/main" id="{E258ABDC-D9BF-104E-A509-0F98329DDD31}"/>
              </a:ext>
            </a:extLst>
          </p:cNvPr>
          <p:cNvSpPr/>
          <p:nvPr/>
        </p:nvSpPr>
        <p:spPr>
          <a:xfrm>
            <a:off x="622300" y="3073400"/>
            <a:ext cx="381000" cy="381000"/>
          </a:xfrm>
          <a:prstGeom prst="ellipse">
            <a:avLst/>
          </a:prstGeom>
          <a:solidFill>
            <a:srgbClr val="5A3FA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36" name="TextBox 35">
            <a:extLst>
              <a:ext uri="{FF2B5EF4-FFF2-40B4-BE49-F238E27FC236}">
                <a16:creationId xmlns:a16="http://schemas.microsoft.com/office/drawing/2014/main" id="{0C629112-AE2B-404E-BAFD-CB2AED027367}"/>
              </a:ext>
            </a:extLst>
          </p:cNvPr>
          <p:cNvSpPr txBox="1"/>
          <p:nvPr/>
        </p:nvSpPr>
        <p:spPr>
          <a:xfrm>
            <a:off x="622300" y="3073400"/>
            <a:ext cx="381000" cy="381000"/>
          </a:xfrm>
          <a:prstGeom prst="rect">
            <a:avLst/>
          </a:prstGeom>
          <a:noFill/>
        </p:spPr>
        <p:txBody>
          <a:bodyPr vertOverflow="overflow" vert="horz" wrap="none" rtlCol="0" anchor="ctr" anchorCtr="0">
            <a:noAutofit/>
          </a:bodyPr>
          <a:lstStyle/>
          <a:p>
            <a:pPr algn="l"/>
            <a:r>
              <a:rPr lang="en-US" sz="1100" b="1">
                <a:solidFill>
                  <a:srgbClr val="FFFFFF"/>
                </a:solidFill>
              </a:rPr>
              <a:t>05</a:t>
            </a:r>
          </a:p>
        </p:txBody>
      </p:sp>
      <p:sp>
        <p:nvSpPr>
          <p:cNvPr id="37" name="TextBox 36">
            <a:extLst>
              <a:ext uri="{FF2B5EF4-FFF2-40B4-BE49-F238E27FC236}">
                <a16:creationId xmlns:a16="http://schemas.microsoft.com/office/drawing/2014/main" id="{6FF26534-7312-0A47-8ED7-558ADB70D432}"/>
              </a:ext>
            </a:extLst>
          </p:cNvPr>
          <p:cNvSpPr txBox="1"/>
          <p:nvPr/>
        </p:nvSpPr>
        <p:spPr>
          <a:xfrm>
            <a:off x="1099820" y="3042177"/>
            <a:ext cx="3048000" cy="284693"/>
          </a:xfrm>
          <a:prstGeom prst="rect">
            <a:avLst/>
          </a:prstGeom>
          <a:noFill/>
        </p:spPr>
        <p:txBody>
          <a:bodyPr vertOverflow="overflow" vert="horz" wrap="square" rtlCol="0" anchor="t">
            <a:spAutoFit/>
          </a:bodyPr>
          <a:lstStyle/>
          <a:p>
            <a:pPr algn="l"/>
            <a:r>
              <a:rPr lang="en-US" sz="1250" b="1" dirty="0">
                <a:solidFill>
                  <a:srgbClr val="FFFFFF"/>
                </a:solidFill>
                <a:latin typeface="Calibri"/>
                <a:cs typeface="Calibri"/>
              </a:rPr>
              <a:t>Exploratory Data Analysis</a:t>
            </a:r>
          </a:p>
        </p:txBody>
      </p:sp>
      <p:sp>
        <p:nvSpPr>
          <p:cNvPr id="38" name="TextBox 37">
            <a:extLst>
              <a:ext uri="{FF2B5EF4-FFF2-40B4-BE49-F238E27FC236}">
                <a16:creationId xmlns:a16="http://schemas.microsoft.com/office/drawing/2014/main" id="{9C52B163-2F90-3247-8BB2-EB86F034589F}"/>
              </a:ext>
            </a:extLst>
          </p:cNvPr>
          <p:cNvSpPr txBox="1"/>
          <p:nvPr/>
        </p:nvSpPr>
        <p:spPr>
          <a:xfrm>
            <a:off x="1099820" y="3286760"/>
            <a:ext cx="3048000" cy="228600"/>
          </a:xfrm>
          <a:prstGeom prst="rect">
            <a:avLst/>
          </a:prstGeom>
          <a:noFill/>
        </p:spPr>
        <p:txBody>
          <a:bodyPr vertOverflow="overflow" vert="horz" wrap="square" rtlCol="0" anchor="t">
            <a:spAutoFit/>
          </a:bodyPr>
          <a:lstStyle/>
          <a:p>
            <a:pPr marL="0" indent="0">
              <a:buNone/>
            </a:pPr>
            <a:r>
              <a:rPr lang="en-US" sz="1000" dirty="0">
                <a:solidFill>
                  <a:srgbClr val="C9BCE8"/>
                </a:solidFill>
                <a:latin typeface="Calibri" pitchFamily="34" charset="0"/>
              </a:rPr>
              <a:t>Price distribution, outliers &amp; regional trends</a:t>
            </a:r>
          </a:p>
        </p:txBody>
      </p:sp>
      <p:sp>
        <p:nvSpPr>
          <p:cNvPr id="39" name="Rounded Rectangle 38">
            <a:extLst>
              <a:ext uri="{FF2B5EF4-FFF2-40B4-BE49-F238E27FC236}">
                <a16:creationId xmlns:a16="http://schemas.microsoft.com/office/drawing/2014/main" id="{2E2F6BFD-FF6E-5749-A292-80A18B408284}"/>
              </a:ext>
            </a:extLst>
          </p:cNvPr>
          <p:cNvSpPr/>
          <p:nvPr/>
        </p:nvSpPr>
        <p:spPr>
          <a:xfrm>
            <a:off x="4940300" y="3746500"/>
            <a:ext cx="3975100" cy="711200"/>
          </a:xfrm>
          <a:prstGeom prst="roundRect">
            <a:avLst/>
          </a:prstGeom>
          <a:solidFill>
            <a:srgbClr val="3B2C6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0" name="Oval 39">
            <a:extLst>
              <a:ext uri="{FF2B5EF4-FFF2-40B4-BE49-F238E27FC236}">
                <a16:creationId xmlns:a16="http://schemas.microsoft.com/office/drawing/2014/main" id="{5501F9AC-3003-9E42-87A3-C718099C943E}"/>
              </a:ext>
            </a:extLst>
          </p:cNvPr>
          <p:cNvSpPr/>
          <p:nvPr/>
        </p:nvSpPr>
        <p:spPr>
          <a:xfrm>
            <a:off x="5105400" y="3911600"/>
            <a:ext cx="381000" cy="381000"/>
          </a:xfrm>
          <a:prstGeom prst="ellipse">
            <a:avLst/>
          </a:prstGeom>
          <a:solidFill>
            <a:srgbClr val="5A3FA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41" name="TextBox 40">
            <a:extLst>
              <a:ext uri="{FF2B5EF4-FFF2-40B4-BE49-F238E27FC236}">
                <a16:creationId xmlns:a16="http://schemas.microsoft.com/office/drawing/2014/main" id="{CAD7F255-1283-6D43-9769-6BAFA669F65B}"/>
              </a:ext>
            </a:extLst>
          </p:cNvPr>
          <p:cNvSpPr txBox="1"/>
          <p:nvPr/>
        </p:nvSpPr>
        <p:spPr>
          <a:xfrm>
            <a:off x="5105400" y="3911600"/>
            <a:ext cx="381000" cy="381000"/>
          </a:xfrm>
          <a:prstGeom prst="rect">
            <a:avLst/>
          </a:prstGeom>
          <a:noFill/>
        </p:spPr>
        <p:txBody>
          <a:bodyPr vertOverflow="overflow" vert="horz" wrap="none" rtlCol="0" anchor="ctr" anchorCtr="0">
            <a:noAutofit/>
          </a:bodyPr>
          <a:lstStyle/>
          <a:p>
            <a:pPr algn="l"/>
            <a:r>
              <a:rPr lang="en-US" sz="1100" b="1">
                <a:solidFill>
                  <a:srgbClr val="FFFFFF"/>
                </a:solidFill>
              </a:rPr>
              <a:t>08</a:t>
            </a:r>
          </a:p>
        </p:txBody>
      </p:sp>
      <p:sp>
        <p:nvSpPr>
          <p:cNvPr id="42" name="TextBox 41">
            <a:extLst>
              <a:ext uri="{FF2B5EF4-FFF2-40B4-BE49-F238E27FC236}">
                <a16:creationId xmlns:a16="http://schemas.microsoft.com/office/drawing/2014/main" id="{E3941D64-488E-5547-BA11-10C052982191}"/>
              </a:ext>
            </a:extLst>
          </p:cNvPr>
          <p:cNvSpPr txBox="1"/>
          <p:nvPr/>
        </p:nvSpPr>
        <p:spPr>
          <a:xfrm>
            <a:off x="5702300" y="3848100"/>
            <a:ext cx="3048000" cy="284693"/>
          </a:xfrm>
          <a:prstGeom prst="rect">
            <a:avLst/>
          </a:prstGeom>
          <a:noFill/>
        </p:spPr>
        <p:txBody>
          <a:bodyPr vertOverflow="overflow" vert="horz" wrap="square" rtlCol="0" anchor="t">
            <a:spAutoFit/>
          </a:bodyPr>
          <a:lstStyle/>
          <a:p>
            <a:pPr marL="0" indent="0">
              <a:buNone/>
            </a:pPr>
            <a:r>
              <a:rPr lang="en-US" sz="1250" b="1" dirty="0">
                <a:solidFill>
                  <a:srgbClr val="FFFFFF"/>
                </a:solidFill>
                <a:latin typeface="Calibri" pitchFamily="34" charset="0"/>
              </a:rPr>
              <a:t>Conclusions &amp; Recommendations</a:t>
            </a:r>
          </a:p>
        </p:txBody>
      </p:sp>
      <p:sp>
        <p:nvSpPr>
          <p:cNvPr id="43" name="TextBox 42">
            <a:extLst>
              <a:ext uri="{FF2B5EF4-FFF2-40B4-BE49-F238E27FC236}">
                <a16:creationId xmlns:a16="http://schemas.microsoft.com/office/drawing/2014/main" id="{EC7005B7-491A-7A45-B349-71486A217A62}"/>
              </a:ext>
            </a:extLst>
          </p:cNvPr>
          <p:cNvSpPr txBox="1"/>
          <p:nvPr/>
        </p:nvSpPr>
        <p:spPr>
          <a:xfrm>
            <a:off x="5702300" y="4127500"/>
            <a:ext cx="3048000" cy="228600"/>
          </a:xfrm>
          <a:prstGeom prst="rect">
            <a:avLst/>
          </a:prstGeom>
          <a:noFill/>
        </p:spPr>
        <p:txBody>
          <a:bodyPr vertOverflow="overflow" vert="horz" wrap="square" rtlCol="0" anchor="t">
            <a:spAutoFit/>
          </a:bodyPr>
          <a:lstStyle/>
          <a:p>
            <a:pPr marL="0" indent="0">
              <a:buNone/>
            </a:pPr>
            <a:r>
              <a:rPr lang="en-US" sz="1000" dirty="0">
                <a:solidFill>
                  <a:srgbClr val="C9BCE8"/>
                </a:solidFill>
                <a:latin typeface="Calibri" pitchFamily="34" charset="0"/>
              </a:rPr>
              <a:t>Strategy for commercial and policy stakeholders</a:t>
            </a:r>
          </a:p>
        </p:txBody>
      </p:sp>
    </p:spTree>
    <p:extLst>
      <p:ext uri="{BB962C8B-B14F-4D97-AF65-F5344CB8AC3E}">
        <p14:creationId xmlns:p14="http://schemas.microsoft.com/office/powerpoint/2010/main" val="13491982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D1B69"/>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64008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About Author</a:t>
            </a:r>
            <a:endParaRPr lang="en-US" sz="3400" dirty="0"/>
          </a:p>
        </p:txBody>
      </p:sp>
      <p:sp>
        <p:nvSpPr>
          <p:cNvPr id="5" name="Shape 3"/>
          <p:cNvSpPr/>
          <p:nvPr/>
        </p:nvSpPr>
        <p:spPr>
          <a:xfrm>
            <a:off x="527949" y="3895344"/>
            <a:ext cx="500000" cy="500000"/>
          </a:xfrm>
          <a:prstGeom prst="roundRect">
            <a:avLst>
              <a:gd name="adj" fmla="val 11429"/>
            </a:avLst>
          </a:prstGeom>
          <a:solidFill>
            <a:srgbClr val="5A3FA0"/>
          </a:solidFill>
          <a:ln/>
        </p:spPr>
        <p:txBody>
          <a:bodyPr/>
          <a:lstStyle/>
          <a:p>
            <a:endParaRPr lang="en-US"/>
          </a:p>
        </p:txBody>
      </p:sp>
      <p:pic>
        <p:nvPicPr>
          <p:cNvPr id="6" name="Image 0" descr="preencoded.png">
            <a:hlinkClick r:id="rId3"/>
          </p:cNvPr>
          <p:cNvPicPr>
            <a:picLocks noChangeAspect="1"/>
          </p:cNvPicPr>
          <p:nvPr/>
        </p:nvPicPr>
        <p:blipFill>
          <a:blip r:embed="rId4"/>
          <a:stretch>
            <a:fillRect/>
          </a:stretch>
        </p:blipFill>
        <p:spPr>
          <a:xfrm>
            <a:off x="656520" y="4023915"/>
            <a:ext cx="242857" cy="242857"/>
          </a:xfrm>
          <a:prstGeom prst="rect">
            <a:avLst/>
          </a:prstGeom>
        </p:spPr>
      </p:pic>
      <p:sp>
        <p:nvSpPr>
          <p:cNvPr id="7" name="Shape 4"/>
          <p:cNvSpPr/>
          <p:nvPr/>
        </p:nvSpPr>
        <p:spPr>
          <a:xfrm>
            <a:off x="1123282" y="3895344"/>
            <a:ext cx="500000" cy="500000"/>
          </a:xfrm>
          <a:prstGeom prst="roundRect">
            <a:avLst>
              <a:gd name="adj" fmla="val 11429"/>
            </a:avLst>
          </a:prstGeom>
          <a:solidFill>
            <a:srgbClr val="5A3FA0"/>
          </a:solidFill>
          <a:ln/>
        </p:spPr>
        <p:txBody>
          <a:bodyPr/>
          <a:lstStyle/>
          <a:p>
            <a:endParaRPr lang="en-US"/>
          </a:p>
        </p:txBody>
      </p:sp>
      <p:pic>
        <p:nvPicPr>
          <p:cNvPr id="8" name="Image 1" descr="preencoded.png">
            <a:hlinkClick r:id="rId5"/>
          </p:cNvPr>
          <p:cNvPicPr>
            <a:picLocks noChangeAspect="1"/>
          </p:cNvPicPr>
          <p:nvPr/>
        </p:nvPicPr>
        <p:blipFill>
          <a:blip r:embed="rId6"/>
          <a:stretch>
            <a:fillRect/>
          </a:stretch>
        </p:blipFill>
        <p:spPr>
          <a:xfrm>
            <a:off x="1251853" y="4023915"/>
            <a:ext cx="242857" cy="242857"/>
          </a:xfrm>
          <a:prstGeom prst="rect">
            <a:avLst/>
          </a:prstGeom>
        </p:spPr>
      </p:pic>
      <p:sp>
        <p:nvSpPr>
          <p:cNvPr id="23" name="Shape GitHub"/>
          <p:cNvSpPr/>
          <p:nvPr/>
        </p:nvSpPr>
        <p:spPr>
          <a:xfrm>
            <a:off x="1718615" y="3895344"/>
            <a:ext cx="500000" cy="500000"/>
          </a:xfrm>
          <a:prstGeom prst="roundRect">
            <a:avLst>
              <a:gd name="adj" fmla="val 11429"/>
            </a:avLst>
          </a:prstGeom>
          <a:solidFill>
            <a:srgbClr val="5A3FA0"/>
          </a:solidFill>
          <a:ln/>
        </p:spPr>
        <p:txBody>
          <a:bodyPr/>
          <a:lstStyle/>
          <a:p>
            <a:endParaRPr lang="en-US"/>
          </a:p>
        </p:txBody>
      </p:sp>
      <p:pic>
        <p:nvPicPr>
          <p:cNvPr id="24" name="Image GitHub" descr="github.png">
            <a:hlinkClick r:id="rId7"/>
          </p:cNvPr>
          <p:cNvPicPr>
            <a:picLocks noChangeAspect="1"/>
          </p:cNvPicPr>
          <p:nvPr/>
        </p:nvPicPr>
        <p:blipFill>
          <a:blip r:embed="rId8"/>
          <a:stretch>
            <a:fillRect/>
          </a:stretch>
        </p:blipFill>
        <p:spPr>
          <a:xfrm>
            <a:off x="1847186" y="4023915"/>
            <a:ext cx="242857" cy="242857"/>
          </a:xfrm>
          <a:prstGeom prst="rect">
            <a:avLst/>
          </a:prstGeom>
        </p:spPr>
      </p:pic>
      <p:sp>
        <p:nvSpPr>
          <p:cNvPr id="25" name="Shape Tableau"/>
          <p:cNvSpPr/>
          <p:nvPr/>
        </p:nvSpPr>
        <p:spPr>
          <a:xfrm>
            <a:off x="2313948" y="3895344"/>
            <a:ext cx="500000" cy="500000"/>
          </a:xfrm>
          <a:prstGeom prst="roundRect">
            <a:avLst>
              <a:gd name="adj" fmla="val 11429"/>
            </a:avLst>
          </a:prstGeom>
          <a:solidFill>
            <a:srgbClr val="FFFFFF"/>
          </a:solidFill>
          <a:ln/>
        </p:spPr>
        <p:txBody>
          <a:bodyPr/>
          <a:lstStyle/>
          <a:p>
            <a:endParaRPr lang="en-US">
              <a:solidFill>
                <a:srgbClr val="9986DE"/>
              </a:solidFill>
            </a:endParaRPr>
          </a:p>
        </p:txBody>
      </p:sp>
      <p:pic>
        <p:nvPicPr>
          <p:cNvPr id="26" name="Image Tableau" descr="tableau.jpg">
            <a:hlinkClick r:id="rId9"/>
          </p:cNvPr>
          <p:cNvPicPr>
            <a:picLocks noChangeAspect="1"/>
          </p:cNvPicPr>
          <p:nvPr/>
        </p:nvPicPr>
        <p:blipFill>
          <a:blip r:embed="rId10"/>
          <a:srcRect l="19727" t="18066" r="19727" b="21387"/>
          <a:stretch>
            <a:fillRect/>
          </a:stretch>
        </p:blipFill>
        <p:spPr>
          <a:xfrm>
            <a:off x="2442519" y="4023915"/>
            <a:ext cx="242857" cy="242857"/>
          </a:xfrm>
          <a:prstGeom prst="rect">
            <a:avLst/>
          </a:prstGeom>
        </p:spPr>
      </p:pic>
      <p:sp>
        <p:nvSpPr>
          <p:cNvPr id="9" name="Shape 5"/>
          <p:cNvSpPr/>
          <p:nvPr/>
        </p:nvSpPr>
        <p:spPr>
          <a:xfrm>
            <a:off x="3154680" y="1325880"/>
            <a:ext cx="5532120" cy="1417320"/>
          </a:xfrm>
          <a:prstGeom prst="roundRect">
            <a:avLst>
              <a:gd name="adj" fmla="val 6452"/>
            </a:avLst>
          </a:prstGeom>
          <a:solidFill>
            <a:schemeClr val="bg1"/>
          </a:solidFill>
          <a:ln/>
          <a:effectLst>
            <a:outerShdw blurRad="88900" dist="38100" dir="5400000" algn="bl" rotWithShape="0">
              <a:srgbClr val="1A0F40">
                <a:alpha val="35000"/>
              </a:srgbClr>
            </a:outerShdw>
          </a:effectLst>
        </p:spPr>
        <p:txBody>
          <a:bodyPr/>
          <a:lstStyle/>
          <a:p>
            <a:endParaRPr lang="en-US"/>
          </a:p>
        </p:txBody>
      </p:sp>
      <p:pic>
        <p:nvPicPr>
          <p:cNvPr id="10" name="Image 2" descr="preencoded.png"/>
          <p:cNvPicPr>
            <a:picLocks noChangeAspect="1"/>
          </p:cNvPicPr>
          <p:nvPr/>
        </p:nvPicPr>
        <p:blipFill>
          <a:blip r:embed="rId11"/>
          <a:stretch>
            <a:fillRect/>
          </a:stretch>
        </p:blipFill>
        <p:spPr>
          <a:xfrm>
            <a:off x="3383280" y="1481328"/>
            <a:ext cx="237744" cy="237744"/>
          </a:xfrm>
          <a:prstGeom prst="rect">
            <a:avLst/>
          </a:prstGeom>
        </p:spPr>
      </p:pic>
      <p:sp>
        <p:nvSpPr>
          <p:cNvPr id="11" name="Text 6"/>
          <p:cNvSpPr/>
          <p:nvPr/>
        </p:nvSpPr>
        <p:spPr>
          <a:xfrm>
            <a:off x="3721608" y="1463040"/>
            <a:ext cx="4800600" cy="292608"/>
          </a:xfrm>
          <a:prstGeom prst="rect">
            <a:avLst/>
          </a:prstGeom>
          <a:noFill/>
          <a:ln/>
        </p:spPr>
        <p:txBody>
          <a:bodyPr wrap="square" lIns="0" tIns="0" rIns="0" bIns="0" rtlCol="0" anchor="ctr"/>
          <a:lstStyle/>
          <a:p>
            <a:pPr marL="0" indent="0">
              <a:buNone/>
            </a:pPr>
            <a:r>
              <a:rPr lang="en-US" sz="1400" b="1" dirty="0">
                <a:solidFill>
                  <a:srgbClr val="5B8DEF"/>
                </a:solidFill>
                <a:latin typeface="Calibri" pitchFamily="34" charset="0"/>
                <a:cs typeface="Calibri" pitchFamily="34" charset="-120"/>
              </a:rPr>
              <a:t>Profile</a:t>
            </a:r>
            <a:endParaRPr lang="en-US" sz="1400" dirty="0"/>
          </a:p>
        </p:txBody>
      </p:sp>
      <p:sp>
        <p:nvSpPr>
          <p:cNvPr id="12" name="Text 7"/>
          <p:cNvSpPr/>
          <p:nvPr/>
        </p:nvSpPr>
        <p:spPr>
          <a:xfrm>
            <a:off x="3383280" y="1810512"/>
            <a:ext cx="5138928" cy="868680"/>
          </a:xfrm>
          <a:prstGeom prst="rect">
            <a:avLst/>
          </a:prstGeom>
          <a:noFill/>
          <a:ln/>
        </p:spPr>
        <p:txBody>
          <a:bodyPr wrap="square" lIns="0" tIns="0" rIns="0" bIns="0" rtlCol="0" anchor="ctr"/>
          <a:lstStyle/>
          <a:p>
            <a:pPr marL="0" indent="0" algn="just">
              <a:lnSpc>
                <a:spcPct val="100000"/>
              </a:lnSpc>
              <a:buNone/>
            </a:pPr>
            <a:r>
              <a:rPr lang="en-US" sz="1050" b="1" dirty="0">
                <a:latin typeface="Calibri" pitchFamily="34" charset="0"/>
                <a:ea typeface="Calibri" pitchFamily="34" charset="-122"/>
                <a:cs typeface="Calibri" pitchFamily="34" charset="-120"/>
              </a:rPr>
              <a:t>Economics &amp; Management graduate from Université Grenoble Alpes (France), with hands-on experience across business operations and data analytics. Currently finishing an intensive data analytics bootcamp, working mainly in Python, SQL, Tableau, and time-series forecasting.</a:t>
            </a:r>
          </a:p>
        </p:txBody>
      </p:sp>
      <p:sp>
        <p:nvSpPr>
          <p:cNvPr id="13" name="Shape 8"/>
          <p:cNvSpPr/>
          <p:nvPr/>
        </p:nvSpPr>
        <p:spPr>
          <a:xfrm>
            <a:off x="3154680" y="2852928"/>
            <a:ext cx="5532120" cy="911430"/>
          </a:xfrm>
          <a:prstGeom prst="roundRect">
            <a:avLst>
              <a:gd name="adj" fmla="val 12195"/>
            </a:avLst>
          </a:prstGeom>
          <a:solidFill>
            <a:schemeClr val="bg1"/>
          </a:solidFill>
          <a:ln/>
          <a:effectLst>
            <a:outerShdw blurRad="88900" dist="38100" dir="5400000" algn="bl" rotWithShape="0">
              <a:srgbClr val="1A0F40">
                <a:alpha val="35000"/>
              </a:srgbClr>
            </a:outerShdw>
          </a:effectLst>
        </p:spPr>
        <p:txBody>
          <a:bodyPr/>
          <a:lstStyle/>
          <a:p>
            <a:endParaRPr lang="en-US"/>
          </a:p>
        </p:txBody>
      </p:sp>
      <p:pic>
        <p:nvPicPr>
          <p:cNvPr id="14" name="Image 3" descr="preencoded.png"/>
          <p:cNvPicPr>
            <a:picLocks noChangeAspect="1"/>
          </p:cNvPicPr>
          <p:nvPr/>
        </p:nvPicPr>
        <p:blipFill>
          <a:blip r:embed="rId12"/>
          <a:stretch>
            <a:fillRect/>
          </a:stretch>
        </p:blipFill>
        <p:spPr>
          <a:xfrm>
            <a:off x="3383280" y="2931554"/>
            <a:ext cx="237744" cy="237744"/>
          </a:xfrm>
          <a:prstGeom prst="rect">
            <a:avLst/>
          </a:prstGeom>
        </p:spPr>
      </p:pic>
      <p:sp>
        <p:nvSpPr>
          <p:cNvPr id="15" name="Text 9"/>
          <p:cNvSpPr/>
          <p:nvPr/>
        </p:nvSpPr>
        <p:spPr>
          <a:xfrm>
            <a:off x="3721608" y="2894978"/>
            <a:ext cx="4800600" cy="274320"/>
          </a:xfrm>
          <a:prstGeom prst="rect">
            <a:avLst/>
          </a:prstGeom>
          <a:noFill/>
          <a:ln/>
        </p:spPr>
        <p:txBody>
          <a:bodyPr wrap="square" lIns="0" tIns="0" rIns="0" bIns="0" rtlCol="0" anchor="ctr"/>
          <a:lstStyle/>
          <a:p>
            <a:pPr marL="0" indent="0">
              <a:buNone/>
            </a:pPr>
            <a:r>
              <a:rPr lang="en-US" sz="1300" b="1">
                <a:solidFill>
                  <a:srgbClr val="E8B33D"/>
                </a:solidFill>
                <a:latin typeface="Calibri" pitchFamily="34" charset="0"/>
                <a:ea typeface="Calibri" pitchFamily="34" charset="-122"/>
                <a:cs typeface="Calibri" pitchFamily="34" charset="-120"/>
              </a:rPr>
              <a:t>Education</a:t>
            </a:r>
            <a:endParaRPr lang="en-US" sz="1300" dirty="0"/>
          </a:p>
        </p:txBody>
      </p:sp>
      <p:sp>
        <p:nvSpPr>
          <p:cNvPr id="16" name="Text 10"/>
          <p:cNvSpPr/>
          <p:nvPr/>
        </p:nvSpPr>
        <p:spPr>
          <a:xfrm>
            <a:off x="3383280" y="3261438"/>
            <a:ext cx="4800600" cy="310896"/>
          </a:xfrm>
          <a:prstGeom prst="rect">
            <a:avLst/>
          </a:prstGeom>
          <a:noFill/>
          <a:ln/>
        </p:spPr>
        <p:txBody>
          <a:bodyPr wrap="square" lIns="0" tIns="0" rIns="0" bIns="0" rtlCol="0" anchor="ctr"/>
          <a:lstStyle/>
          <a:p>
            <a:pPr marL="0" indent="0">
              <a:buNone/>
            </a:pPr>
            <a:r>
              <a:rPr lang="en-US" sz="1050" b="1" dirty="0">
                <a:latin typeface="Calibri" pitchFamily="34" charset="0"/>
                <a:ea typeface="Calibri" pitchFamily="34" charset="-122"/>
                <a:cs typeface="Calibri" pitchFamily="34" charset="-120"/>
              </a:rPr>
              <a:t>Université Grenoble Alpes (2017-2020)</a:t>
            </a:r>
          </a:p>
          <a:p>
            <a:pPr marL="0" indent="0">
              <a:buNone/>
            </a:pPr>
            <a:r>
              <a:rPr lang="en-US" sz="1050" b="1" dirty="0">
                <a:latin typeface="Calibri" pitchFamily="34" charset="0"/>
                <a:ea typeface="Calibri" pitchFamily="34" charset="-122"/>
                <a:cs typeface="Calibri" pitchFamily="34" charset="-120"/>
              </a:rPr>
              <a:t>Major: Economics &amp; Management</a:t>
            </a:r>
            <a:endParaRPr lang="en-US" sz="1050" b="1" dirty="0"/>
          </a:p>
        </p:txBody>
      </p:sp>
      <p:sp>
        <p:nvSpPr>
          <p:cNvPr id="17" name="Shape 11"/>
          <p:cNvSpPr/>
          <p:nvPr/>
        </p:nvSpPr>
        <p:spPr>
          <a:xfrm>
            <a:off x="3154680" y="3895344"/>
            <a:ext cx="5532120" cy="841248"/>
          </a:xfrm>
          <a:prstGeom prst="roundRect">
            <a:avLst>
              <a:gd name="adj" fmla="val 10870"/>
            </a:avLst>
          </a:prstGeom>
          <a:solidFill>
            <a:schemeClr val="bg1"/>
          </a:solidFill>
          <a:ln/>
          <a:effectLst>
            <a:outerShdw blurRad="88900" dist="38100" dir="5400000" algn="bl" rotWithShape="0">
              <a:srgbClr val="1A0F40">
                <a:alpha val="35000"/>
              </a:srgbClr>
            </a:outerShdw>
          </a:effectLst>
        </p:spPr>
        <p:txBody>
          <a:bodyPr/>
          <a:lstStyle/>
          <a:p>
            <a:endParaRPr lang="en-US"/>
          </a:p>
        </p:txBody>
      </p:sp>
      <p:pic>
        <p:nvPicPr>
          <p:cNvPr id="18" name="Image 4" descr="preencoded.png"/>
          <p:cNvPicPr>
            <a:picLocks noChangeAspect="1"/>
          </p:cNvPicPr>
          <p:nvPr/>
        </p:nvPicPr>
        <p:blipFill>
          <a:blip r:embed="rId13"/>
          <a:stretch>
            <a:fillRect/>
          </a:stretch>
        </p:blipFill>
        <p:spPr>
          <a:xfrm>
            <a:off x="3383280" y="4020390"/>
            <a:ext cx="237744" cy="237744"/>
          </a:xfrm>
          <a:prstGeom prst="rect">
            <a:avLst/>
          </a:prstGeom>
        </p:spPr>
      </p:pic>
      <p:sp>
        <p:nvSpPr>
          <p:cNvPr id="19" name="Text 12"/>
          <p:cNvSpPr/>
          <p:nvPr/>
        </p:nvSpPr>
        <p:spPr>
          <a:xfrm>
            <a:off x="3721608" y="3965526"/>
            <a:ext cx="4800600" cy="274320"/>
          </a:xfrm>
          <a:prstGeom prst="rect">
            <a:avLst/>
          </a:prstGeom>
          <a:noFill/>
          <a:ln/>
        </p:spPr>
        <p:txBody>
          <a:bodyPr wrap="square" lIns="0" tIns="0" rIns="0" bIns="0" rtlCol="0" anchor="ctr"/>
          <a:lstStyle/>
          <a:p>
            <a:pPr marL="0" indent="0">
              <a:buNone/>
            </a:pPr>
            <a:r>
              <a:rPr lang="en-US" sz="1300" b="1">
                <a:solidFill>
                  <a:srgbClr val="E07B53"/>
                </a:solidFill>
                <a:latin typeface="Calibri" pitchFamily="34" charset="0"/>
                <a:ea typeface="Calibri" pitchFamily="34" charset="-122"/>
                <a:cs typeface="Calibri" pitchFamily="34" charset="-120"/>
              </a:rPr>
              <a:t>Professional Experience</a:t>
            </a:r>
            <a:endParaRPr lang="en-US" sz="1300" dirty="0"/>
          </a:p>
        </p:txBody>
      </p:sp>
      <p:sp>
        <p:nvSpPr>
          <p:cNvPr id="20" name="Text 13"/>
          <p:cNvSpPr/>
          <p:nvPr/>
        </p:nvSpPr>
        <p:spPr>
          <a:xfrm>
            <a:off x="3383280" y="4291701"/>
            <a:ext cx="4800600" cy="365760"/>
          </a:xfrm>
          <a:prstGeom prst="rect">
            <a:avLst/>
          </a:prstGeom>
          <a:noFill/>
          <a:ln/>
        </p:spPr>
        <p:txBody>
          <a:bodyPr wrap="square" lIns="0" tIns="0" rIns="0" bIns="0" rtlCol="0" anchor="ctr"/>
          <a:lstStyle/>
          <a:p>
            <a:pPr marL="0" indent="0">
              <a:buNone/>
            </a:pPr>
            <a:r>
              <a:rPr lang="en-US" sz="1050" b="1" dirty="0">
                <a:latin typeface="Calibri" pitchFamily="34" charset="0"/>
                <a:ea typeface="Calibri" pitchFamily="34" charset="-122"/>
                <a:cs typeface="Calibri" pitchFamily="34" charset="-120"/>
              </a:rPr>
              <a:t>Family Business Grha Oto (2023-2026)</a:t>
            </a:r>
          </a:p>
          <a:p>
            <a:pPr marL="0" indent="0">
              <a:buNone/>
            </a:pPr>
            <a:r>
              <a:rPr lang="en-US" sz="1050" b="1" dirty="0">
                <a:latin typeface="Calibri" pitchFamily="34" charset="0"/>
                <a:ea typeface="Calibri" pitchFamily="34" charset="-122"/>
                <a:cs typeface="Calibri" pitchFamily="34" charset="-120"/>
              </a:rPr>
              <a:t>Focus: Operations Management, Digital Transformation</a:t>
            </a:r>
            <a:endParaRPr lang="en-US" sz="1050" b="1" dirty="0"/>
          </a:p>
        </p:txBody>
      </p:sp>
      <p:pic>
        <p:nvPicPr>
          <p:cNvPr id="22" name="Picture 21">
            <a:extLst>
              <a:ext uri="{FF2B5EF4-FFF2-40B4-BE49-F238E27FC236}">
                <a16:creationId xmlns:a16="http://schemas.microsoft.com/office/drawing/2014/main" id="{64C715BC-877D-2A67-B97A-1249C9112F49}"/>
              </a:ext>
            </a:extLst>
          </p:cNvPr>
          <p:cNvPicPr>
            <a:picLocks noChangeAspect="1"/>
          </p:cNvPicPr>
          <p:nvPr/>
        </p:nvPicPr>
        <p:blipFill>
          <a:blip r:embed="rId14"/>
          <a:stretch>
            <a:fillRect/>
          </a:stretch>
        </p:blipFill>
        <p:spPr>
          <a:xfrm>
            <a:off x="457200" y="1325880"/>
            <a:ext cx="2356749" cy="2356749"/>
          </a:xfrm>
          <a:prstGeom prst="rect">
            <a:avLst/>
          </a:prstGeom>
        </p:spPr>
      </p:pic>
      <p:pic>
        <p:nvPicPr>
          <p:cNvPr id="27" name="Copied Picture 27">
            <a:extLst>
              <a:ext uri="{FF2B5EF4-FFF2-40B4-BE49-F238E27FC236}">
                <a16:creationId xmlns:a16="http://schemas.microsoft.com/office/drawing/2014/main" id="{098C5A1E-651C-798D-5D81-541A1CCCDFF3}"/>
              </a:ext>
            </a:extLst>
          </p:cNvPr>
          <p:cNvPicPr>
            <a:picLocks noChangeAspect="1"/>
          </p:cNvPicPr>
          <p:nvPr/>
        </p:nvPicPr>
        <p:blipFill>
          <a:blip r:embed="rId15"/>
          <a:stretch/>
        </p:blipFill>
        <p:spPr>
          <a:xfrm>
            <a:off x="7901259" y="101600"/>
            <a:ext cx="1141141" cy="753153"/>
          </a:xfrm>
          <a:prstGeom prst="rect">
            <a:avLst/>
          </a:prstGeom>
        </p:spPr>
      </p:pic>
    </p:spTree>
    <p:extLst>
      <p:ext uri="{BB962C8B-B14F-4D97-AF65-F5344CB8AC3E}">
        <p14:creationId xmlns:p14="http://schemas.microsoft.com/office/powerpoint/2010/main" val="3670141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D1B69"/>
        </a:solidFill>
        <a:effectLst/>
      </p:bgPr>
    </p:bg>
    <p:spTree>
      <p:nvGrpSpPr>
        <p:cNvPr id="1" name=""/>
        <p:cNvGrpSpPr/>
        <p:nvPr/>
      </p:nvGrpSpPr>
      <p:grpSpPr>
        <a:xfrm>
          <a:off x="0" y="0"/>
          <a:ext cx="0" cy="0"/>
          <a:chOff x="0" y="0"/>
          <a:chExt cx="0" cy="0"/>
        </a:xfrm>
      </p:grpSpPr>
      <p:sp>
        <p:nvSpPr>
          <p:cNvPr id="4" name="Shape 2"/>
          <p:cNvSpPr/>
          <p:nvPr/>
        </p:nvSpPr>
        <p:spPr>
          <a:xfrm>
            <a:off x="250928" y="868576"/>
            <a:ext cx="4321072" cy="2224025"/>
          </a:xfrm>
          <a:prstGeom prst="roundRect">
            <a:avLst>
              <a:gd name="adj" fmla="val 5814"/>
            </a:avLst>
          </a:prstGeom>
          <a:solidFill>
            <a:srgbClr val="FFFFFF"/>
          </a:solidFill>
          <a:ln/>
          <a:effectLst>
            <a:outerShdw blurRad="88900" dist="38100" dir="5400000" algn="bl" rotWithShape="0">
              <a:srgbClr val="1A0F40">
                <a:alpha val="35000"/>
              </a:srgbClr>
            </a:outerShdw>
          </a:effectLst>
        </p:spPr>
        <p:txBody>
          <a:bodyPr/>
          <a:lstStyle/>
          <a:p>
            <a:endParaRPr lang="en-US"/>
          </a:p>
        </p:txBody>
      </p:sp>
      <p:sp>
        <p:nvSpPr>
          <p:cNvPr id="5" name="Shape 3"/>
          <p:cNvSpPr/>
          <p:nvPr/>
        </p:nvSpPr>
        <p:spPr>
          <a:xfrm>
            <a:off x="479527" y="1018577"/>
            <a:ext cx="457200" cy="457200"/>
          </a:xfrm>
          <a:prstGeom prst="ellipse">
            <a:avLst/>
          </a:prstGeom>
          <a:solidFill>
            <a:srgbClr val="5A3FA0"/>
          </a:solidFill>
          <a:ln/>
        </p:spPr>
        <p:txBody>
          <a:bodyPr/>
          <a:lstStyle/>
          <a:p>
            <a:endParaRPr lang="en-US"/>
          </a:p>
        </p:txBody>
      </p:sp>
      <p:sp>
        <p:nvSpPr>
          <p:cNvPr id="6" name="Text 4"/>
          <p:cNvSpPr/>
          <p:nvPr/>
        </p:nvSpPr>
        <p:spPr>
          <a:xfrm>
            <a:off x="479527" y="1018577"/>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073754" y="982001"/>
            <a:ext cx="5900000" cy="292608"/>
          </a:xfrm>
          <a:prstGeom prst="rect">
            <a:avLst/>
          </a:prstGeom>
          <a:noFill/>
          <a:ln/>
        </p:spPr>
        <p:txBody>
          <a:bodyPr wrap="square" lIns="0" tIns="0" rIns="0" bIns="0" rtlCol="0" anchor="ctr"/>
          <a:lstStyle/>
          <a:p>
            <a:pPr marL="0" indent="0">
              <a:buNone/>
            </a:pPr>
            <a:r>
              <a:rPr lang="en-US" sz="1400" b="1" dirty="0">
                <a:solidFill>
                  <a:srgbClr val="2D1B69"/>
                </a:solidFill>
                <a:latin typeface="Calibri" pitchFamily="34" charset="0"/>
                <a:ea typeface="Calibri" pitchFamily="34" charset="-122"/>
                <a:cs typeface="Calibri" pitchFamily="34" charset="-120"/>
              </a:rPr>
              <a:t>Retail Time Series Analysis</a:t>
            </a:r>
            <a:endParaRPr lang="en-US" sz="1400" dirty="0"/>
          </a:p>
        </p:txBody>
      </p:sp>
      <p:sp>
        <p:nvSpPr>
          <p:cNvPr id="8" name="Text 6"/>
          <p:cNvSpPr/>
          <p:nvPr/>
        </p:nvSpPr>
        <p:spPr>
          <a:xfrm>
            <a:off x="1073754" y="1274609"/>
            <a:ext cx="5900000" cy="256032"/>
          </a:xfrm>
          <a:prstGeom prst="rect">
            <a:avLst/>
          </a:prstGeom>
          <a:noFill/>
          <a:ln/>
        </p:spPr>
        <p:txBody>
          <a:bodyPr wrap="square" lIns="0" tIns="0" rIns="0" bIns="0" rtlCol="0" anchor="ctr"/>
          <a:lstStyle/>
          <a:p>
            <a:pPr marL="0" indent="0">
              <a:buNone/>
            </a:pPr>
            <a:r>
              <a:rPr lang="en-US" sz="1100" b="1" dirty="0">
                <a:solidFill>
                  <a:srgbClr val="B5497E"/>
                </a:solidFill>
                <a:latin typeface="Calibri" pitchFamily="34" charset="0"/>
                <a:ea typeface="Calibri" pitchFamily="34" charset="-122"/>
                <a:cs typeface="Calibri" pitchFamily="34" charset="-120"/>
              </a:rPr>
              <a:t>Tools: Python, Tableau</a:t>
            </a:r>
            <a:endParaRPr lang="en-US" sz="1100" dirty="0"/>
          </a:p>
        </p:txBody>
      </p:sp>
      <p:sp>
        <p:nvSpPr>
          <p:cNvPr id="9" name="Text 7"/>
          <p:cNvSpPr/>
          <p:nvPr/>
        </p:nvSpPr>
        <p:spPr>
          <a:xfrm>
            <a:off x="307927" y="1603577"/>
            <a:ext cx="4207371" cy="1429180"/>
          </a:xfrm>
          <a:prstGeom prst="rect">
            <a:avLst/>
          </a:prstGeom>
          <a:noFill/>
          <a:ln/>
        </p:spPr>
        <p:txBody>
          <a:bodyPr wrap="square" lIns="0" tIns="0" rIns="0" bIns="0" rtlCol="0" anchor="t"/>
          <a:lstStyle/>
          <a:p>
            <a:pPr algn="just"/>
            <a:r>
              <a:rPr lang="en-US" sz="930" b="1" dirty="0">
                <a:solidFill>
                  <a:srgbClr val="2D1B69"/>
                </a:solidFill>
                <a:latin typeface="Calibri" pitchFamily="34" charset="0"/>
                <a:ea typeface="Calibri" pitchFamily="34" charset="-122"/>
                <a:cs typeface="Calibri" pitchFamily="34" charset="-120"/>
              </a:rPr>
              <a:t>Problem: </a:t>
            </a:r>
            <a:r>
              <a:rPr lang="en-US" sz="930" dirty="0">
                <a:solidFill>
                  <a:srgbClr val="3A3A4A"/>
                </a:solidFill>
                <a:latin typeface="Calibri" pitchFamily="34" charset="0"/>
                <a:ea typeface="Calibri" pitchFamily="34" charset="-122"/>
                <a:cs typeface="Calibri" pitchFamily="34" charset="-120"/>
              </a:rPr>
              <a:t>Ecuadorian retailer Corporación Favorita needed to forecast daily sales per product category to plan stock accurately and avoid over/understocking.</a:t>
            </a:r>
          </a:p>
          <a:p>
            <a:pPr algn="just"/>
            <a:endParaRPr lang="en-US" sz="930" dirty="0"/>
          </a:p>
          <a:p>
            <a:pPr algn="just"/>
            <a:r>
              <a:rPr lang="en-US" sz="930" b="1" dirty="0">
                <a:solidFill>
                  <a:srgbClr val="2D1B69"/>
                </a:solidFill>
                <a:latin typeface="Calibri" pitchFamily="34" charset="0"/>
                <a:ea typeface="Calibri" pitchFamily="34" charset="-122"/>
                <a:cs typeface="Calibri" pitchFamily="34" charset="-120"/>
              </a:rPr>
              <a:t>Result: </a:t>
            </a:r>
            <a:r>
              <a:rPr kumimoji="0" lang="en-US" sz="930" b="0" i="0" u="none" strike="noStrike" kern="1200" cap="none" spc="0" normalizeH="0" baseline="0" noProof="0" dirty="0">
                <a:ln>
                  <a:noFill/>
                </a:ln>
                <a:solidFill>
                  <a:srgbClr val="3A3A4A"/>
                </a:solidFill>
                <a:effectLst/>
                <a:uLnTx/>
                <a:uFillTx/>
                <a:latin typeface="Calibri" pitchFamily="34" charset="0"/>
                <a:ea typeface="Calibri" pitchFamily="34" charset="-122"/>
                <a:cs typeface="Calibri" pitchFamily="34" charset="-120"/>
              </a:rPr>
              <a:t>Discovered a statistically significant weekend sales anomaly across all product categories and built a Prophet forecasting model that successfully predicted the recurring weekly spike pattern.</a:t>
            </a:r>
            <a:endParaRPr lang="en-US" sz="930" b="1" dirty="0">
              <a:solidFill>
                <a:srgbClr val="2D1B69"/>
              </a:solidFill>
              <a:latin typeface="Calibri" pitchFamily="34" charset="0"/>
              <a:ea typeface="Calibri" pitchFamily="34" charset="-122"/>
              <a:cs typeface="Calibri" pitchFamily="34" charset="-120"/>
            </a:endParaRPr>
          </a:p>
          <a:p>
            <a:pPr algn="just"/>
            <a:endParaRPr lang="en-US" sz="930" dirty="0">
              <a:solidFill>
                <a:srgbClr val="3A3A4A"/>
              </a:solidFill>
              <a:latin typeface="Calibri" pitchFamily="34" charset="0"/>
              <a:ea typeface="Calibri" pitchFamily="34" charset="-122"/>
              <a:cs typeface="Calibri" pitchFamily="34" charset="-120"/>
            </a:endParaRPr>
          </a:p>
          <a:p>
            <a:pPr algn="just"/>
            <a:r>
              <a:rPr lang="en-US" sz="930" b="1" dirty="0">
                <a:solidFill>
                  <a:srgbClr val="2D1B69"/>
                </a:solidFill>
                <a:latin typeface="Calibri" pitchFamily="34" charset="0"/>
                <a:ea typeface="Calibri" pitchFamily="34" charset="-122"/>
                <a:cs typeface="Calibri" pitchFamily="34" charset="-120"/>
              </a:rPr>
              <a:t>Recommendation</a:t>
            </a:r>
            <a:r>
              <a:rPr lang="en-US" sz="930" dirty="0">
                <a:solidFill>
                  <a:srgbClr val="3A3A4A"/>
                </a:solidFill>
                <a:latin typeface="Calibri" pitchFamily="34" charset="0"/>
                <a:ea typeface="Calibri" pitchFamily="34" charset="-122"/>
                <a:cs typeface="Calibri" pitchFamily="34" charset="-120"/>
              </a:rPr>
              <a:t>: Prophet Stock preparation timing, category-specific inventory prioritization, and promotion calendar redesign based on data-driven demand patterns rather than assumptions.</a:t>
            </a:r>
          </a:p>
          <a:p>
            <a:pPr algn="just"/>
            <a:endParaRPr lang="en-US" sz="930" dirty="0">
              <a:solidFill>
                <a:srgbClr val="3A3A4A"/>
              </a:solidFill>
              <a:latin typeface="Calibri" pitchFamily="34" charset="0"/>
              <a:ea typeface="Calibri" pitchFamily="34" charset="-122"/>
              <a:cs typeface="Calibri" pitchFamily="34" charset="-120"/>
            </a:endParaRPr>
          </a:p>
        </p:txBody>
      </p:sp>
      <p:sp>
        <p:nvSpPr>
          <p:cNvPr id="10" name="Shape 8"/>
          <p:cNvSpPr/>
          <p:nvPr/>
        </p:nvSpPr>
        <p:spPr>
          <a:xfrm>
            <a:off x="250928" y="3288789"/>
            <a:ext cx="4321073" cy="1641019"/>
          </a:xfrm>
          <a:prstGeom prst="roundRect">
            <a:avLst>
              <a:gd name="adj" fmla="val 5814"/>
            </a:avLst>
          </a:prstGeom>
          <a:solidFill>
            <a:srgbClr val="FFFFFF"/>
          </a:solidFill>
          <a:ln/>
          <a:effectLst>
            <a:outerShdw blurRad="88900" dist="38100" dir="5400000" algn="bl" rotWithShape="0">
              <a:srgbClr val="1A0F40">
                <a:alpha val="35000"/>
              </a:srgbClr>
            </a:outerShdw>
          </a:effectLst>
        </p:spPr>
        <p:txBody>
          <a:bodyPr/>
          <a:lstStyle/>
          <a:p>
            <a:endParaRPr lang="en-US"/>
          </a:p>
        </p:txBody>
      </p:sp>
      <p:sp>
        <p:nvSpPr>
          <p:cNvPr id="11" name="Shape 9"/>
          <p:cNvSpPr/>
          <p:nvPr/>
        </p:nvSpPr>
        <p:spPr>
          <a:xfrm>
            <a:off x="479528" y="3332757"/>
            <a:ext cx="457200" cy="457200"/>
          </a:xfrm>
          <a:prstGeom prst="ellipse">
            <a:avLst/>
          </a:prstGeom>
          <a:solidFill>
            <a:srgbClr val="5A3FA0"/>
          </a:solidFill>
          <a:ln/>
        </p:spPr>
        <p:txBody>
          <a:bodyPr/>
          <a:lstStyle/>
          <a:p>
            <a:endParaRPr lang="en-US"/>
          </a:p>
        </p:txBody>
      </p:sp>
      <p:sp>
        <p:nvSpPr>
          <p:cNvPr id="12" name="Text 10"/>
          <p:cNvSpPr/>
          <p:nvPr/>
        </p:nvSpPr>
        <p:spPr>
          <a:xfrm>
            <a:off x="479527" y="3309112"/>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1073754" y="3309112"/>
            <a:ext cx="5900000" cy="292608"/>
          </a:xfrm>
          <a:prstGeom prst="rect">
            <a:avLst/>
          </a:prstGeom>
          <a:noFill/>
          <a:ln/>
        </p:spPr>
        <p:txBody>
          <a:bodyPr wrap="square" lIns="0" tIns="0" rIns="0" bIns="0" rtlCol="0" anchor="ctr"/>
          <a:lstStyle/>
          <a:p>
            <a:r>
              <a:rPr lang="en-US" sz="1400" b="1" dirty="0">
                <a:solidFill>
                  <a:srgbClr val="2D1B69"/>
                </a:solidFill>
                <a:latin typeface="Calibri" pitchFamily="34" charset="0"/>
                <a:ea typeface="Calibri" pitchFamily="34" charset="-122"/>
                <a:cs typeface="Calibri" pitchFamily="34" charset="-120"/>
              </a:rPr>
              <a:t>Airline Satisfaction Analysis</a:t>
            </a:r>
            <a:endParaRPr lang="en-US" sz="1400" dirty="0"/>
          </a:p>
        </p:txBody>
      </p:sp>
      <p:sp>
        <p:nvSpPr>
          <p:cNvPr id="14" name="Text 12"/>
          <p:cNvSpPr/>
          <p:nvPr/>
        </p:nvSpPr>
        <p:spPr>
          <a:xfrm>
            <a:off x="1073754" y="3601720"/>
            <a:ext cx="5900000" cy="256032"/>
          </a:xfrm>
          <a:prstGeom prst="rect">
            <a:avLst/>
          </a:prstGeom>
          <a:noFill/>
          <a:ln/>
        </p:spPr>
        <p:txBody>
          <a:bodyPr wrap="square" lIns="0" tIns="0" rIns="0" bIns="0" rtlCol="0" anchor="ctr"/>
          <a:lstStyle/>
          <a:p>
            <a:pPr marL="0" indent="0">
              <a:buNone/>
            </a:pPr>
            <a:r>
              <a:rPr lang="en-US" sz="1100" b="1" dirty="0">
                <a:solidFill>
                  <a:srgbClr val="B5497E"/>
                </a:solidFill>
                <a:latin typeface="Calibri" pitchFamily="34" charset="0"/>
                <a:ea typeface="Calibri" pitchFamily="34" charset="-122"/>
                <a:cs typeface="Calibri" pitchFamily="34" charset="-120"/>
              </a:rPr>
              <a:t>Tools: Python, Tableau</a:t>
            </a:r>
            <a:endParaRPr lang="en-US" sz="1100" dirty="0"/>
          </a:p>
        </p:txBody>
      </p:sp>
      <p:pic>
        <p:nvPicPr>
          <p:cNvPr id="16" name="Copied Picture 16">
            <a:extLst>
              <a:ext uri="{FF2B5EF4-FFF2-40B4-BE49-F238E27FC236}">
                <a16:creationId xmlns:a16="http://schemas.microsoft.com/office/drawing/2014/main" id="{098C5A1E-651C-798D-5D81-541A1CCCDFF3}"/>
              </a:ext>
            </a:extLst>
          </p:cNvPr>
          <p:cNvPicPr>
            <a:picLocks noChangeAspect="1"/>
          </p:cNvPicPr>
          <p:nvPr/>
        </p:nvPicPr>
        <p:blipFill>
          <a:blip r:embed="rId2"/>
          <a:stretch/>
        </p:blipFill>
        <p:spPr>
          <a:xfrm>
            <a:off x="8002859" y="101600"/>
            <a:ext cx="1141141" cy="753153"/>
          </a:xfrm>
          <a:prstGeom prst="rect">
            <a:avLst/>
          </a:prstGeom>
        </p:spPr>
      </p:pic>
      <p:sp>
        <p:nvSpPr>
          <p:cNvPr id="18" name="Text 5">
            <a:extLst>
              <a:ext uri="{FF2B5EF4-FFF2-40B4-BE49-F238E27FC236}">
                <a16:creationId xmlns:a16="http://schemas.microsoft.com/office/drawing/2014/main" id="{FDA64CCA-1357-78DF-AE7D-F8418B74EC78}"/>
              </a:ext>
            </a:extLst>
          </p:cNvPr>
          <p:cNvSpPr/>
          <p:nvPr/>
        </p:nvSpPr>
        <p:spPr>
          <a:xfrm>
            <a:off x="5394826" y="648500"/>
            <a:ext cx="5900000" cy="292608"/>
          </a:xfrm>
          <a:prstGeom prst="rect">
            <a:avLst/>
          </a:prstGeom>
          <a:noFill/>
          <a:ln/>
        </p:spPr>
        <p:txBody>
          <a:bodyPr wrap="square" lIns="0" tIns="0" rIns="0" bIns="0" rtlCol="0" anchor="ctr"/>
          <a:lstStyle/>
          <a:p>
            <a:r>
              <a:rPr lang="en-US" sz="1400" b="1" dirty="0">
                <a:solidFill>
                  <a:srgbClr val="2D1B69"/>
                </a:solidFill>
                <a:latin typeface="Calibri" pitchFamily="34" charset="0"/>
                <a:ea typeface="Calibri" pitchFamily="34" charset="-122"/>
                <a:cs typeface="Calibri" pitchFamily="34" charset="-120"/>
              </a:rPr>
              <a:t>Strategic Regional Growth Analysis</a:t>
            </a:r>
            <a:endParaRPr lang="en-US" sz="1400" dirty="0"/>
          </a:p>
        </p:txBody>
      </p:sp>
      <p:sp>
        <p:nvSpPr>
          <p:cNvPr id="24" name="Text 5">
            <a:extLst>
              <a:ext uri="{FF2B5EF4-FFF2-40B4-BE49-F238E27FC236}">
                <a16:creationId xmlns:a16="http://schemas.microsoft.com/office/drawing/2014/main" id="{CF753297-9A6E-D126-2A17-3FFA82B587B3}"/>
              </a:ext>
            </a:extLst>
          </p:cNvPr>
          <p:cNvSpPr/>
          <p:nvPr/>
        </p:nvSpPr>
        <p:spPr>
          <a:xfrm>
            <a:off x="5426311" y="2777684"/>
            <a:ext cx="5900000" cy="292608"/>
          </a:xfrm>
          <a:prstGeom prst="rect">
            <a:avLst/>
          </a:prstGeom>
          <a:noFill/>
          <a:ln/>
        </p:spPr>
        <p:txBody>
          <a:bodyPr wrap="square" lIns="0" tIns="0" rIns="0" bIns="0" rtlCol="0" anchor="ctr"/>
          <a:lstStyle/>
          <a:p>
            <a:pPr marL="0" indent="0">
              <a:buNone/>
            </a:pPr>
            <a:r>
              <a:rPr lang="en-US" sz="1400" b="1" dirty="0">
                <a:solidFill>
                  <a:srgbClr val="2D1B69"/>
                </a:solidFill>
                <a:latin typeface="Calibri" pitchFamily="34" charset="0"/>
                <a:ea typeface="Calibri" pitchFamily="34" charset="-122"/>
                <a:cs typeface="Calibri" pitchFamily="34" charset="-120"/>
              </a:rPr>
              <a:t>Strategic Regional Growth Analysis</a:t>
            </a:r>
            <a:endParaRPr lang="en-US" sz="1400" dirty="0"/>
          </a:p>
        </p:txBody>
      </p:sp>
      <p:sp>
        <p:nvSpPr>
          <p:cNvPr id="27" name="Text 7">
            <a:extLst>
              <a:ext uri="{FF2B5EF4-FFF2-40B4-BE49-F238E27FC236}">
                <a16:creationId xmlns:a16="http://schemas.microsoft.com/office/drawing/2014/main" id="{197D130C-5B1E-34A2-D66E-07A93E35B869}"/>
              </a:ext>
            </a:extLst>
          </p:cNvPr>
          <p:cNvSpPr/>
          <p:nvPr/>
        </p:nvSpPr>
        <p:spPr>
          <a:xfrm>
            <a:off x="329940" y="3907076"/>
            <a:ext cx="4185358" cy="1155000"/>
          </a:xfrm>
          <a:prstGeom prst="rect">
            <a:avLst/>
          </a:prstGeom>
          <a:noFill/>
          <a:ln/>
        </p:spPr>
        <p:txBody>
          <a:bodyPr wrap="square" lIns="0" tIns="0" rIns="0" bIns="0" rtlCol="0" anchor="t"/>
          <a:lstStyle/>
          <a:p>
            <a:pPr algn="just"/>
            <a:r>
              <a:rPr lang="en-US" sz="930" b="1" dirty="0">
                <a:solidFill>
                  <a:srgbClr val="2D1B69"/>
                </a:solidFill>
                <a:latin typeface="Calibri" pitchFamily="34" charset="0"/>
                <a:ea typeface="Calibri" pitchFamily="34" charset="-122"/>
                <a:cs typeface="Calibri" pitchFamily="34" charset="-120"/>
              </a:rPr>
              <a:t>Problem: </a:t>
            </a:r>
            <a:r>
              <a:rPr lang="en-US" sz="930" dirty="0">
                <a:solidFill>
                  <a:srgbClr val="3A3A4A"/>
                </a:solidFill>
                <a:latin typeface="Calibri" pitchFamily="34" charset="0"/>
                <a:ea typeface="Calibri" pitchFamily="34" charset="-122"/>
                <a:cs typeface="Calibri" pitchFamily="34" charset="-120"/>
              </a:rPr>
              <a:t>A low-cost airline needed to understand which service touchpoints most influence passenger satisfaction.</a:t>
            </a:r>
          </a:p>
          <a:p>
            <a:pPr algn="just"/>
            <a:endParaRPr lang="en-US" sz="930" dirty="0"/>
          </a:p>
          <a:p>
            <a:pPr algn="just"/>
            <a:r>
              <a:rPr lang="en-US" sz="930" b="1" dirty="0">
                <a:solidFill>
                  <a:srgbClr val="2D1B69"/>
                </a:solidFill>
                <a:latin typeface="Calibri" pitchFamily="34" charset="0"/>
                <a:ea typeface="Calibri" pitchFamily="34" charset="-122"/>
                <a:cs typeface="Calibri" pitchFamily="34" charset="-120"/>
              </a:rPr>
              <a:t>Result: </a:t>
            </a:r>
            <a:r>
              <a:rPr lang="en-US" sz="930" dirty="0">
                <a:solidFill>
                  <a:srgbClr val="3A3A4A"/>
                </a:solidFill>
                <a:latin typeface="Calibri" pitchFamily="34" charset="0"/>
                <a:ea typeface="Calibri" pitchFamily="34" charset="-122"/>
                <a:cs typeface="Calibri" pitchFamily="34" charset="-120"/>
              </a:rPr>
              <a:t>Online boarding emerged as the strongest driver of satisfaction.</a:t>
            </a:r>
          </a:p>
          <a:p>
            <a:pPr algn="just"/>
            <a:endParaRPr lang="en-US" sz="930" dirty="0">
              <a:solidFill>
                <a:srgbClr val="3A3A4A"/>
              </a:solidFill>
              <a:latin typeface="Calibri" pitchFamily="34" charset="0"/>
              <a:ea typeface="Calibri" pitchFamily="34" charset="-122"/>
              <a:cs typeface="Calibri" pitchFamily="34" charset="-120"/>
            </a:endParaRPr>
          </a:p>
          <a:p>
            <a:pPr algn="just"/>
            <a:r>
              <a:rPr lang="en-US" sz="930" b="1" dirty="0">
                <a:solidFill>
                  <a:srgbClr val="2D1B69"/>
                </a:solidFill>
                <a:latin typeface="Calibri" pitchFamily="34" charset="0"/>
                <a:ea typeface="Calibri" pitchFamily="34" charset="-122"/>
                <a:cs typeface="Calibri" pitchFamily="34" charset="-120"/>
              </a:rPr>
              <a:t>Recommendation </a:t>
            </a:r>
            <a:r>
              <a:rPr lang="en-US" sz="930" dirty="0">
                <a:solidFill>
                  <a:srgbClr val="3A3A4A"/>
                </a:solidFill>
                <a:latin typeface="Calibri" pitchFamily="34" charset="0"/>
                <a:ea typeface="Calibri" pitchFamily="34" charset="-122"/>
                <a:cs typeface="Calibri" pitchFamily="34" charset="-120"/>
              </a:rPr>
              <a:t>: Prioritize the boarding experience to lift overall CSAT.</a:t>
            </a:r>
          </a:p>
          <a:p>
            <a:pPr algn="just"/>
            <a:endParaRPr lang="en-US" sz="930" dirty="0">
              <a:solidFill>
                <a:srgbClr val="3A3A4A"/>
              </a:solidFill>
              <a:latin typeface="Calibri" pitchFamily="34" charset="0"/>
              <a:ea typeface="Calibri" pitchFamily="34" charset="-122"/>
              <a:cs typeface="Calibri" pitchFamily="34" charset="-120"/>
            </a:endParaRPr>
          </a:p>
        </p:txBody>
      </p:sp>
      <p:sp>
        <p:nvSpPr>
          <p:cNvPr id="28" name="HeaderTitle">
            <a:extLst>
              <a:ext uri="{FF2B5EF4-FFF2-40B4-BE49-F238E27FC236}">
                <a16:creationId xmlns:a16="http://schemas.microsoft.com/office/drawing/2014/main" id="{08E66E01-43A5-CC4B-B15F-B5216E9DAD87}"/>
              </a:ext>
            </a:extLst>
          </p:cNvPr>
          <p:cNvSpPr txBox="1"/>
          <p:nvPr/>
        </p:nvSpPr>
        <p:spPr>
          <a:xfrm>
            <a:off x="115226" y="117072"/>
            <a:ext cx="8229600" cy="635000"/>
          </a:xfrm>
          <a:prstGeom prst="rect">
            <a:avLst/>
          </a:prstGeom>
          <a:noFill/>
        </p:spPr>
        <p:txBody>
          <a:bodyPr vertOverflow="overflow" vert="horz" wrap="square" rtlCol="0" anchor="t">
            <a:spAutoFit/>
          </a:bodyPr>
          <a:lstStyle/>
          <a:p>
            <a:pPr algn="l"/>
            <a:r>
              <a:rPr lang="en-US" sz="3400" b="1" dirty="0">
                <a:solidFill>
                  <a:srgbClr val="FFFFFF"/>
                </a:solidFill>
                <a:latin typeface="Cambria"/>
              </a:rPr>
              <a:t>Project Overview</a:t>
            </a:r>
          </a:p>
        </p:txBody>
      </p:sp>
      <p:pic>
        <p:nvPicPr>
          <p:cNvPr id="32" name="Picture 31">
            <a:extLst>
              <a:ext uri="{FF2B5EF4-FFF2-40B4-BE49-F238E27FC236}">
                <a16:creationId xmlns:a16="http://schemas.microsoft.com/office/drawing/2014/main" id="{ECEFCAE9-9686-BFC3-0103-CCED6487675C}"/>
              </a:ext>
            </a:extLst>
          </p:cNvPr>
          <p:cNvPicPr>
            <a:picLocks noChangeAspect="1"/>
          </p:cNvPicPr>
          <p:nvPr/>
        </p:nvPicPr>
        <p:blipFill>
          <a:blip r:embed="rId3"/>
          <a:stretch>
            <a:fillRect/>
          </a:stretch>
        </p:blipFill>
        <p:spPr>
          <a:xfrm>
            <a:off x="4904233" y="848807"/>
            <a:ext cx="3878929" cy="1969769"/>
          </a:xfrm>
          <a:prstGeom prst="rect">
            <a:avLst/>
          </a:prstGeom>
        </p:spPr>
      </p:pic>
      <p:pic>
        <p:nvPicPr>
          <p:cNvPr id="34" name="Picture 33">
            <a:extLst>
              <a:ext uri="{FF2B5EF4-FFF2-40B4-BE49-F238E27FC236}">
                <a16:creationId xmlns:a16="http://schemas.microsoft.com/office/drawing/2014/main" id="{A85F91C8-832E-DC63-D061-189D64519D68}"/>
              </a:ext>
            </a:extLst>
          </p:cNvPr>
          <p:cNvPicPr>
            <a:picLocks noChangeAspect="1"/>
          </p:cNvPicPr>
          <p:nvPr/>
        </p:nvPicPr>
        <p:blipFill>
          <a:blip r:embed="rId4"/>
          <a:stretch>
            <a:fillRect/>
          </a:stretch>
        </p:blipFill>
        <p:spPr>
          <a:xfrm>
            <a:off x="5201996" y="2993188"/>
            <a:ext cx="3273292" cy="1969090"/>
          </a:xfrm>
          <a:prstGeom prst="rect">
            <a:avLst/>
          </a:prstGeom>
        </p:spPr>
      </p:pic>
    </p:spTree>
    <p:extLst>
      <p:ext uri="{BB962C8B-B14F-4D97-AF65-F5344CB8AC3E}">
        <p14:creationId xmlns:p14="http://schemas.microsoft.com/office/powerpoint/2010/main" val="1734004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a:extLst>
            <a:ext uri="{FF2B5EF4-FFF2-40B4-BE49-F238E27FC236}">
              <a16:creationId xmlns:a16="http://schemas.microsoft.com/office/drawing/2014/main" id="{91B8A8AF-17AB-712D-9F21-1D61195047A1}"/>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39D69028-66AF-99EB-70FD-73207613EA47}"/>
              </a:ext>
            </a:extLst>
          </p:cNvPr>
          <p:cNvSpPr/>
          <p:nvPr/>
        </p:nvSpPr>
        <p:spPr>
          <a:xfrm>
            <a:off x="250928" y="827684"/>
            <a:ext cx="4321072" cy="1950000"/>
          </a:xfrm>
          <a:prstGeom prst="roundRect">
            <a:avLst>
              <a:gd name="adj" fmla="val 5814"/>
            </a:avLst>
          </a:prstGeom>
          <a:solidFill>
            <a:srgbClr val="FFFFFF"/>
          </a:solidFill>
          <a:ln/>
          <a:effectLst>
            <a:outerShdw blurRad="88900" dist="38100" dir="5400000" algn="bl" rotWithShape="0">
              <a:srgbClr val="1A0F40">
                <a:alpha val="35000"/>
              </a:srgbClr>
            </a:outerShdw>
          </a:effectLst>
        </p:spPr>
        <p:txBody>
          <a:bodyPr/>
          <a:lstStyle/>
          <a:p>
            <a:endParaRPr lang="en-US"/>
          </a:p>
        </p:txBody>
      </p:sp>
      <p:sp>
        <p:nvSpPr>
          <p:cNvPr id="5" name="Shape 3">
            <a:extLst>
              <a:ext uri="{FF2B5EF4-FFF2-40B4-BE49-F238E27FC236}">
                <a16:creationId xmlns:a16="http://schemas.microsoft.com/office/drawing/2014/main" id="{FD9BA1A4-CC14-FB95-0276-2189EBC416BA}"/>
              </a:ext>
            </a:extLst>
          </p:cNvPr>
          <p:cNvSpPr/>
          <p:nvPr/>
        </p:nvSpPr>
        <p:spPr>
          <a:xfrm>
            <a:off x="479527" y="977684"/>
            <a:ext cx="457200" cy="457200"/>
          </a:xfrm>
          <a:prstGeom prst="ellipse">
            <a:avLst/>
          </a:prstGeom>
          <a:solidFill>
            <a:srgbClr val="5A3FA0"/>
          </a:solidFill>
          <a:ln/>
        </p:spPr>
        <p:txBody>
          <a:bodyPr/>
          <a:lstStyle/>
          <a:p>
            <a:endParaRPr lang="en-US"/>
          </a:p>
        </p:txBody>
      </p:sp>
      <p:sp>
        <p:nvSpPr>
          <p:cNvPr id="6" name="Text 4">
            <a:extLst>
              <a:ext uri="{FF2B5EF4-FFF2-40B4-BE49-F238E27FC236}">
                <a16:creationId xmlns:a16="http://schemas.microsoft.com/office/drawing/2014/main" id="{B3217B6D-5C3D-250A-F497-FD38B452211E}"/>
              </a:ext>
            </a:extLst>
          </p:cNvPr>
          <p:cNvSpPr/>
          <p:nvPr/>
        </p:nvSpPr>
        <p:spPr>
          <a:xfrm>
            <a:off x="479527" y="97768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cs typeface="Calibri" pitchFamily="34" charset="-120"/>
              </a:rPr>
              <a:t>3</a:t>
            </a:r>
            <a:endParaRPr lang="en-US" sz="1400" dirty="0"/>
          </a:p>
        </p:txBody>
      </p:sp>
      <p:sp>
        <p:nvSpPr>
          <p:cNvPr id="7" name="Text 5">
            <a:extLst>
              <a:ext uri="{FF2B5EF4-FFF2-40B4-BE49-F238E27FC236}">
                <a16:creationId xmlns:a16="http://schemas.microsoft.com/office/drawing/2014/main" id="{F1D88A2F-C375-5D4D-71DF-D59A273B7C9A}"/>
              </a:ext>
            </a:extLst>
          </p:cNvPr>
          <p:cNvSpPr/>
          <p:nvPr/>
        </p:nvSpPr>
        <p:spPr>
          <a:xfrm>
            <a:off x="1073754" y="941108"/>
            <a:ext cx="5900000" cy="292608"/>
          </a:xfrm>
          <a:prstGeom prst="rect">
            <a:avLst/>
          </a:prstGeom>
          <a:noFill/>
          <a:ln/>
        </p:spPr>
        <p:txBody>
          <a:bodyPr wrap="square" lIns="0" tIns="0" rIns="0" bIns="0" rtlCol="0" anchor="ctr"/>
          <a:lstStyle/>
          <a:p>
            <a:pPr marL="0" indent="0">
              <a:buNone/>
            </a:pPr>
            <a:r>
              <a:rPr lang="en-US" sz="1400" b="1" dirty="0">
                <a:solidFill>
                  <a:srgbClr val="2D1B69"/>
                </a:solidFill>
                <a:latin typeface="Calibri" pitchFamily="34" charset="0"/>
                <a:ea typeface="Calibri" pitchFamily="34" charset="-122"/>
                <a:cs typeface="Calibri" pitchFamily="34" charset="-120"/>
              </a:rPr>
              <a:t>Strategic Regional Growth Analysis</a:t>
            </a:r>
            <a:endParaRPr lang="en-US" sz="1400" dirty="0"/>
          </a:p>
        </p:txBody>
      </p:sp>
      <p:sp>
        <p:nvSpPr>
          <p:cNvPr id="8" name="Text 6">
            <a:extLst>
              <a:ext uri="{FF2B5EF4-FFF2-40B4-BE49-F238E27FC236}">
                <a16:creationId xmlns:a16="http://schemas.microsoft.com/office/drawing/2014/main" id="{DFEA989D-B6A6-1F2E-BB11-9B7211F7A76F}"/>
              </a:ext>
            </a:extLst>
          </p:cNvPr>
          <p:cNvSpPr/>
          <p:nvPr/>
        </p:nvSpPr>
        <p:spPr>
          <a:xfrm>
            <a:off x="1073754" y="1233716"/>
            <a:ext cx="5900000" cy="256032"/>
          </a:xfrm>
          <a:prstGeom prst="rect">
            <a:avLst/>
          </a:prstGeom>
          <a:noFill/>
          <a:ln/>
        </p:spPr>
        <p:txBody>
          <a:bodyPr wrap="square" lIns="0" tIns="0" rIns="0" bIns="0" rtlCol="0" anchor="ctr"/>
          <a:lstStyle/>
          <a:p>
            <a:pPr marL="0" indent="0">
              <a:buNone/>
            </a:pPr>
            <a:r>
              <a:rPr lang="en-US" sz="1100" b="1" dirty="0">
                <a:solidFill>
                  <a:srgbClr val="B5497E"/>
                </a:solidFill>
                <a:latin typeface="Calibri" pitchFamily="34" charset="0"/>
                <a:ea typeface="Calibri" pitchFamily="34" charset="-122"/>
                <a:cs typeface="Calibri" pitchFamily="34" charset="-120"/>
              </a:rPr>
              <a:t>Tools: Python, Tableau</a:t>
            </a:r>
            <a:endParaRPr lang="en-US" sz="1100" dirty="0"/>
          </a:p>
        </p:txBody>
      </p:sp>
      <p:sp>
        <p:nvSpPr>
          <p:cNvPr id="9" name="Text 7">
            <a:extLst>
              <a:ext uri="{FF2B5EF4-FFF2-40B4-BE49-F238E27FC236}">
                <a16:creationId xmlns:a16="http://schemas.microsoft.com/office/drawing/2014/main" id="{7772920E-D3C2-87B9-D9DE-3916C51F42F5}"/>
              </a:ext>
            </a:extLst>
          </p:cNvPr>
          <p:cNvSpPr/>
          <p:nvPr/>
        </p:nvSpPr>
        <p:spPr>
          <a:xfrm>
            <a:off x="307927" y="1562684"/>
            <a:ext cx="4207371" cy="1155000"/>
          </a:xfrm>
          <a:prstGeom prst="rect">
            <a:avLst/>
          </a:prstGeom>
          <a:noFill/>
          <a:ln/>
        </p:spPr>
        <p:txBody>
          <a:bodyPr wrap="square" lIns="0" tIns="0" rIns="0" bIns="0" rtlCol="0" anchor="t"/>
          <a:lstStyle/>
          <a:p>
            <a:pPr algn="just"/>
            <a:r>
              <a:rPr lang="en-US" sz="930" b="1" dirty="0">
                <a:solidFill>
                  <a:srgbClr val="2D1B69"/>
                </a:solidFill>
                <a:latin typeface="Calibri" pitchFamily="34" charset="0"/>
                <a:ea typeface="Calibri" pitchFamily="34" charset="-122"/>
                <a:cs typeface="Calibri" pitchFamily="34" charset="-120"/>
              </a:rPr>
              <a:t>Problem: </a:t>
            </a:r>
            <a:r>
              <a:rPr lang="en-US" sz="930" dirty="0">
                <a:solidFill>
                  <a:srgbClr val="3A3A4A"/>
                </a:solidFill>
                <a:latin typeface="Calibri" pitchFamily="34" charset="0"/>
                <a:ea typeface="Calibri" pitchFamily="34" charset="-122"/>
                <a:cs typeface="Calibri" pitchFamily="34" charset="-120"/>
              </a:rPr>
              <a:t>Marketing wanted to know how well ad spend converted into purchases across platforms and regions, using a standard conversion-rate framework.</a:t>
            </a:r>
          </a:p>
          <a:p>
            <a:pPr algn="just"/>
            <a:endParaRPr lang="en-US" sz="930" dirty="0"/>
          </a:p>
          <a:p>
            <a:pPr algn="just"/>
            <a:r>
              <a:rPr lang="en-US" sz="930" b="1" dirty="0">
                <a:solidFill>
                  <a:srgbClr val="2D1B69"/>
                </a:solidFill>
                <a:latin typeface="Calibri" pitchFamily="34" charset="0"/>
                <a:ea typeface="Calibri" pitchFamily="34" charset="-122"/>
                <a:cs typeface="Calibri" pitchFamily="34" charset="-120"/>
              </a:rPr>
              <a:t>Result: </a:t>
            </a:r>
            <a:r>
              <a:rPr lang="en-US" sz="930" dirty="0">
                <a:solidFill>
                  <a:srgbClr val="3A3A4A"/>
                </a:solidFill>
                <a:latin typeface="Calibri" pitchFamily="34" charset="0"/>
                <a:ea typeface="Calibri" pitchFamily="34" charset="-122"/>
                <a:cs typeface="Calibri" pitchFamily="34" charset="-120"/>
              </a:rPr>
              <a:t>User journeys proved untraceable in the dataset, so the metric was pivoted to Purchase Rate (Purchases ÷ Total Events) after verifying the data structure. </a:t>
            </a:r>
          </a:p>
          <a:p>
            <a:pPr algn="just"/>
            <a:endParaRPr lang="en-US" sz="930" dirty="0">
              <a:solidFill>
                <a:srgbClr val="3A3A4A"/>
              </a:solidFill>
              <a:latin typeface="Calibri" pitchFamily="34" charset="0"/>
              <a:ea typeface="Calibri" pitchFamily="34" charset="-122"/>
              <a:cs typeface="Calibri" pitchFamily="34" charset="-120"/>
            </a:endParaRPr>
          </a:p>
          <a:p>
            <a:pPr algn="just"/>
            <a:r>
              <a:rPr lang="en-US" sz="930" b="1" dirty="0">
                <a:solidFill>
                  <a:srgbClr val="2D1B69"/>
                </a:solidFill>
                <a:latin typeface="Calibri" pitchFamily="34" charset="0"/>
                <a:ea typeface="Calibri" pitchFamily="34" charset="-122"/>
                <a:cs typeface="Calibri" pitchFamily="34" charset="-120"/>
              </a:rPr>
              <a:t>Recommendation </a:t>
            </a:r>
            <a:r>
              <a:rPr lang="en-US" sz="930" dirty="0">
                <a:solidFill>
                  <a:srgbClr val="3A3A4A"/>
                </a:solidFill>
                <a:latin typeface="Calibri" pitchFamily="34" charset="0"/>
                <a:ea typeface="Calibri" pitchFamily="34" charset="-122"/>
                <a:cs typeface="Calibri" pitchFamily="34" charset="-120"/>
              </a:rPr>
              <a:t>: Audit post engagement and trial campaigns in underperforming regions.</a:t>
            </a:r>
            <a:endParaRPr lang="en-US" sz="930" dirty="0"/>
          </a:p>
        </p:txBody>
      </p:sp>
      <p:sp>
        <p:nvSpPr>
          <p:cNvPr id="10" name="Shape 8">
            <a:extLst>
              <a:ext uri="{FF2B5EF4-FFF2-40B4-BE49-F238E27FC236}">
                <a16:creationId xmlns:a16="http://schemas.microsoft.com/office/drawing/2014/main" id="{9448F4DF-6D8C-AED5-E16E-AB69A349EBDC}"/>
              </a:ext>
            </a:extLst>
          </p:cNvPr>
          <p:cNvSpPr/>
          <p:nvPr/>
        </p:nvSpPr>
        <p:spPr>
          <a:xfrm>
            <a:off x="250928" y="2951033"/>
            <a:ext cx="4321073" cy="1950000"/>
          </a:xfrm>
          <a:prstGeom prst="roundRect">
            <a:avLst>
              <a:gd name="adj" fmla="val 5814"/>
            </a:avLst>
          </a:prstGeom>
          <a:solidFill>
            <a:srgbClr val="FFFFFF"/>
          </a:solidFill>
          <a:ln/>
          <a:effectLst>
            <a:outerShdw blurRad="88900" dist="38100" dir="5400000" algn="bl" rotWithShape="0">
              <a:srgbClr val="1A0F40">
                <a:alpha val="35000"/>
              </a:srgbClr>
            </a:outerShdw>
          </a:effectLst>
        </p:spPr>
        <p:txBody>
          <a:bodyPr/>
          <a:lstStyle/>
          <a:p>
            <a:endParaRPr lang="en-US" dirty="0"/>
          </a:p>
        </p:txBody>
      </p:sp>
      <p:sp>
        <p:nvSpPr>
          <p:cNvPr id="11" name="Shape 9">
            <a:extLst>
              <a:ext uri="{FF2B5EF4-FFF2-40B4-BE49-F238E27FC236}">
                <a16:creationId xmlns:a16="http://schemas.microsoft.com/office/drawing/2014/main" id="{C2016B14-8801-7765-6280-0EBC7ED42559}"/>
              </a:ext>
            </a:extLst>
          </p:cNvPr>
          <p:cNvSpPr/>
          <p:nvPr/>
        </p:nvSpPr>
        <p:spPr>
          <a:xfrm>
            <a:off x="479528" y="3101033"/>
            <a:ext cx="457200" cy="457200"/>
          </a:xfrm>
          <a:prstGeom prst="ellipse">
            <a:avLst/>
          </a:prstGeom>
          <a:solidFill>
            <a:srgbClr val="5A3FA0"/>
          </a:solidFill>
          <a:ln/>
        </p:spPr>
        <p:txBody>
          <a:bodyPr/>
          <a:lstStyle/>
          <a:p>
            <a:endParaRPr lang="en-US"/>
          </a:p>
        </p:txBody>
      </p:sp>
      <p:sp>
        <p:nvSpPr>
          <p:cNvPr id="12" name="Text 10">
            <a:extLst>
              <a:ext uri="{FF2B5EF4-FFF2-40B4-BE49-F238E27FC236}">
                <a16:creationId xmlns:a16="http://schemas.microsoft.com/office/drawing/2014/main" id="{DDD7847C-C36E-230C-B77A-8BC3A29BC2CB}"/>
              </a:ext>
            </a:extLst>
          </p:cNvPr>
          <p:cNvSpPr/>
          <p:nvPr/>
        </p:nvSpPr>
        <p:spPr>
          <a:xfrm>
            <a:off x="479528" y="3101033"/>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3" name="Text 11">
            <a:extLst>
              <a:ext uri="{FF2B5EF4-FFF2-40B4-BE49-F238E27FC236}">
                <a16:creationId xmlns:a16="http://schemas.microsoft.com/office/drawing/2014/main" id="{999277C8-ADA8-3F56-FBA3-19278565B28C}"/>
              </a:ext>
            </a:extLst>
          </p:cNvPr>
          <p:cNvSpPr/>
          <p:nvPr/>
        </p:nvSpPr>
        <p:spPr>
          <a:xfrm>
            <a:off x="1073754" y="3069414"/>
            <a:ext cx="5900000" cy="292608"/>
          </a:xfrm>
          <a:prstGeom prst="rect">
            <a:avLst/>
          </a:prstGeom>
          <a:noFill/>
          <a:ln/>
        </p:spPr>
        <p:txBody>
          <a:bodyPr wrap="square" lIns="0" tIns="0" rIns="0" bIns="0" rtlCol="0" anchor="ctr"/>
          <a:lstStyle/>
          <a:p>
            <a:r>
              <a:rPr lang="en-US" sz="1400" b="1" dirty="0">
                <a:solidFill>
                  <a:srgbClr val="2D1B69"/>
                </a:solidFill>
                <a:latin typeface="Calibri" pitchFamily="34" charset="0"/>
                <a:ea typeface="Calibri" pitchFamily="34" charset="-122"/>
                <a:cs typeface="Calibri" pitchFamily="34" charset="-120"/>
              </a:rPr>
              <a:t>Superstore Retail Analysis</a:t>
            </a:r>
          </a:p>
        </p:txBody>
      </p:sp>
      <p:sp>
        <p:nvSpPr>
          <p:cNvPr id="14" name="Text 12">
            <a:extLst>
              <a:ext uri="{FF2B5EF4-FFF2-40B4-BE49-F238E27FC236}">
                <a16:creationId xmlns:a16="http://schemas.microsoft.com/office/drawing/2014/main" id="{16B2C26B-D019-E72F-352E-D5C9B90F7B11}"/>
              </a:ext>
            </a:extLst>
          </p:cNvPr>
          <p:cNvSpPr/>
          <p:nvPr/>
        </p:nvSpPr>
        <p:spPr>
          <a:xfrm>
            <a:off x="1073754" y="3359173"/>
            <a:ext cx="5900000" cy="256032"/>
          </a:xfrm>
          <a:prstGeom prst="rect">
            <a:avLst/>
          </a:prstGeom>
          <a:noFill/>
          <a:ln/>
        </p:spPr>
        <p:txBody>
          <a:bodyPr wrap="square" lIns="0" tIns="0" rIns="0" bIns="0" rtlCol="0" anchor="ctr"/>
          <a:lstStyle/>
          <a:p>
            <a:r>
              <a:rPr lang="en-US" sz="1100" b="1" dirty="0">
                <a:solidFill>
                  <a:srgbClr val="B5497E"/>
                </a:solidFill>
                <a:latin typeface="Calibri" pitchFamily="34" charset="0"/>
                <a:ea typeface="Calibri" pitchFamily="34" charset="-122"/>
                <a:cs typeface="Calibri" pitchFamily="34" charset="-120"/>
              </a:rPr>
              <a:t>Tools: Python, Tableau</a:t>
            </a:r>
            <a:endParaRPr lang="en-US" sz="1100" dirty="0"/>
          </a:p>
        </p:txBody>
      </p:sp>
      <p:pic>
        <p:nvPicPr>
          <p:cNvPr id="16" name="Copied Picture 16">
            <a:extLst>
              <a:ext uri="{FF2B5EF4-FFF2-40B4-BE49-F238E27FC236}">
                <a16:creationId xmlns:a16="http://schemas.microsoft.com/office/drawing/2014/main" id="{5175D273-5888-5FB4-0E9A-FC5918A18293}"/>
              </a:ext>
            </a:extLst>
          </p:cNvPr>
          <p:cNvPicPr>
            <a:picLocks noChangeAspect="1"/>
          </p:cNvPicPr>
          <p:nvPr/>
        </p:nvPicPr>
        <p:blipFill>
          <a:blip r:embed="rId2"/>
          <a:stretch/>
        </p:blipFill>
        <p:spPr>
          <a:xfrm>
            <a:off x="8002859" y="101600"/>
            <a:ext cx="1141141" cy="753153"/>
          </a:xfrm>
          <a:prstGeom prst="rect">
            <a:avLst/>
          </a:prstGeom>
        </p:spPr>
      </p:pic>
      <p:sp>
        <p:nvSpPr>
          <p:cNvPr id="18" name="Text 5">
            <a:extLst>
              <a:ext uri="{FF2B5EF4-FFF2-40B4-BE49-F238E27FC236}">
                <a16:creationId xmlns:a16="http://schemas.microsoft.com/office/drawing/2014/main" id="{F7114921-8C56-C2AF-576D-1B15D2A25066}"/>
              </a:ext>
            </a:extLst>
          </p:cNvPr>
          <p:cNvSpPr/>
          <p:nvPr/>
        </p:nvSpPr>
        <p:spPr>
          <a:xfrm>
            <a:off x="5394826" y="648500"/>
            <a:ext cx="5900000" cy="292608"/>
          </a:xfrm>
          <a:prstGeom prst="rect">
            <a:avLst/>
          </a:prstGeom>
          <a:noFill/>
          <a:ln/>
        </p:spPr>
        <p:txBody>
          <a:bodyPr wrap="square" lIns="0" tIns="0" rIns="0" bIns="0" rtlCol="0" anchor="ctr"/>
          <a:lstStyle/>
          <a:p>
            <a:r>
              <a:rPr lang="en-US" sz="1400" b="1" dirty="0">
                <a:solidFill>
                  <a:srgbClr val="2D1B69"/>
                </a:solidFill>
                <a:latin typeface="Calibri" pitchFamily="34" charset="0"/>
                <a:ea typeface="Calibri" pitchFamily="34" charset="-122"/>
                <a:cs typeface="Calibri" pitchFamily="34" charset="-120"/>
              </a:rPr>
              <a:t>Strategic Regional Growth Analysis</a:t>
            </a:r>
            <a:endParaRPr lang="en-US" sz="1400" dirty="0"/>
          </a:p>
        </p:txBody>
      </p:sp>
      <p:sp>
        <p:nvSpPr>
          <p:cNvPr id="24" name="Text 5">
            <a:extLst>
              <a:ext uri="{FF2B5EF4-FFF2-40B4-BE49-F238E27FC236}">
                <a16:creationId xmlns:a16="http://schemas.microsoft.com/office/drawing/2014/main" id="{66D8EA87-9458-A416-F1BB-ED396DA07E32}"/>
              </a:ext>
            </a:extLst>
          </p:cNvPr>
          <p:cNvSpPr/>
          <p:nvPr/>
        </p:nvSpPr>
        <p:spPr>
          <a:xfrm>
            <a:off x="5426311" y="2777684"/>
            <a:ext cx="5900000" cy="292608"/>
          </a:xfrm>
          <a:prstGeom prst="rect">
            <a:avLst/>
          </a:prstGeom>
          <a:noFill/>
          <a:ln/>
        </p:spPr>
        <p:txBody>
          <a:bodyPr wrap="square" lIns="0" tIns="0" rIns="0" bIns="0" rtlCol="0" anchor="ctr"/>
          <a:lstStyle/>
          <a:p>
            <a:pPr marL="0" indent="0">
              <a:buNone/>
            </a:pPr>
            <a:r>
              <a:rPr lang="en-US" sz="1400" b="1" dirty="0">
                <a:solidFill>
                  <a:srgbClr val="2D1B69"/>
                </a:solidFill>
                <a:latin typeface="Calibri" pitchFamily="34" charset="0"/>
                <a:ea typeface="Calibri" pitchFamily="34" charset="-122"/>
                <a:cs typeface="Calibri" pitchFamily="34" charset="-120"/>
              </a:rPr>
              <a:t>Strategic Regional Growth Analysis</a:t>
            </a:r>
            <a:endParaRPr lang="en-US" sz="1400" dirty="0"/>
          </a:p>
        </p:txBody>
      </p:sp>
      <p:sp>
        <p:nvSpPr>
          <p:cNvPr id="27" name="Text 7">
            <a:extLst>
              <a:ext uri="{FF2B5EF4-FFF2-40B4-BE49-F238E27FC236}">
                <a16:creationId xmlns:a16="http://schemas.microsoft.com/office/drawing/2014/main" id="{4BF955F8-AF85-F578-09D6-9E0BAC48B091}"/>
              </a:ext>
            </a:extLst>
          </p:cNvPr>
          <p:cNvSpPr/>
          <p:nvPr/>
        </p:nvSpPr>
        <p:spPr>
          <a:xfrm>
            <a:off x="329940" y="3675352"/>
            <a:ext cx="4185358" cy="1155000"/>
          </a:xfrm>
          <a:prstGeom prst="rect">
            <a:avLst/>
          </a:prstGeom>
          <a:noFill/>
          <a:ln/>
        </p:spPr>
        <p:txBody>
          <a:bodyPr wrap="square" lIns="0" tIns="0" rIns="0" bIns="0" rtlCol="0" anchor="t"/>
          <a:lstStyle/>
          <a:p>
            <a:pPr algn="just"/>
            <a:r>
              <a:rPr lang="en-US" sz="930" b="1" dirty="0">
                <a:solidFill>
                  <a:srgbClr val="2D1B69"/>
                </a:solidFill>
                <a:latin typeface="Calibri" pitchFamily="34" charset="0"/>
                <a:ea typeface="Calibri" pitchFamily="34" charset="-122"/>
                <a:cs typeface="Calibri" pitchFamily="34" charset="-120"/>
              </a:rPr>
              <a:t>Problem: </a:t>
            </a:r>
            <a:r>
              <a:rPr lang="en-US" sz="930" dirty="0">
                <a:solidFill>
                  <a:srgbClr val="3A3A4A"/>
                </a:solidFill>
                <a:latin typeface="Calibri" pitchFamily="34" charset="0"/>
                <a:ea typeface="Calibri" pitchFamily="34" charset="-122"/>
                <a:cs typeface="Calibri" pitchFamily="34" charset="-120"/>
              </a:rPr>
              <a:t>A retail superstore needed to identify which regions and discount practices were eroding profit despite healthy sales volume.</a:t>
            </a:r>
          </a:p>
          <a:p>
            <a:pPr algn="just"/>
            <a:endParaRPr lang="en-US" sz="930" dirty="0"/>
          </a:p>
          <a:p>
            <a:pPr algn="just"/>
            <a:r>
              <a:rPr lang="en-US" sz="930" b="1" dirty="0">
                <a:solidFill>
                  <a:srgbClr val="2D1B69"/>
                </a:solidFill>
                <a:latin typeface="Calibri" pitchFamily="34" charset="0"/>
                <a:ea typeface="Calibri" pitchFamily="34" charset="-122"/>
                <a:cs typeface="Calibri" pitchFamily="34" charset="-120"/>
              </a:rPr>
              <a:t>Result: </a:t>
            </a:r>
            <a:r>
              <a:rPr lang="en-US" sz="930" dirty="0">
                <a:solidFill>
                  <a:srgbClr val="3A3A4A"/>
                </a:solidFill>
                <a:latin typeface="Calibri" pitchFamily="34" charset="0"/>
                <a:ea typeface="Calibri" pitchFamily="34" charset="-122"/>
                <a:cs typeface="Calibri" pitchFamily="34" charset="-120"/>
              </a:rPr>
              <a:t>Statistics Test proved region significantly affects profit. The Central region's heavy discounting was the root cause. </a:t>
            </a:r>
          </a:p>
          <a:p>
            <a:pPr algn="just"/>
            <a:endParaRPr lang="en-US" sz="930" dirty="0">
              <a:solidFill>
                <a:srgbClr val="3A3A4A"/>
              </a:solidFill>
              <a:latin typeface="Calibri" pitchFamily="34" charset="0"/>
              <a:ea typeface="Calibri" pitchFamily="34" charset="-122"/>
              <a:cs typeface="Calibri" pitchFamily="34" charset="-120"/>
            </a:endParaRPr>
          </a:p>
          <a:p>
            <a:pPr algn="just"/>
            <a:r>
              <a:rPr lang="en-US" sz="930" b="1" dirty="0">
                <a:solidFill>
                  <a:srgbClr val="2D1B69"/>
                </a:solidFill>
                <a:latin typeface="Calibri" pitchFamily="34" charset="0"/>
                <a:ea typeface="Calibri" pitchFamily="34" charset="-122"/>
                <a:cs typeface="Calibri" pitchFamily="34" charset="-120"/>
              </a:rPr>
              <a:t>Recommendation </a:t>
            </a:r>
            <a:r>
              <a:rPr lang="en-US" sz="930" dirty="0">
                <a:solidFill>
                  <a:srgbClr val="3A3A4A"/>
                </a:solidFill>
                <a:latin typeface="Calibri" pitchFamily="34" charset="0"/>
                <a:ea typeface="Calibri" pitchFamily="34" charset="-122"/>
                <a:cs typeface="Calibri" pitchFamily="34" charset="-120"/>
              </a:rPr>
              <a:t>: Tighter discount caps for the Central and South regions.</a:t>
            </a:r>
          </a:p>
          <a:p>
            <a:pPr algn="just"/>
            <a:endParaRPr lang="en-US" sz="930" dirty="0">
              <a:solidFill>
                <a:srgbClr val="3A3A4A"/>
              </a:solidFill>
              <a:latin typeface="Calibri" pitchFamily="34" charset="0"/>
              <a:ea typeface="Calibri" pitchFamily="34" charset="-122"/>
              <a:cs typeface="Calibri" pitchFamily="34" charset="-120"/>
            </a:endParaRPr>
          </a:p>
        </p:txBody>
      </p:sp>
      <p:sp>
        <p:nvSpPr>
          <p:cNvPr id="2" name="HeaderTitle">
            <a:extLst>
              <a:ext uri="{FF2B5EF4-FFF2-40B4-BE49-F238E27FC236}">
                <a16:creationId xmlns:a16="http://schemas.microsoft.com/office/drawing/2014/main" id="{02BD0F75-B2DC-E244-AB07-4172558878FE}"/>
              </a:ext>
            </a:extLst>
          </p:cNvPr>
          <p:cNvSpPr txBox="1"/>
          <p:nvPr/>
        </p:nvSpPr>
        <p:spPr>
          <a:xfrm>
            <a:off x="115226" y="101848"/>
            <a:ext cx="8229600" cy="635000"/>
          </a:xfrm>
          <a:prstGeom prst="rect">
            <a:avLst/>
          </a:prstGeom>
          <a:noFill/>
        </p:spPr>
        <p:txBody>
          <a:bodyPr vertOverflow="overflow" vert="horz" wrap="square" rtlCol="0" anchor="t">
            <a:spAutoFit/>
          </a:bodyPr>
          <a:lstStyle/>
          <a:p>
            <a:pPr algn="l"/>
            <a:r>
              <a:rPr lang="en-US" sz="3400" b="1" dirty="0">
                <a:solidFill>
                  <a:srgbClr val="FFFFFF"/>
                </a:solidFill>
                <a:latin typeface="Cambria"/>
              </a:rPr>
              <a:t>Project Overview</a:t>
            </a:r>
          </a:p>
        </p:txBody>
      </p:sp>
      <p:pic>
        <p:nvPicPr>
          <p:cNvPr id="3" name="Picture 2">
            <a:extLst>
              <a:ext uri="{FF2B5EF4-FFF2-40B4-BE49-F238E27FC236}">
                <a16:creationId xmlns:a16="http://schemas.microsoft.com/office/drawing/2014/main" id="{668967D8-5240-669D-0FEF-F0ADB2A9DBC3}"/>
              </a:ext>
            </a:extLst>
          </p:cNvPr>
          <p:cNvPicPr>
            <a:picLocks noChangeAspect="1"/>
          </p:cNvPicPr>
          <p:nvPr/>
        </p:nvPicPr>
        <p:blipFill>
          <a:blip r:embed="rId3"/>
          <a:stretch>
            <a:fillRect/>
          </a:stretch>
        </p:blipFill>
        <p:spPr>
          <a:xfrm>
            <a:off x="5224804" y="827684"/>
            <a:ext cx="3240573" cy="1993712"/>
          </a:xfrm>
          <a:prstGeom prst="rect">
            <a:avLst/>
          </a:prstGeom>
        </p:spPr>
      </p:pic>
      <p:pic>
        <p:nvPicPr>
          <p:cNvPr id="20" name="Picture 19">
            <a:extLst>
              <a:ext uri="{FF2B5EF4-FFF2-40B4-BE49-F238E27FC236}">
                <a16:creationId xmlns:a16="http://schemas.microsoft.com/office/drawing/2014/main" id="{86C399F3-ADE5-CB66-6365-19367488E88F}"/>
              </a:ext>
            </a:extLst>
          </p:cNvPr>
          <p:cNvPicPr>
            <a:picLocks noChangeAspect="1"/>
          </p:cNvPicPr>
          <p:nvPr/>
        </p:nvPicPr>
        <p:blipFill>
          <a:blip r:embed="rId4"/>
          <a:stretch>
            <a:fillRect/>
          </a:stretch>
        </p:blipFill>
        <p:spPr>
          <a:xfrm>
            <a:off x="5339484" y="2948590"/>
            <a:ext cx="3019399" cy="2034556"/>
          </a:xfrm>
          <a:prstGeom prst="rect">
            <a:avLst/>
          </a:prstGeom>
        </p:spPr>
      </p:pic>
    </p:spTree>
    <p:extLst>
      <p:ext uri="{BB962C8B-B14F-4D97-AF65-F5344CB8AC3E}">
        <p14:creationId xmlns:p14="http://schemas.microsoft.com/office/powerpoint/2010/main" val="24609954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a:extLst>
            <a:ext uri="{FF2B5EF4-FFF2-40B4-BE49-F238E27FC236}">
              <a16:creationId xmlns:a16="http://schemas.microsoft.com/office/drawing/2014/main" id="{221378E9-4731-4054-36BB-CA2BF4BB26CC}"/>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2EE56C35-8485-A3A2-3BCD-C9813DB625C2}"/>
              </a:ext>
            </a:extLst>
          </p:cNvPr>
          <p:cNvSpPr/>
          <p:nvPr/>
        </p:nvSpPr>
        <p:spPr>
          <a:xfrm>
            <a:off x="250928" y="842715"/>
            <a:ext cx="4321072" cy="1950000"/>
          </a:xfrm>
          <a:prstGeom prst="roundRect">
            <a:avLst>
              <a:gd name="adj" fmla="val 5814"/>
            </a:avLst>
          </a:prstGeom>
          <a:solidFill>
            <a:srgbClr val="FFFFFF"/>
          </a:solidFill>
          <a:ln/>
          <a:effectLst>
            <a:outerShdw blurRad="88900" dist="38100" dir="5400000" algn="bl" rotWithShape="0">
              <a:srgbClr val="1A0F40">
                <a:alpha val="35000"/>
              </a:srgbClr>
            </a:outerShdw>
          </a:effectLst>
        </p:spPr>
        <p:txBody>
          <a:bodyPr/>
          <a:lstStyle/>
          <a:p>
            <a:endParaRPr lang="en-US"/>
          </a:p>
        </p:txBody>
      </p:sp>
      <p:sp>
        <p:nvSpPr>
          <p:cNvPr id="5" name="Shape 3">
            <a:extLst>
              <a:ext uri="{FF2B5EF4-FFF2-40B4-BE49-F238E27FC236}">
                <a16:creationId xmlns:a16="http://schemas.microsoft.com/office/drawing/2014/main" id="{4225EBE9-404E-9213-7FC6-0B62334B9A45}"/>
              </a:ext>
            </a:extLst>
          </p:cNvPr>
          <p:cNvSpPr/>
          <p:nvPr/>
        </p:nvSpPr>
        <p:spPr>
          <a:xfrm>
            <a:off x="479527" y="992715"/>
            <a:ext cx="457200" cy="457200"/>
          </a:xfrm>
          <a:prstGeom prst="ellipse">
            <a:avLst/>
          </a:prstGeom>
          <a:solidFill>
            <a:srgbClr val="5A3FA0"/>
          </a:solidFill>
          <a:ln/>
        </p:spPr>
        <p:txBody>
          <a:bodyPr/>
          <a:lstStyle/>
          <a:p>
            <a:endParaRPr lang="en-US"/>
          </a:p>
        </p:txBody>
      </p:sp>
      <p:sp>
        <p:nvSpPr>
          <p:cNvPr id="6" name="Text 4">
            <a:extLst>
              <a:ext uri="{FF2B5EF4-FFF2-40B4-BE49-F238E27FC236}">
                <a16:creationId xmlns:a16="http://schemas.microsoft.com/office/drawing/2014/main" id="{48A0B548-9EBC-0BA6-A019-47698F2A6844}"/>
              </a:ext>
            </a:extLst>
          </p:cNvPr>
          <p:cNvSpPr/>
          <p:nvPr/>
        </p:nvSpPr>
        <p:spPr>
          <a:xfrm>
            <a:off x="479527" y="992715"/>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cs typeface="Calibri" pitchFamily="34" charset="-120"/>
              </a:rPr>
              <a:t>5</a:t>
            </a:r>
            <a:endParaRPr lang="en-US" sz="1400" dirty="0"/>
          </a:p>
        </p:txBody>
      </p:sp>
      <p:sp>
        <p:nvSpPr>
          <p:cNvPr id="7" name="Text 5">
            <a:extLst>
              <a:ext uri="{FF2B5EF4-FFF2-40B4-BE49-F238E27FC236}">
                <a16:creationId xmlns:a16="http://schemas.microsoft.com/office/drawing/2014/main" id="{CC32DD52-E406-CDF1-D1C4-C3BE9F60AA95}"/>
              </a:ext>
            </a:extLst>
          </p:cNvPr>
          <p:cNvSpPr/>
          <p:nvPr/>
        </p:nvSpPr>
        <p:spPr>
          <a:xfrm>
            <a:off x="1073754" y="956139"/>
            <a:ext cx="5900000" cy="292608"/>
          </a:xfrm>
          <a:prstGeom prst="rect">
            <a:avLst/>
          </a:prstGeom>
          <a:noFill/>
          <a:ln/>
        </p:spPr>
        <p:txBody>
          <a:bodyPr wrap="square" lIns="0" tIns="0" rIns="0" bIns="0" rtlCol="0" anchor="ctr"/>
          <a:lstStyle/>
          <a:p>
            <a:pPr marL="0" indent="0">
              <a:buNone/>
            </a:pPr>
            <a:r>
              <a:rPr lang="en-US" sz="1400" b="1" dirty="0" err="1">
                <a:solidFill>
                  <a:srgbClr val="2D1B69"/>
                </a:solidFill>
                <a:latin typeface="Calibri" pitchFamily="34" charset="0"/>
                <a:ea typeface="Calibri" pitchFamily="34" charset="-122"/>
                <a:cs typeface="Calibri" pitchFamily="34" charset="-120"/>
              </a:rPr>
              <a:t>Olist</a:t>
            </a:r>
            <a:r>
              <a:rPr lang="en-US" sz="1400" b="1" dirty="0">
                <a:solidFill>
                  <a:srgbClr val="2D1B69"/>
                </a:solidFill>
                <a:latin typeface="Calibri" pitchFamily="34" charset="0"/>
                <a:ea typeface="Calibri" pitchFamily="34" charset="-122"/>
                <a:cs typeface="Calibri" pitchFamily="34" charset="-120"/>
              </a:rPr>
              <a:t> E-Commerce</a:t>
            </a:r>
            <a:endParaRPr lang="en-US" sz="1400" dirty="0"/>
          </a:p>
        </p:txBody>
      </p:sp>
      <p:sp>
        <p:nvSpPr>
          <p:cNvPr id="8" name="Text 6">
            <a:extLst>
              <a:ext uri="{FF2B5EF4-FFF2-40B4-BE49-F238E27FC236}">
                <a16:creationId xmlns:a16="http://schemas.microsoft.com/office/drawing/2014/main" id="{6724BA14-57BC-8598-FD8B-5EAF1EB81776}"/>
              </a:ext>
            </a:extLst>
          </p:cNvPr>
          <p:cNvSpPr/>
          <p:nvPr/>
        </p:nvSpPr>
        <p:spPr>
          <a:xfrm>
            <a:off x="1073754" y="1248747"/>
            <a:ext cx="5900000" cy="256032"/>
          </a:xfrm>
          <a:prstGeom prst="rect">
            <a:avLst/>
          </a:prstGeom>
          <a:noFill/>
          <a:ln/>
        </p:spPr>
        <p:txBody>
          <a:bodyPr wrap="square" lIns="0" tIns="0" rIns="0" bIns="0" rtlCol="0" anchor="ctr"/>
          <a:lstStyle/>
          <a:p>
            <a:pPr marL="0" indent="0">
              <a:buNone/>
            </a:pPr>
            <a:r>
              <a:rPr lang="en-US" sz="1100" b="1" dirty="0">
                <a:solidFill>
                  <a:srgbClr val="B5497E"/>
                </a:solidFill>
                <a:latin typeface="Calibri" pitchFamily="34" charset="0"/>
                <a:ea typeface="Calibri" pitchFamily="34" charset="-122"/>
                <a:cs typeface="Calibri" pitchFamily="34" charset="-120"/>
              </a:rPr>
              <a:t>Tools: SQL</a:t>
            </a:r>
            <a:endParaRPr lang="en-US" sz="1100" dirty="0"/>
          </a:p>
        </p:txBody>
      </p:sp>
      <p:sp>
        <p:nvSpPr>
          <p:cNvPr id="9" name="Text 7">
            <a:extLst>
              <a:ext uri="{FF2B5EF4-FFF2-40B4-BE49-F238E27FC236}">
                <a16:creationId xmlns:a16="http://schemas.microsoft.com/office/drawing/2014/main" id="{C5557AF3-1CE0-BDA7-498D-DB0BB705F9C0}"/>
              </a:ext>
            </a:extLst>
          </p:cNvPr>
          <p:cNvSpPr/>
          <p:nvPr/>
        </p:nvSpPr>
        <p:spPr>
          <a:xfrm>
            <a:off x="307927" y="1577715"/>
            <a:ext cx="4207371" cy="1155000"/>
          </a:xfrm>
          <a:prstGeom prst="rect">
            <a:avLst/>
          </a:prstGeom>
          <a:noFill/>
          <a:ln/>
        </p:spPr>
        <p:txBody>
          <a:bodyPr wrap="square" lIns="0" tIns="0" rIns="0" bIns="0" rtlCol="0" anchor="t"/>
          <a:lstStyle/>
          <a:p>
            <a:pPr algn="just"/>
            <a:r>
              <a:rPr lang="en-US" sz="930" b="1" dirty="0">
                <a:solidFill>
                  <a:srgbClr val="2D1B69"/>
                </a:solidFill>
                <a:latin typeface="Calibri" pitchFamily="34" charset="0"/>
                <a:ea typeface="Calibri" pitchFamily="34" charset="-122"/>
                <a:cs typeface="Calibri" pitchFamily="34" charset="-120"/>
              </a:rPr>
              <a:t>Problem: </a:t>
            </a:r>
            <a:r>
              <a:rPr lang="en-US" sz="930" dirty="0" err="1">
                <a:solidFill>
                  <a:srgbClr val="3A3A4A"/>
                </a:solidFill>
                <a:latin typeface="Calibri" pitchFamily="34" charset="0"/>
                <a:ea typeface="Calibri" pitchFamily="34" charset="-122"/>
                <a:cs typeface="Calibri" pitchFamily="34" charset="-120"/>
              </a:rPr>
              <a:t>Olist</a:t>
            </a:r>
            <a:r>
              <a:rPr lang="en-US" sz="930" dirty="0">
                <a:solidFill>
                  <a:srgbClr val="3A3A4A"/>
                </a:solidFill>
                <a:latin typeface="Calibri" pitchFamily="34" charset="0"/>
                <a:ea typeface="Calibri" pitchFamily="34" charset="-122"/>
                <a:cs typeface="Calibri" pitchFamily="34" charset="-120"/>
              </a:rPr>
              <a:t> wanted to understand how customer geography shapes shopping patterns and delivery performance across Brazil.</a:t>
            </a:r>
          </a:p>
          <a:p>
            <a:pPr algn="just"/>
            <a:endParaRPr lang="en-US" sz="930" dirty="0"/>
          </a:p>
          <a:p>
            <a:pPr algn="just"/>
            <a:r>
              <a:rPr lang="en-US" sz="930" b="1" dirty="0">
                <a:solidFill>
                  <a:srgbClr val="2D1B69"/>
                </a:solidFill>
                <a:latin typeface="Calibri" pitchFamily="34" charset="0"/>
                <a:ea typeface="Calibri" pitchFamily="34" charset="-122"/>
                <a:cs typeface="Calibri" pitchFamily="34" charset="-120"/>
              </a:rPr>
              <a:t>Result: </a:t>
            </a:r>
            <a:r>
              <a:rPr lang="en-US" sz="930" dirty="0">
                <a:solidFill>
                  <a:srgbClr val="3A3A4A"/>
                </a:solidFill>
                <a:latin typeface="Calibri" pitchFamily="34" charset="0"/>
                <a:ea typeface="Calibri" pitchFamily="34" charset="-122"/>
                <a:cs typeface="Calibri" pitchFamily="34" charset="-120"/>
              </a:rPr>
              <a:t>Northeastern Brazil showed strong demand paired with weak delivery performance.</a:t>
            </a:r>
          </a:p>
          <a:p>
            <a:pPr algn="just"/>
            <a:endParaRPr lang="en-US" sz="930" dirty="0">
              <a:solidFill>
                <a:srgbClr val="3A3A4A"/>
              </a:solidFill>
              <a:latin typeface="Calibri" pitchFamily="34" charset="0"/>
              <a:ea typeface="Calibri" pitchFamily="34" charset="-122"/>
              <a:cs typeface="Calibri" pitchFamily="34" charset="-120"/>
            </a:endParaRPr>
          </a:p>
          <a:p>
            <a:pPr algn="just"/>
            <a:r>
              <a:rPr lang="en-US" sz="930" b="1" dirty="0">
                <a:solidFill>
                  <a:srgbClr val="2D1B69"/>
                </a:solidFill>
                <a:latin typeface="Calibri" pitchFamily="34" charset="0"/>
                <a:ea typeface="Calibri" pitchFamily="34" charset="-122"/>
                <a:cs typeface="Calibri" pitchFamily="34" charset="-120"/>
              </a:rPr>
              <a:t>Recommendation </a:t>
            </a:r>
            <a:r>
              <a:rPr lang="en-US" sz="930" dirty="0">
                <a:solidFill>
                  <a:srgbClr val="3A3A4A"/>
                </a:solidFill>
                <a:latin typeface="Calibri" pitchFamily="34" charset="0"/>
                <a:ea typeface="Calibri" pitchFamily="34" charset="-122"/>
                <a:cs typeface="Calibri" pitchFamily="34" charset="-120"/>
              </a:rPr>
              <a:t>: Expand logistics coverage there and introduce a loyalty program to protect margins</a:t>
            </a:r>
            <a:endParaRPr lang="en-US" sz="930" dirty="0"/>
          </a:p>
        </p:txBody>
      </p:sp>
      <p:sp>
        <p:nvSpPr>
          <p:cNvPr id="10" name="Shape 8">
            <a:extLst>
              <a:ext uri="{FF2B5EF4-FFF2-40B4-BE49-F238E27FC236}">
                <a16:creationId xmlns:a16="http://schemas.microsoft.com/office/drawing/2014/main" id="{838AD022-A644-E5A2-B3AC-8CC775BA41F5}"/>
              </a:ext>
            </a:extLst>
          </p:cNvPr>
          <p:cNvSpPr/>
          <p:nvPr/>
        </p:nvSpPr>
        <p:spPr>
          <a:xfrm>
            <a:off x="250928" y="2966064"/>
            <a:ext cx="4321073" cy="1950000"/>
          </a:xfrm>
          <a:prstGeom prst="roundRect">
            <a:avLst>
              <a:gd name="adj" fmla="val 5814"/>
            </a:avLst>
          </a:prstGeom>
          <a:solidFill>
            <a:srgbClr val="FFFFFF"/>
          </a:solidFill>
          <a:ln/>
          <a:effectLst>
            <a:outerShdw blurRad="88900" dist="38100" dir="5400000" algn="bl" rotWithShape="0">
              <a:srgbClr val="1A0F40">
                <a:alpha val="35000"/>
              </a:srgbClr>
            </a:outerShdw>
          </a:effectLst>
        </p:spPr>
        <p:txBody>
          <a:bodyPr/>
          <a:lstStyle/>
          <a:p>
            <a:endParaRPr lang="en-US"/>
          </a:p>
        </p:txBody>
      </p:sp>
      <p:sp>
        <p:nvSpPr>
          <p:cNvPr id="11" name="Shape 9">
            <a:extLst>
              <a:ext uri="{FF2B5EF4-FFF2-40B4-BE49-F238E27FC236}">
                <a16:creationId xmlns:a16="http://schemas.microsoft.com/office/drawing/2014/main" id="{8F12D448-612F-65A2-0C7E-58D714F02752}"/>
              </a:ext>
            </a:extLst>
          </p:cNvPr>
          <p:cNvSpPr/>
          <p:nvPr/>
        </p:nvSpPr>
        <p:spPr>
          <a:xfrm>
            <a:off x="479528" y="3116064"/>
            <a:ext cx="457200" cy="457200"/>
          </a:xfrm>
          <a:prstGeom prst="ellipse">
            <a:avLst/>
          </a:prstGeom>
          <a:solidFill>
            <a:srgbClr val="5A3FA0"/>
          </a:solidFill>
          <a:ln/>
        </p:spPr>
        <p:txBody>
          <a:bodyPr/>
          <a:lstStyle/>
          <a:p>
            <a:endParaRPr lang="en-US" dirty="0"/>
          </a:p>
        </p:txBody>
      </p:sp>
      <p:sp>
        <p:nvSpPr>
          <p:cNvPr id="12" name="Text 10">
            <a:extLst>
              <a:ext uri="{FF2B5EF4-FFF2-40B4-BE49-F238E27FC236}">
                <a16:creationId xmlns:a16="http://schemas.microsoft.com/office/drawing/2014/main" id="{66CF144A-C939-5223-7DDF-DD60838CB7DC}"/>
              </a:ext>
            </a:extLst>
          </p:cNvPr>
          <p:cNvSpPr/>
          <p:nvPr/>
        </p:nvSpPr>
        <p:spPr>
          <a:xfrm>
            <a:off x="479528" y="311606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13" name="Text 11">
            <a:extLst>
              <a:ext uri="{FF2B5EF4-FFF2-40B4-BE49-F238E27FC236}">
                <a16:creationId xmlns:a16="http://schemas.microsoft.com/office/drawing/2014/main" id="{52512168-5E9C-198E-C5C1-2CA227A333E7}"/>
              </a:ext>
            </a:extLst>
          </p:cNvPr>
          <p:cNvSpPr/>
          <p:nvPr/>
        </p:nvSpPr>
        <p:spPr>
          <a:xfrm>
            <a:off x="1073754" y="3085323"/>
            <a:ext cx="5900000" cy="292608"/>
          </a:xfrm>
          <a:prstGeom prst="rect">
            <a:avLst/>
          </a:prstGeom>
          <a:noFill/>
          <a:ln/>
        </p:spPr>
        <p:txBody>
          <a:bodyPr wrap="square" lIns="0" tIns="0" rIns="0" bIns="0" rtlCol="0" anchor="ctr"/>
          <a:lstStyle/>
          <a:p>
            <a:r>
              <a:rPr lang="en-US" sz="1400" b="1" dirty="0">
                <a:solidFill>
                  <a:srgbClr val="2D1B69"/>
                </a:solidFill>
                <a:latin typeface="Calibri" pitchFamily="34" charset="0"/>
                <a:ea typeface="Calibri" pitchFamily="34" charset="-122"/>
                <a:cs typeface="Calibri" pitchFamily="34" charset="-120"/>
              </a:rPr>
              <a:t>Student Bags Analysis</a:t>
            </a:r>
          </a:p>
        </p:txBody>
      </p:sp>
      <p:sp>
        <p:nvSpPr>
          <p:cNvPr id="14" name="Text 12">
            <a:extLst>
              <a:ext uri="{FF2B5EF4-FFF2-40B4-BE49-F238E27FC236}">
                <a16:creationId xmlns:a16="http://schemas.microsoft.com/office/drawing/2014/main" id="{3C248FEA-59A5-6D3A-90D3-D0E47311E8B1}"/>
              </a:ext>
            </a:extLst>
          </p:cNvPr>
          <p:cNvSpPr/>
          <p:nvPr/>
        </p:nvSpPr>
        <p:spPr>
          <a:xfrm>
            <a:off x="1073754" y="3377931"/>
            <a:ext cx="5900000" cy="256032"/>
          </a:xfrm>
          <a:prstGeom prst="rect">
            <a:avLst/>
          </a:prstGeom>
          <a:noFill/>
          <a:ln/>
        </p:spPr>
        <p:txBody>
          <a:bodyPr wrap="square" lIns="0" tIns="0" rIns="0" bIns="0" rtlCol="0" anchor="ctr"/>
          <a:lstStyle/>
          <a:p>
            <a:pPr marL="0" indent="0">
              <a:buNone/>
            </a:pPr>
            <a:r>
              <a:rPr lang="en-US" sz="1100" b="1" dirty="0">
                <a:solidFill>
                  <a:srgbClr val="B5497E"/>
                </a:solidFill>
                <a:latin typeface="Calibri" pitchFamily="34" charset="0"/>
                <a:ea typeface="Calibri" pitchFamily="34" charset="-122"/>
                <a:cs typeface="Calibri" pitchFamily="34" charset="-120"/>
              </a:rPr>
              <a:t>Tools: Python</a:t>
            </a:r>
            <a:endParaRPr lang="en-US" sz="1100" dirty="0"/>
          </a:p>
        </p:txBody>
      </p:sp>
      <p:pic>
        <p:nvPicPr>
          <p:cNvPr id="16" name="Copied Picture 16">
            <a:extLst>
              <a:ext uri="{FF2B5EF4-FFF2-40B4-BE49-F238E27FC236}">
                <a16:creationId xmlns:a16="http://schemas.microsoft.com/office/drawing/2014/main" id="{B0AFF7D7-2A1B-9367-31A9-87833CDBCACF}"/>
              </a:ext>
            </a:extLst>
          </p:cNvPr>
          <p:cNvPicPr>
            <a:picLocks noChangeAspect="1"/>
          </p:cNvPicPr>
          <p:nvPr/>
        </p:nvPicPr>
        <p:blipFill>
          <a:blip r:embed="rId2"/>
          <a:stretch/>
        </p:blipFill>
        <p:spPr>
          <a:xfrm>
            <a:off x="8002859" y="101600"/>
            <a:ext cx="1141141" cy="753153"/>
          </a:xfrm>
          <a:prstGeom prst="rect">
            <a:avLst/>
          </a:prstGeom>
        </p:spPr>
      </p:pic>
      <p:sp>
        <p:nvSpPr>
          <p:cNvPr id="18" name="Text 5">
            <a:extLst>
              <a:ext uri="{FF2B5EF4-FFF2-40B4-BE49-F238E27FC236}">
                <a16:creationId xmlns:a16="http://schemas.microsoft.com/office/drawing/2014/main" id="{D3CD43B3-E1E3-7FD6-DB90-4813F402FA82}"/>
              </a:ext>
            </a:extLst>
          </p:cNvPr>
          <p:cNvSpPr/>
          <p:nvPr/>
        </p:nvSpPr>
        <p:spPr>
          <a:xfrm>
            <a:off x="5394826" y="648500"/>
            <a:ext cx="5900000" cy="292608"/>
          </a:xfrm>
          <a:prstGeom prst="rect">
            <a:avLst/>
          </a:prstGeom>
          <a:noFill/>
          <a:ln/>
        </p:spPr>
        <p:txBody>
          <a:bodyPr wrap="square" lIns="0" tIns="0" rIns="0" bIns="0" rtlCol="0" anchor="ctr"/>
          <a:lstStyle/>
          <a:p>
            <a:r>
              <a:rPr lang="en-US" sz="1400" b="1" dirty="0">
                <a:solidFill>
                  <a:srgbClr val="2D1B69"/>
                </a:solidFill>
                <a:latin typeface="Calibri" pitchFamily="34" charset="0"/>
                <a:ea typeface="Calibri" pitchFamily="34" charset="-122"/>
                <a:cs typeface="Calibri" pitchFamily="34" charset="-120"/>
              </a:rPr>
              <a:t>Strategic Regional Growth Analysis</a:t>
            </a:r>
            <a:endParaRPr lang="en-US" sz="1400" dirty="0"/>
          </a:p>
        </p:txBody>
      </p:sp>
      <p:sp>
        <p:nvSpPr>
          <p:cNvPr id="27" name="Text 7">
            <a:extLst>
              <a:ext uri="{FF2B5EF4-FFF2-40B4-BE49-F238E27FC236}">
                <a16:creationId xmlns:a16="http://schemas.microsoft.com/office/drawing/2014/main" id="{4B72768F-40BA-FB73-4535-CBC6181CA811}"/>
              </a:ext>
            </a:extLst>
          </p:cNvPr>
          <p:cNvSpPr/>
          <p:nvPr/>
        </p:nvSpPr>
        <p:spPr>
          <a:xfrm>
            <a:off x="329940" y="3690383"/>
            <a:ext cx="4185358" cy="1155000"/>
          </a:xfrm>
          <a:prstGeom prst="rect">
            <a:avLst/>
          </a:prstGeom>
          <a:noFill/>
          <a:ln/>
        </p:spPr>
        <p:txBody>
          <a:bodyPr wrap="square" lIns="0" tIns="0" rIns="0" bIns="0" rtlCol="0" anchor="t"/>
          <a:lstStyle/>
          <a:p>
            <a:pPr algn="just"/>
            <a:r>
              <a:rPr lang="en-US" sz="930" b="1" dirty="0">
                <a:solidFill>
                  <a:srgbClr val="2D1B69"/>
                </a:solidFill>
                <a:latin typeface="Calibri" pitchFamily="34" charset="0"/>
                <a:ea typeface="Calibri" pitchFamily="34" charset="-122"/>
                <a:cs typeface="Calibri" pitchFamily="34" charset="-120"/>
              </a:rPr>
              <a:t>Problem: </a:t>
            </a:r>
            <a:r>
              <a:rPr lang="en-US" sz="930" dirty="0">
                <a:solidFill>
                  <a:srgbClr val="3A3A4A"/>
                </a:solidFill>
                <a:latin typeface="Calibri" pitchFamily="34" charset="0"/>
                <a:ea typeface="Calibri" pitchFamily="34" charset="-122"/>
                <a:cs typeface="Calibri" pitchFamily="34" charset="-120"/>
              </a:rPr>
              <a:t>A bag retailer assumed waterproofing and laptop-compartment features justified a price premium and wanted this tested before using it in pricing strategy.</a:t>
            </a:r>
          </a:p>
          <a:p>
            <a:pPr algn="just"/>
            <a:endParaRPr lang="en-US" sz="930" dirty="0"/>
          </a:p>
          <a:p>
            <a:pPr algn="just"/>
            <a:r>
              <a:rPr lang="en-US" sz="930" b="1" dirty="0">
                <a:solidFill>
                  <a:srgbClr val="2D1B69"/>
                </a:solidFill>
                <a:latin typeface="Calibri" pitchFamily="34" charset="0"/>
                <a:ea typeface="Calibri" pitchFamily="34" charset="-122"/>
                <a:cs typeface="Calibri" pitchFamily="34" charset="-120"/>
              </a:rPr>
              <a:t>Result: </a:t>
            </a:r>
            <a:r>
              <a:rPr lang="en-US" sz="930" dirty="0">
                <a:solidFill>
                  <a:srgbClr val="3A3A4A"/>
                </a:solidFill>
                <a:latin typeface="Calibri" pitchFamily="34" charset="0"/>
                <a:ea typeface="Calibri" pitchFamily="34" charset="-122"/>
                <a:cs typeface="Calibri" pitchFamily="34" charset="-120"/>
              </a:rPr>
              <a:t>The price difference was under $1 and not statistically significant (p &gt; 0.05) </a:t>
            </a:r>
          </a:p>
          <a:p>
            <a:pPr algn="just"/>
            <a:endParaRPr lang="en-US" sz="930" b="1" dirty="0">
              <a:solidFill>
                <a:srgbClr val="3A3A4A"/>
              </a:solidFill>
              <a:latin typeface="Calibri" pitchFamily="34" charset="0"/>
              <a:ea typeface="Calibri" pitchFamily="34" charset="-122"/>
              <a:cs typeface="Calibri" pitchFamily="34" charset="-120"/>
            </a:endParaRPr>
          </a:p>
          <a:p>
            <a:pPr algn="just"/>
            <a:r>
              <a:rPr lang="en-US" sz="930" b="1" dirty="0">
                <a:solidFill>
                  <a:srgbClr val="2D1B69"/>
                </a:solidFill>
                <a:latin typeface="Calibri" pitchFamily="34" charset="0"/>
                <a:ea typeface="Calibri" pitchFamily="34" charset="-122"/>
                <a:cs typeface="Calibri" pitchFamily="34" charset="-120"/>
              </a:rPr>
              <a:t>Recommendation </a:t>
            </a:r>
            <a:r>
              <a:rPr lang="en-US" sz="930" dirty="0">
                <a:solidFill>
                  <a:srgbClr val="3A3A4A"/>
                </a:solidFill>
                <a:latin typeface="Calibri" pitchFamily="34" charset="0"/>
                <a:ea typeface="Calibri" pitchFamily="34" charset="-122"/>
                <a:cs typeface="Calibri" pitchFamily="34" charset="-120"/>
              </a:rPr>
              <a:t>: Pair this dataset with real sales data before using it for pricing decisions.</a:t>
            </a:r>
          </a:p>
        </p:txBody>
      </p:sp>
      <p:sp>
        <p:nvSpPr>
          <p:cNvPr id="2" name="HeaderTitle">
            <a:extLst>
              <a:ext uri="{FF2B5EF4-FFF2-40B4-BE49-F238E27FC236}">
                <a16:creationId xmlns:a16="http://schemas.microsoft.com/office/drawing/2014/main" id="{A6A262A0-C649-5748-8204-BF0133A88FD8}"/>
              </a:ext>
            </a:extLst>
          </p:cNvPr>
          <p:cNvSpPr txBox="1"/>
          <p:nvPr/>
        </p:nvSpPr>
        <p:spPr>
          <a:xfrm>
            <a:off x="106152" y="121206"/>
            <a:ext cx="8229600" cy="635000"/>
          </a:xfrm>
          <a:prstGeom prst="rect">
            <a:avLst/>
          </a:prstGeom>
          <a:noFill/>
        </p:spPr>
        <p:txBody>
          <a:bodyPr vertOverflow="overflow" vert="horz" wrap="square" rtlCol="0" anchor="t">
            <a:spAutoFit/>
          </a:bodyPr>
          <a:lstStyle/>
          <a:p>
            <a:pPr algn="l"/>
            <a:r>
              <a:rPr lang="en-US" sz="3400" b="1" dirty="0">
                <a:solidFill>
                  <a:srgbClr val="FFFFFF"/>
                </a:solidFill>
                <a:latin typeface="Cambria"/>
              </a:rPr>
              <a:t>Project Overview</a:t>
            </a:r>
          </a:p>
        </p:txBody>
      </p:sp>
      <p:pic>
        <p:nvPicPr>
          <p:cNvPr id="15" name="Picture 14">
            <a:extLst>
              <a:ext uri="{FF2B5EF4-FFF2-40B4-BE49-F238E27FC236}">
                <a16:creationId xmlns:a16="http://schemas.microsoft.com/office/drawing/2014/main" id="{FA33D3B1-810C-1E97-62BA-79BCECFF264D}"/>
              </a:ext>
            </a:extLst>
          </p:cNvPr>
          <p:cNvPicPr>
            <a:picLocks noChangeAspect="1"/>
          </p:cNvPicPr>
          <p:nvPr/>
        </p:nvPicPr>
        <p:blipFill>
          <a:blip r:embed="rId3"/>
          <a:stretch>
            <a:fillRect/>
          </a:stretch>
        </p:blipFill>
        <p:spPr>
          <a:xfrm>
            <a:off x="5013701" y="811805"/>
            <a:ext cx="3538097" cy="1980910"/>
          </a:xfrm>
          <a:prstGeom prst="rect">
            <a:avLst/>
          </a:prstGeom>
        </p:spPr>
      </p:pic>
      <p:pic>
        <p:nvPicPr>
          <p:cNvPr id="19" name="Picture 18">
            <a:extLst>
              <a:ext uri="{FF2B5EF4-FFF2-40B4-BE49-F238E27FC236}">
                <a16:creationId xmlns:a16="http://schemas.microsoft.com/office/drawing/2014/main" id="{418099C8-6C9B-80A1-374D-8BCF54FD901D}"/>
              </a:ext>
            </a:extLst>
          </p:cNvPr>
          <p:cNvPicPr>
            <a:picLocks noChangeAspect="1"/>
          </p:cNvPicPr>
          <p:nvPr/>
        </p:nvPicPr>
        <p:blipFill>
          <a:blip r:embed="rId4"/>
          <a:stretch>
            <a:fillRect/>
          </a:stretch>
        </p:blipFill>
        <p:spPr>
          <a:xfrm>
            <a:off x="5013701" y="3028897"/>
            <a:ext cx="3538097" cy="1824331"/>
          </a:xfrm>
          <a:prstGeom prst="rect">
            <a:avLst/>
          </a:prstGeom>
        </p:spPr>
      </p:pic>
    </p:spTree>
    <p:extLst>
      <p:ext uri="{BB962C8B-B14F-4D97-AF65-F5344CB8AC3E}">
        <p14:creationId xmlns:p14="http://schemas.microsoft.com/office/powerpoint/2010/main" val="6381322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a:extLst>
            <a:ext uri="{FF2B5EF4-FFF2-40B4-BE49-F238E27FC236}">
              <a16:creationId xmlns:a16="http://schemas.microsoft.com/office/drawing/2014/main" id="{80DE63CF-55C7-B0CE-B4BD-0060715210CA}"/>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29563BED-3370-900D-C031-87AEA2653CE5}"/>
              </a:ext>
            </a:extLst>
          </p:cNvPr>
          <p:cNvSpPr/>
          <p:nvPr/>
        </p:nvSpPr>
        <p:spPr>
          <a:xfrm>
            <a:off x="250928" y="1596749"/>
            <a:ext cx="4321072" cy="2091847"/>
          </a:xfrm>
          <a:prstGeom prst="roundRect">
            <a:avLst>
              <a:gd name="adj" fmla="val 5814"/>
            </a:avLst>
          </a:prstGeom>
          <a:solidFill>
            <a:srgbClr val="FFFFFF"/>
          </a:solidFill>
          <a:ln/>
          <a:effectLst>
            <a:outerShdw blurRad="88900" dist="38100" dir="5400000" algn="bl" rotWithShape="0">
              <a:srgbClr val="1A0F40">
                <a:alpha val="35000"/>
              </a:srgbClr>
            </a:outerShdw>
          </a:effectLst>
        </p:spPr>
        <p:txBody>
          <a:bodyPr/>
          <a:lstStyle/>
          <a:p>
            <a:endParaRPr lang="en-US"/>
          </a:p>
        </p:txBody>
      </p:sp>
      <p:sp>
        <p:nvSpPr>
          <p:cNvPr id="5" name="Shape 3">
            <a:extLst>
              <a:ext uri="{FF2B5EF4-FFF2-40B4-BE49-F238E27FC236}">
                <a16:creationId xmlns:a16="http://schemas.microsoft.com/office/drawing/2014/main" id="{3A1F85A8-799F-159E-0F05-2FB635FA96F7}"/>
              </a:ext>
            </a:extLst>
          </p:cNvPr>
          <p:cNvSpPr/>
          <p:nvPr/>
        </p:nvSpPr>
        <p:spPr>
          <a:xfrm>
            <a:off x="479527" y="1746750"/>
            <a:ext cx="457200" cy="457200"/>
          </a:xfrm>
          <a:prstGeom prst="ellipse">
            <a:avLst/>
          </a:prstGeom>
          <a:solidFill>
            <a:srgbClr val="5A3FA0"/>
          </a:solidFill>
          <a:ln/>
        </p:spPr>
        <p:txBody>
          <a:bodyPr/>
          <a:lstStyle/>
          <a:p>
            <a:endParaRPr lang="en-US"/>
          </a:p>
        </p:txBody>
      </p:sp>
      <p:sp>
        <p:nvSpPr>
          <p:cNvPr id="6" name="Text 4">
            <a:extLst>
              <a:ext uri="{FF2B5EF4-FFF2-40B4-BE49-F238E27FC236}">
                <a16:creationId xmlns:a16="http://schemas.microsoft.com/office/drawing/2014/main" id="{CBF932FD-FF13-ED76-7D04-99FF0EEED4BF}"/>
              </a:ext>
            </a:extLst>
          </p:cNvPr>
          <p:cNvSpPr/>
          <p:nvPr/>
        </p:nvSpPr>
        <p:spPr>
          <a:xfrm>
            <a:off x="479527" y="174675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cs typeface="Calibri" pitchFamily="34" charset="-120"/>
              </a:rPr>
              <a:t>7</a:t>
            </a:r>
            <a:endParaRPr lang="en-US" sz="1400" dirty="0"/>
          </a:p>
        </p:txBody>
      </p:sp>
      <p:sp>
        <p:nvSpPr>
          <p:cNvPr id="7" name="Text 5">
            <a:extLst>
              <a:ext uri="{FF2B5EF4-FFF2-40B4-BE49-F238E27FC236}">
                <a16:creationId xmlns:a16="http://schemas.microsoft.com/office/drawing/2014/main" id="{58657D02-50FD-C19A-9286-EFC3DBE3A000}"/>
              </a:ext>
            </a:extLst>
          </p:cNvPr>
          <p:cNvSpPr/>
          <p:nvPr/>
        </p:nvSpPr>
        <p:spPr>
          <a:xfrm>
            <a:off x="1073754" y="1710174"/>
            <a:ext cx="5900000" cy="292608"/>
          </a:xfrm>
          <a:prstGeom prst="rect">
            <a:avLst/>
          </a:prstGeom>
          <a:noFill/>
          <a:ln/>
        </p:spPr>
        <p:txBody>
          <a:bodyPr wrap="square" lIns="0" tIns="0" rIns="0" bIns="0" rtlCol="0" anchor="ctr"/>
          <a:lstStyle/>
          <a:p>
            <a:r>
              <a:rPr lang="en-US" sz="1400" b="1" dirty="0">
                <a:solidFill>
                  <a:srgbClr val="2D1B69"/>
                </a:solidFill>
                <a:latin typeface="Calibri" pitchFamily="34" charset="0"/>
                <a:ea typeface="Calibri" pitchFamily="34" charset="-122"/>
                <a:cs typeface="Calibri" pitchFamily="34" charset="-120"/>
              </a:rPr>
              <a:t>HR Workforce Analysis</a:t>
            </a:r>
            <a:endParaRPr lang="en-US" sz="1400" dirty="0"/>
          </a:p>
        </p:txBody>
      </p:sp>
      <p:sp>
        <p:nvSpPr>
          <p:cNvPr id="8" name="Text 6">
            <a:extLst>
              <a:ext uri="{FF2B5EF4-FFF2-40B4-BE49-F238E27FC236}">
                <a16:creationId xmlns:a16="http://schemas.microsoft.com/office/drawing/2014/main" id="{A69BB3A8-9920-EB5D-3519-A6EE947D7EC2}"/>
              </a:ext>
            </a:extLst>
          </p:cNvPr>
          <p:cNvSpPr/>
          <p:nvPr/>
        </p:nvSpPr>
        <p:spPr>
          <a:xfrm>
            <a:off x="1073754" y="2002782"/>
            <a:ext cx="5900000" cy="256032"/>
          </a:xfrm>
          <a:prstGeom prst="rect">
            <a:avLst/>
          </a:prstGeom>
          <a:noFill/>
          <a:ln/>
        </p:spPr>
        <p:txBody>
          <a:bodyPr wrap="square" lIns="0" tIns="0" rIns="0" bIns="0" rtlCol="0" anchor="ctr"/>
          <a:lstStyle/>
          <a:p>
            <a:pPr marL="0" indent="0">
              <a:buNone/>
            </a:pPr>
            <a:r>
              <a:rPr lang="en-US" sz="1100" b="1" dirty="0">
                <a:solidFill>
                  <a:srgbClr val="B5497E"/>
                </a:solidFill>
                <a:latin typeface="Calibri" pitchFamily="34" charset="0"/>
                <a:ea typeface="Calibri" pitchFamily="34" charset="-122"/>
                <a:cs typeface="Calibri" pitchFamily="34" charset="-120"/>
              </a:rPr>
              <a:t>Tools: Excel</a:t>
            </a:r>
            <a:endParaRPr lang="en-US" sz="1100" dirty="0"/>
          </a:p>
        </p:txBody>
      </p:sp>
      <p:sp>
        <p:nvSpPr>
          <p:cNvPr id="9" name="Text 7">
            <a:extLst>
              <a:ext uri="{FF2B5EF4-FFF2-40B4-BE49-F238E27FC236}">
                <a16:creationId xmlns:a16="http://schemas.microsoft.com/office/drawing/2014/main" id="{4ECBDFE6-6AD4-1B5D-AFD7-22A6CEE1051B}"/>
              </a:ext>
            </a:extLst>
          </p:cNvPr>
          <p:cNvSpPr/>
          <p:nvPr/>
        </p:nvSpPr>
        <p:spPr>
          <a:xfrm>
            <a:off x="307927" y="2331750"/>
            <a:ext cx="4207371" cy="1155000"/>
          </a:xfrm>
          <a:prstGeom prst="rect">
            <a:avLst/>
          </a:prstGeom>
          <a:noFill/>
          <a:ln/>
        </p:spPr>
        <p:txBody>
          <a:bodyPr wrap="square" lIns="0" tIns="0" rIns="0" bIns="0" rtlCol="0" anchor="t"/>
          <a:lstStyle/>
          <a:p>
            <a:pPr algn="just"/>
            <a:r>
              <a:rPr lang="en-US" sz="930" b="1" dirty="0">
                <a:solidFill>
                  <a:srgbClr val="2D1B69"/>
                </a:solidFill>
                <a:latin typeface="Calibri" pitchFamily="34" charset="0"/>
                <a:ea typeface="Calibri" pitchFamily="34" charset="-122"/>
                <a:cs typeface="Calibri" pitchFamily="34" charset="-120"/>
              </a:rPr>
              <a:t>Problem: </a:t>
            </a:r>
            <a:r>
              <a:rPr lang="en-US" sz="930" dirty="0">
                <a:solidFill>
                  <a:srgbClr val="3A3A4A"/>
                </a:solidFill>
                <a:latin typeface="Calibri" pitchFamily="34" charset="0"/>
                <a:ea typeface="Calibri" pitchFamily="34" charset="-122"/>
                <a:cs typeface="Calibri" pitchFamily="34" charset="-120"/>
              </a:rPr>
              <a:t>Leadership wanted to know whether top talent was being placed and promoted where it could have the most strategic impact.</a:t>
            </a:r>
          </a:p>
          <a:p>
            <a:pPr algn="just"/>
            <a:endParaRPr lang="en-US" sz="930" dirty="0"/>
          </a:p>
          <a:p>
            <a:pPr algn="just"/>
            <a:r>
              <a:rPr lang="en-US" sz="930" b="1" dirty="0">
                <a:solidFill>
                  <a:srgbClr val="2D1B69"/>
                </a:solidFill>
                <a:latin typeface="Calibri" pitchFamily="34" charset="0"/>
                <a:ea typeface="Calibri" pitchFamily="34" charset="-122"/>
                <a:cs typeface="Calibri" pitchFamily="34" charset="-120"/>
              </a:rPr>
              <a:t>Result: </a:t>
            </a:r>
            <a:r>
              <a:rPr lang="en-US" sz="930" dirty="0">
                <a:solidFill>
                  <a:srgbClr val="3A3A4A"/>
                </a:solidFill>
                <a:latin typeface="Calibri" pitchFamily="34" charset="0"/>
                <a:ea typeface="Calibri" pitchFamily="34" charset="-122"/>
                <a:cs typeface="Calibri" pitchFamily="34" charset="-120"/>
              </a:rPr>
              <a:t>Top performers (top 10%) were concentrated in Production rather than strategic roles, and 0% of executives were female despite 66% of top performers being female. </a:t>
            </a:r>
          </a:p>
          <a:p>
            <a:pPr algn="just"/>
            <a:endParaRPr lang="en-US" sz="930" dirty="0">
              <a:solidFill>
                <a:srgbClr val="3A3A4A"/>
              </a:solidFill>
              <a:latin typeface="Calibri" pitchFamily="34" charset="0"/>
              <a:ea typeface="Calibri" pitchFamily="34" charset="-122"/>
              <a:cs typeface="Calibri" pitchFamily="34" charset="-120"/>
            </a:endParaRPr>
          </a:p>
          <a:p>
            <a:pPr algn="just"/>
            <a:r>
              <a:rPr lang="en-US" sz="930" b="1" dirty="0">
                <a:solidFill>
                  <a:srgbClr val="2D1B69"/>
                </a:solidFill>
                <a:latin typeface="Calibri" pitchFamily="34" charset="0"/>
                <a:ea typeface="Calibri" pitchFamily="34" charset="-122"/>
                <a:cs typeface="Calibri" pitchFamily="34" charset="-120"/>
              </a:rPr>
              <a:t>Recommendation </a:t>
            </a:r>
            <a:r>
              <a:rPr lang="en-US" sz="930" dirty="0">
                <a:solidFill>
                  <a:srgbClr val="3A3A4A"/>
                </a:solidFill>
                <a:latin typeface="Calibri" pitchFamily="34" charset="0"/>
                <a:ea typeface="Calibri" pitchFamily="34" charset="-122"/>
                <a:cs typeface="Calibri" pitchFamily="34" charset="-120"/>
              </a:rPr>
              <a:t>: Targeted STEM recruitment and transparent promotion paths</a:t>
            </a:r>
            <a:endParaRPr lang="en-US" sz="930" dirty="0"/>
          </a:p>
        </p:txBody>
      </p:sp>
      <p:pic>
        <p:nvPicPr>
          <p:cNvPr id="16" name="Copied Picture 16">
            <a:extLst>
              <a:ext uri="{FF2B5EF4-FFF2-40B4-BE49-F238E27FC236}">
                <a16:creationId xmlns:a16="http://schemas.microsoft.com/office/drawing/2014/main" id="{D8943C5F-0D2F-CE55-CF39-EAC7EE0C94FE}"/>
              </a:ext>
            </a:extLst>
          </p:cNvPr>
          <p:cNvPicPr>
            <a:picLocks noChangeAspect="1"/>
          </p:cNvPicPr>
          <p:nvPr/>
        </p:nvPicPr>
        <p:blipFill>
          <a:blip r:embed="rId2"/>
          <a:stretch/>
        </p:blipFill>
        <p:spPr>
          <a:xfrm>
            <a:off x="8002859" y="101600"/>
            <a:ext cx="1141141" cy="753153"/>
          </a:xfrm>
          <a:prstGeom prst="rect">
            <a:avLst/>
          </a:prstGeom>
        </p:spPr>
      </p:pic>
      <p:sp>
        <p:nvSpPr>
          <p:cNvPr id="18" name="Text 5">
            <a:extLst>
              <a:ext uri="{FF2B5EF4-FFF2-40B4-BE49-F238E27FC236}">
                <a16:creationId xmlns:a16="http://schemas.microsoft.com/office/drawing/2014/main" id="{EEEE8170-E9AB-AB8D-9B39-8BED562026FF}"/>
              </a:ext>
            </a:extLst>
          </p:cNvPr>
          <p:cNvSpPr/>
          <p:nvPr/>
        </p:nvSpPr>
        <p:spPr>
          <a:xfrm>
            <a:off x="5394826" y="648500"/>
            <a:ext cx="5900000" cy="292608"/>
          </a:xfrm>
          <a:prstGeom prst="rect">
            <a:avLst/>
          </a:prstGeom>
          <a:noFill/>
          <a:ln/>
        </p:spPr>
        <p:txBody>
          <a:bodyPr wrap="square" lIns="0" tIns="0" rIns="0" bIns="0" rtlCol="0" anchor="ctr"/>
          <a:lstStyle/>
          <a:p>
            <a:r>
              <a:rPr lang="en-US" sz="1400" b="1" dirty="0">
                <a:solidFill>
                  <a:srgbClr val="2D1B69"/>
                </a:solidFill>
                <a:latin typeface="Calibri" pitchFamily="34" charset="0"/>
                <a:ea typeface="Calibri" pitchFamily="34" charset="-122"/>
                <a:cs typeface="Calibri" pitchFamily="34" charset="-120"/>
              </a:rPr>
              <a:t>Strategic Regional Growth Analysis</a:t>
            </a:r>
            <a:endParaRPr lang="en-US" sz="1400" dirty="0"/>
          </a:p>
        </p:txBody>
      </p:sp>
      <p:sp>
        <p:nvSpPr>
          <p:cNvPr id="2" name="HeaderTitle">
            <a:extLst>
              <a:ext uri="{FF2B5EF4-FFF2-40B4-BE49-F238E27FC236}">
                <a16:creationId xmlns:a16="http://schemas.microsoft.com/office/drawing/2014/main" id="{29BBC26F-4E16-5E43-8823-A531C00176CA}"/>
              </a:ext>
            </a:extLst>
          </p:cNvPr>
          <p:cNvSpPr txBox="1"/>
          <p:nvPr/>
        </p:nvSpPr>
        <p:spPr>
          <a:xfrm>
            <a:off x="115226" y="74968"/>
            <a:ext cx="8229600" cy="635000"/>
          </a:xfrm>
          <a:prstGeom prst="rect">
            <a:avLst/>
          </a:prstGeom>
          <a:noFill/>
        </p:spPr>
        <p:txBody>
          <a:bodyPr vertOverflow="overflow" vert="horz" wrap="square" rtlCol="0" anchor="t">
            <a:spAutoFit/>
          </a:bodyPr>
          <a:lstStyle/>
          <a:p>
            <a:pPr algn="l"/>
            <a:r>
              <a:rPr lang="en-US" sz="3400" b="1" dirty="0">
                <a:solidFill>
                  <a:srgbClr val="FFFFFF"/>
                </a:solidFill>
                <a:latin typeface="Cambria"/>
              </a:rPr>
              <a:t>Project Overview</a:t>
            </a:r>
          </a:p>
        </p:txBody>
      </p:sp>
      <p:pic>
        <p:nvPicPr>
          <p:cNvPr id="17" name="Picture 16">
            <a:extLst>
              <a:ext uri="{FF2B5EF4-FFF2-40B4-BE49-F238E27FC236}">
                <a16:creationId xmlns:a16="http://schemas.microsoft.com/office/drawing/2014/main" id="{8A8EAF4A-A6D5-C456-39D8-58B31A3B7557}"/>
              </a:ext>
            </a:extLst>
          </p:cNvPr>
          <p:cNvPicPr>
            <a:picLocks noChangeAspect="1"/>
          </p:cNvPicPr>
          <p:nvPr/>
        </p:nvPicPr>
        <p:blipFill>
          <a:blip r:embed="rId3"/>
          <a:stretch>
            <a:fillRect/>
          </a:stretch>
        </p:blipFill>
        <p:spPr>
          <a:xfrm>
            <a:off x="5093407" y="1283500"/>
            <a:ext cx="3856369" cy="2434908"/>
          </a:xfrm>
          <a:prstGeom prst="rect">
            <a:avLst/>
          </a:prstGeom>
        </p:spPr>
      </p:pic>
    </p:spTree>
    <p:extLst>
      <p:ext uri="{BB962C8B-B14F-4D97-AF65-F5344CB8AC3E}">
        <p14:creationId xmlns:p14="http://schemas.microsoft.com/office/powerpoint/2010/main" val="1404117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2D1B69"/>
        </a:solidFill>
        <a:effectLst/>
      </p:bgPr>
    </p:bg>
    <p:spTree>
      <p:nvGrpSpPr>
        <p:cNvPr id="1" name=""/>
        <p:cNvGrpSpPr/>
        <p:nvPr/>
      </p:nvGrpSpPr>
      <p:grpSpPr>
        <a:xfrm>
          <a:off x="0" y="0"/>
          <a:ext cx="0" cy="0"/>
          <a:chOff x="0" y="0"/>
          <a:chExt cx="0" cy="0"/>
        </a:xfrm>
      </p:grpSpPr>
      <p:pic>
        <p:nvPicPr>
          <p:cNvPr id="9" name="Copied Picture 9">
            <a:extLst>
              <a:ext uri="{FF2B5EF4-FFF2-40B4-BE49-F238E27FC236}">
                <a16:creationId xmlns:a16="http://schemas.microsoft.com/office/drawing/2014/main" id="{098C5A1E-651C-798D-5D81-541A1CCCDFF3}"/>
              </a:ext>
            </a:extLst>
          </p:cNvPr>
          <p:cNvPicPr>
            <a:picLocks noChangeAspect="1"/>
          </p:cNvPicPr>
          <p:nvPr/>
        </p:nvPicPr>
        <p:blipFill>
          <a:blip r:embed="rId3"/>
          <a:stretch/>
        </p:blipFill>
        <p:spPr>
          <a:xfrm>
            <a:off x="7901259" y="101600"/>
            <a:ext cx="1141141" cy="753153"/>
          </a:xfrm>
          <a:prstGeom prst="rect">
            <a:avLst/>
          </a:prstGeom>
        </p:spPr>
      </p:pic>
      <p:sp>
        <p:nvSpPr>
          <p:cNvPr id="11" name="TitleBox">
            <a:extLst>
              <a:ext uri="{FF2B5EF4-FFF2-40B4-BE49-F238E27FC236}">
                <a16:creationId xmlns:a16="http://schemas.microsoft.com/office/drawing/2014/main" id="{FB5BED03-283A-3840-AF5F-5E414E3EEA48}"/>
              </a:ext>
            </a:extLst>
          </p:cNvPr>
          <p:cNvSpPr txBox="1"/>
          <p:nvPr/>
        </p:nvSpPr>
        <p:spPr>
          <a:xfrm>
            <a:off x="330200" y="177800"/>
            <a:ext cx="8470900" cy="523220"/>
          </a:xfrm>
          <a:prstGeom prst="rect">
            <a:avLst/>
          </a:prstGeom>
          <a:noFill/>
        </p:spPr>
        <p:txBody>
          <a:bodyPr vertOverflow="overflow" vert="horz" wrap="square" rtlCol="0" anchor="t">
            <a:spAutoFit/>
          </a:bodyPr>
          <a:lstStyle/>
          <a:p>
            <a:pPr marL="0" indent="0">
              <a:buNone/>
            </a:pPr>
            <a:r>
              <a:rPr lang="en-US" sz="2800" b="1" dirty="0">
                <a:solidFill>
                  <a:srgbClr val="FFFFFF"/>
                </a:solidFill>
                <a:latin typeface="Cambria" pitchFamily="34" charset="0"/>
              </a:rPr>
              <a:t>Background and Problem Statement</a:t>
            </a:r>
          </a:p>
        </p:txBody>
      </p:sp>
      <p:sp>
        <p:nvSpPr>
          <p:cNvPr id="12" name="NarrativeBox">
            <a:extLst>
              <a:ext uri="{FF2B5EF4-FFF2-40B4-BE49-F238E27FC236}">
                <a16:creationId xmlns:a16="http://schemas.microsoft.com/office/drawing/2014/main" id="{B8021BE0-E703-DC45-B43B-8E66E4206EEF}"/>
              </a:ext>
            </a:extLst>
          </p:cNvPr>
          <p:cNvSpPr txBox="1"/>
          <p:nvPr/>
        </p:nvSpPr>
        <p:spPr>
          <a:xfrm>
            <a:off x="508000" y="1524000"/>
            <a:ext cx="4826000" cy="1906997"/>
          </a:xfrm>
          <a:prstGeom prst="rect">
            <a:avLst/>
          </a:prstGeom>
          <a:noFill/>
        </p:spPr>
        <p:txBody>
          <a:bodyPr vertOverflow="overflow" vert="horz" wrap="square" rtlCol="0" anchor="t">
            <a:spAutoFit/>
          </a:bodyPr>
          <a:lstStyle/>
          <a:p>
            <a:pPr algn="just">
              <a:lnSpc>
                <a:spcPct val="120000"/>
              </a:lnSpc>
            </a:pPr>
            <a:r>
              <a:rPr lang="en-US" sz="1100" dirty="0">
                <a:solidFill>
                  <a:schemeClr val="bg1"/>
                </a:solidFill>
              </a:rPr>
              <a:t>Eggs sit at the center of Indonesia's food security picture. Affordable, nutrient-dense, and consumed across every income bracket. Yet prices don't move steadily; they swing sharply around Ramadan, national holidays, and supply shocks, each capable of straining household budgets exactly when demand is highest. This volatility isn't just a market inconvenience. It's a direct challenge to the kind of food resilience </a:t>
            </a:r>
            <a:r>
              <a:rPr lang="en-US" sz="1100" b="1" dirty="0">
                <a:solidFill>
                  <a:schemeClr val="bg1"/>
                </a:solidFill>
              </a:rPr>
              <a:t>SDG 2: Zero Hunger </a:t>
            </a:r>
            <a:r>
              <a:rPr lang="en-US" sz="1100" dirty="0">
                <a:solidFill>
                  <a:schemeClr val="bg1"/>
                </a:solidFill>
              </a:rPr>
              <a:t>calls for. Since many of these demand-heavy events are predictable in timing. A well-built forecast offers something rare: the chance to prepare ahead of a price shock, rather than absorb it after the fact.</a:t>
            </a:r>
          </a:p>
        </p:txBody>
      </p:sp>
      <p:sp>
        <p:nvSpPr>
          <p:cNvPr id="13" name="FootnoteBox">
            <a:extLst>
              <a:ext uri="{FF2B5EF4-FFF2-40B4-BE49-F238E27FC236}">
                <a16:creationId xmlns:a16="http://schemas.microsoft.com/office/drawing/2014/main" id="{0091402A-D088-1E4C-909A-93447A88AF43}"/>
              </a:ext>
            </a:extLst>
          </p:cNvPr>
          <p:cNvSpPr txBox="1"/>
          <p:nvPr/>
        </p:nvSpPr>
        <p:spPr>
          <a:xfrm>
            <a:off x="508000" y="4724400"/>
            <a:ext cx="8128000" cy="230832"/>
          </a:xfrm>
          <a:prstGeom prst="rect">
            <a:avLst/>
          </a:prstGeom>
          <a:noFill/>
        </p:spPr>
        <p:txBody>
          <a:bodyPr vertOverflow="overflow" vert="horz" wrap="square" rtlCol="0" anchor="t">
            <a:spAutoFit/>
          </a:bodyPr>
          <a:lstStyle/>
          <a:p>
            <a:pPr marL="0" indent="0">
              <a:buNone/>
            </a:pPr>
            <a:r>
              <a:rPr lang="en-US" sz="900" i="1" dirty="0">
                <a:solidFill>
                  <a:srgbClr val="B8AEE0"/>
                </a:solidFill>
              </a:rPr>
              <a:t>Source: World Food Programme (WFP) Global Food Prices dataset.</a:t>
            </a:r>
          </a:p>
        </p:txBody>
      </p:sp>
      <p:sp>
        <p:nvSpPr>
          <p:cNvPr id="14" name="DecorOuter">
            <a:extLst>
              <a:ext uri="{FF2B5EF4-FFF2-40B4-BE49-F238E27FC236}">
                <a16:creationId xmlns:a16="http://schemas.microsoft.com/office/drawing/2014/main" id="{17F69625-6BC3-2540-A21F-FC1DCBC1AEE4}"/>
              </a:ext>
            </a:extLst>
          </p:cNvPr>
          <p:cNvSpPr/>
          <p:nvPr/>
        </p:nvSpPr>
        <p:spPr>
          <a:xfrm>
            <a:off x="6421120" y="1240790"/>
            <a:ext cx="1813560" cy="1709420"/>
          </a:xfrm>
          <a:prstGeom prst="ellipse">
            <a:avLst/>
          </a:prstGeom>
          <a:solidFill>
            <a:srgbClr val="4472C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sp>
        <p:nvSpPr>
          <p:cNvPr id="15" name="DecorInner">
            <a:extLst>
              <a:ext uri="{FF2B5EF4-FFF2-40B4-BE49-F238E27FC236}">
                <a16:creationId xmlns:a16="http://schemas.microsoft.com/office/drawing/2014/main" id="{0943D162-28CB-214C-A477-0FBB4F462DD6}"/>
              </a:ext>
            </a:extLst>
          </p:cNvPr>
          <p:cNvSpPr/>
          <p:nvPr/>
        </p:nvSpPr>
        <p:spPr>
          <a:xfrm>
            <a:off x="6584950" y="1395730"/>
            <a:ext cx="1485900" cy="1399540"/>
          </a:xfrm>
          <a:prstGeom prst="ellipse">
            <a:avLst/>
          </a:prstGeom>
          <a:solidFill>
            <a:srgbClr val="5A3FA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dirty="0"/>
          </a:p>
        </p:txBody>
      </p:sp>
      <p:pic>
        <p:nvPicPr>
          <p:cNvPr id="17" name="Graphic 17" descr="Eggs in basket icon representing egg market"/>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44970" y="1512570"/>
            <a:ext cx="1165860" cy="1165860"/>
          </a:xfrm>
          <a:prstGeom prst="rect">
            <a:avLst/>
          </a:prstGeom>
        </p:spPr>
      </p:pic>
      <p:sp>
        <p:nvSpPr>
          <p:cNvPr id="4" name="SdgBadge">
            <a:extLst>
              <a:ext uri="{FF2B5EF4-FFF2-40B4-BE49-F238E27FC236}">
                <a16:creationId xmlns:a16="http://schemas.microsoft.com/office/drawing/2014/main" id="{053E819B-BBA3-AE44-91A9-FB62577EE211}"/>
              </a:ext>
            </a:extLst>
          </p:cNvPr>
          <p:cNvSpPr/>
          <p:nvPr/>
        </p:nvSpPr>
        <p:spPr>
          <a:xfrm>
            <a:off x="508000" y="1066800"/>
            <a:ext cx="4826000" cy="355600"/>
          </a:xfrm>
          <a:prstGeom prst="roundRect">
            <a:avLst/>
          </a:prstGeom>
          <a:solidFill>
            <a:schemeClr val="bg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indent="0" algn="ctr">
              <a:buNone/>
            </a:pPr>
            <a:r>
              <a:rPr lang="en-US" sz="1600" b="1" dirty="0">
                <a:solidFill>
                  <a:srgbClr val="2D1B69"/>
                </a:solidFill>
                <a:latin typeface="Calibri" pitchFamily="34" charset="0"/>
              </a:rPr>
              <a:t>Background</a:t>
            </a:r>
            <a:endParaRPr lang="en-US" sz="1600" b="1" dirty="0">
              <a:solidFill>
                <a:srgbClr val="9986DE"/>
              </a:solidFill>
              <a:latin typeface="Calibri" pitchFamily="34" charset="0"/>
            </a:endParaRPr>
          </a:p>
        </p:txBody>
      </p:sp>
      <p:sp>
        <p:nvSpPr>
          <p:cNvPr id="5" name="ProblemBox">
            <a:extLst>
              <a:ext uri="{FF2B5EF4-FFF2-40B4-BE49-F238E27FC236}">
                <a16:creationId xmlns:a16="http://schemas.microsoft.com/office/drawing/2014/main" id="{B32A1A05-366E-C24C-A516-31714C665009}"/>
              </a:ext>
            </a:extLst>
          </p:cNvPr>
          <p:cNvSpPr/>
          <p:nvPr/>
        </p:nvSpPr>
        <p:spPr>
          <a:xfrm>
            <a:off x="508000" y="3454400"/>
            <a:ext cx="4826000" cy="1016000"/>
          </a:xfrm>
          <a:prstGeom prst="roundRect">
            <a:avLst/>
          </a:prstGeom>
          <a:solidFill>
            <a:srgbClr val="3B2C6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indent="0">
              <a:spcAft>
                <a:spcPts val="400"/>
              </a:spcAft>
              <a:buNone/>
            </a:pPr>
            <a:r>
              <a:rPr lang="en-US" sz="1200" b="1" spc="100" dirty="0">
                <a:solidFill>
                  <a:schemeClr val="bg1"/>
                </a:solidFill>
                <a:latin typeface="Calibri" pitchFamily="34" charset="0"/>
              </a:rPr>
              <a:t>PROBLEM STATEMENT</a:t>
            </a:r>
          </a:p>
          <a:p>
            <a:pPr algn="just">
              <a:lnSpc>
                <a:spcPct val="115000"/>
              </a:lnSpc>
            </a:pPr>
            <a:r>
              <a:rPr lang="en-US" sz="1600" dirty="0"/>
              <a:t>Can Indonesia's egg prices be forecast reliably enough to support procurement and policy decisions?</a:t>
            </a:r>
            <a:endParaRPr lang="en-US" sz="1600" dirty="0">
              <a:solidFill>
                <a:srgbClr val="F0EDFA"/>
              </a:solidFill>
            </a:endParaRPr>
          </a:p>
        </p:txBody>
      </p:sp>
      <p:sp>
        <p:nvSpPr>
          <p:cNvPr id="2" name="ProblemBox">
            <a:extLst>
              <a:ext uri="{FF2B5EF4-FFF2-40B4-BE49-F238E27FC236}">
                <a16:creationId xmlns:a16="http://schemas.microsoft.com/office/drawing/2014/main" id="{524A6E9B-7DCE-C19B-08C6-72F64B50B33D}"/>
              </a:ext>
            </a:extLst>
          </p:cNvPr>
          <p:cNvSpPr/>
          <p:nvPr/>
        </p:nvSpPr>
        <p:spPr>
          <a:xfrm>
            <a:off x="5589335" y="3454400"/>
            <a:ext cx="3453065" cy="1270000"/>
          </a:xfrm>
          <a:prstGeom prst="roundRect">
            <a:avLst/>
          </a:prstGeom>
          <a:solidFill>
            <a:srgbClr val="3B2C6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marL="0" indent="0">
              <a:spcAft>
                <a:spcPts val="300"/>
              </a:spcAft>
              <a:buNone/>
            </a:pPr>
            <a:r>
              <a:rPr lang="en-US" sz="1000" b="1" spc="100" dirty="0">
                <a:solidFill>
                  <a:schemeClr val="bg1"/>
                </a:solidFill>
                <a:latin typeface="Calibri" pitchFamily="34" charset="0"/>
              </a:rPr>
              <a:t>Sub-Questions:</a:t>
            </a:r>
          </a:p>
          <a:p>
            <a:pPr marL="228600" indent="-228600" algn="just">
              <a:lnSpc>
                <a:spcPct val="108000"/>
              </a:lnSpc>
              <a:buFont typeface="+mj-lt"/>
              <a:buAutoNum type="arabicPeriod"/>
            </a:pPr>
            <a:r>
              <a:rPr lang="en-US" sz="1050" dirty="0"/>
              <a:t>What does Indonesia's egg price behavior look like? </a:t>
            </a:r>
          </a:p>
          <a:p>
            <a:pPr marL="228600" indent="-228600" algn="just">
              <a:lnSpc>
                <a:spcPct val="108000"/>
              </a:lnSpc>
              <a:buFont typeface="+mj-lt"/>
              <a:buAutoNum type="arabicPeriod"/>
            </a:pPr>
            <a:r>
              <a:rPr lang="en-US" sz="1050" dirty="0"/>
              <a:t>How much of price volatility can a statistical model actually predict?</a:t>
            </a:r>
          </a:p>
          <a:p>
            <a:pPr marL="228600" indent="-228600" algn="just">
              <a:lnSpc>
                <a:spcPct val="108000"/>
              </a:lnSpc>
              <a:buFont typeface="+mj-lt"/>
              <a:buAutoNum type="arabicPeriod"/>
            </a:pPr>
            <a:r>
              <a:rPr lang="en-US" sz="1050" dirty="0"/>
              <a:t>What happens when the forecast is tested against a real, unseen outcome?</a:t>
            </a:r>
            <a:endParaRPr lang="en-US" sz="1050" dirty="0">
              <a:solidFill>
                <a:srgbClr val="F0EDFA"/>
              </a:solidFill>
            </a:endParaRPr>
          </a:p>
        </p:txBody>
      </p:sp>
    </p:spTree>
    <p:extLst>
      <p:ext uri="{BB962C8B-B14F-4D97-AF65-F5344CB8AC3E}">
        <p14:creationId xmlns:p14="http://schemas.microsoft.com/office/powerpoint/2010/main" val="17568208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2D1B69"/>
        </a:solidFill>
        <a:effectLst/>
      </p:bgPr>
    </p:bg>
    <p:spTree>
      <p:nvGrpSpPr>
        <p:cNvPr id="1" name=""/>
        <p:cNvGrpSpPr/>
        <p:nvPr/>
      </p:nvGrpSpPr>
      <p:grpSpPr>
        <a:xfrm>
          <a:off x="0" y="0"/>
          <a:ext cx="0" cy="0"/>
          <a:chOff x="0" y="0"/>
          <a:chExt cx="0" cy="0"/>
        </a:xfrm>
      </p:grpSpPr>
      <p:sp>
        <p:nvSpPr>
          <p:cNvPr id="3" name="Text 1"/>
          <p:cNvSpPr/>
          <p:nvPr/>
        </p:nvSpPr>
        <p:spPr>
          <a:xfrm>
            <a:off x="521208" y="986576"/>
            <a:ext cx="8229600" cy="274320"/>
          </a:xfrm>
          <a:prstGeom prst="rect">
            <a:avLst/>
          </a:prstGeom>
          <a:noFill/>
          <a:ln/>
        </p:spPr>
        <p:txBody>
          <a:bodyPr wrap="square" lIns="0" tIns="0" rIns="0" bIns="0" rtlCol="0" anchor="ctr"/>
          <a:lstStyle/>
          <a:p>
            <a:pPr marL="0" indent="0">
              <a:buNone/>
            </a:pPr>
            <a:r>
              <a:rPr lang="en-US" sz="1200" dirty="0">
                <a:solidFill>
                  <a:srgbClr val="C9BCE8"/>
                </a:solidFill>
                <a:latin typeface="Calibri" pitchFamily="34" charset="0"/>
                <a:ea typeface="Calibri" pitchFamily="34" charset="-122"/>
                <a:cs typeface="Calibri" pitchFamily="34" charset="-120"/>
              </a:rPr>
              <a:t>WFP Global Food Prices dataset | Source: World Food </a:t>
            </a:r>
            <a:r>
              <a:rPr lang="en-US" sz="1200" dirty="0" err="1">
                <a:solidFill>
                  <a:srgbClr val="C9BCE8"/>
                </a:solidFill>
                <a:latin typeface="Calibri" pitchFamily="34" charset="0"/>
                <a:ea typeface="Calibri" pitchFamily="34" charset="-122"/>
                <a:cs typeface="Calibri" pitchFamily="34" charset="-120"/>
              </a:rPr>
              <a:t>Programme</a:t>
            </a:r>
            <a:r>
              <a:rPr lang="en-US" sz="1200" dirty="0">
                <a:solidFill>
                  <a:srgbClr val="C9BCE8"/>
                </a:solidFill>
                <a:latin typeface="Calibri" pitchFamily="34" charset="0"/>
                <a:ea typeface="Calibri" pitchFamily="34" charset="-122"/>
                <a:cs typeface="Calibri" pitchFamily="34" charset="-120"/>
              </a:rPr>
              <a:t> (HDX) </a:t>
            </a:r>
            <a:r>
              <a:rPr lang="en-US" sz="1200" i="1" dirty="0">
                <a:solidFill>
                  <a:srgbClr val="C9BCE8"/>
                </a:solidFill>
                <a:latin typeface="Calibri" pitchFamily="34" charset="0"/>
                <a:ea typeface="Calibri" pitchFamily="34" charset="-122"/>
                <a:cs typeface="Calibri" pitchFamily="34" charset="-120"/>
                <a:hlinkClick r:id="rId3"/>
              </a:rPr>
              <a:t>link</a:t>
            </a:r>
            <a:endParaRPr lang="en-US" sz="1200" i="1" dirty="0">
              <a:solidFill>
                <a:srgbClr val="C9BCE8"/>
              </a:solidFill>
              <a:latin typeface="Calibri" pitchFamily="34" charset="0"/>
              <a:ea typeface="Calibri" pitchFamily="34" charset="-122"/>
              <a:cs typeface="Calibri" pitchFamily="34" charset="-120"/>
            </a:endParaRPr>
          </a:p>
          <a:p>
            <a:pPr marL="0" indent="0">
              <a:buNone/>
            </a:pPr>
            <a:r>
              <a:rPr lang="en-US" sz="1200" dirty="0">
                <a:solidFill>
                  <a:srgbClr val="C9BCE8"/>
                </a:solidFill>
                <a:latin typeface="Calibri" pitchFamily="34" charset="0"/>
                <a:ea typeface="Calibri" pitchFamily="34" charset="-122"/>
                <a:cs typeface="Calibri" pitchFamily="34" charset="-120"/>
              </a:rPr>
              <a:t>Collection method: Officers were deployed to gather direct records from the field</a:t>
            </a:r>
          </a:p>
          <a:p>
            <a:pPr marL="0" indent="0">
              <a:buNone/>
            </a:pPr>
            <a:endParaRPr lang="en-US" sz="1200" i="1" dirty="0"/>
          </a:p>
        </p:txBody>
      </p:sp>
      <p:sp>
        <p:nvSpPr>
          <p:cNvPr id="4" name="Shape 2"/>
          <p:cNvSpPr/>
          <p:nvPr/>
        </p:nvSpPr>
        <p:spPr>
          <a:xfrm>
            <a:off x="1389888" y="1429083"/>
            <a:ext cx="1993392" cy="868680"/>
          </a:xfrm>
          <a:prstGeom prst="roundRect">
            <a:avLst>
              <a:gd name="adj" fmla="val 10526"/>
            </a:avLst>
          </a:prstGeom>
          <a:solidFill>
            <a:srgbClr val="3B2C6E"/>
          </a:solidFill>
          <a:ln/>
          <a:effectLst>
            <a:outerShdw blurRad="88900" dist="38100" dir="5400000" algn="bl" rotWithShape="0">
              <a:srgbClr val="1A0F40">
                <a:alpha val="35000"/>
              </a:srgbClr>
            </a:outerShdw>
          </a:effectLst>
        </p:spPr>
        <p:txBody>
          <a:bodyPr/>
          <a:lstStyle/>
          <a:p>
            <a:endParaRPr lang="en-US"/>
          </a:p>
        </p:txBody>
      </p:sp>
      <p:sp>
        <p:nvSpPr>
          <p:cNvPr id="5" name="Text 3"/>
          <p:cNvSpPr/>
          <p:nvPr/>
        </p:nvSpPr>
        <p:spPr>
          <a:xfrm>
            <a:off x="1389888" y="1547955"/>
            <a:ext cx="1993392" cy="411480"/>
          </a:xfrm>
          <a:prstGeom prst="rect">
            <a:avLst/>
          </a:prstGeom>
          <a:noFill/>
          <a:ln/>
        </p:spPr>
        <p:txBody>
          <a:bodyPr wrap="square" lIns="0" tIns="0" rIns="0" bIns="0" rtlCol="0" anchor="ctr"/>
          <a:lstStyle/>
          <a:p>
            <a:pPr marL="0" indent="0" algn="ctr">
              <a:buNone/>
            </a:pPr>
            <a:r>
              <a:rPr lang="en-US" sz="2300" b="1" dirty="0">
                <a:solidFill>
                  <a:srgbClr val="FFFFFF"/>
                </a:solidFill>
                <a:latin typeface="Cambria" pitchFamily="34" charset="0"/>
                <a:ea typeface="Cambria" pitchFamily="34" charset="-122"/>
                <a:cs typeface="Cambria" pitchFamily="34" charset="-120"/>
              </a:rPr>
              <a:t>1,847,522</a:t>
            </a:r>
          </a:p>
        </p:txBody>
      </p:sp>
      <p:sp>
        <p:nvSpPr>
          <p:cNvPr id="6" name="Text 4"/>
          <p:cNvSpPr/>
          <p:nvPr/>
        </p:nvSpPr>
        <p:spPr>
          <a:xfrm>
            <a:off x="1389888" y="1977723"/>
            <a:ext cx="1993392" cy="274320"/>
          </a:xfrm>
          <a:prstGeom prst="rect">
            <a:avLst/>
          </a:prstGeom>
          <a:noFill/>
          <a:ln/>
        </p:spPr>
        <p:txBody>
          <a:bodyPr wrap="square" lIns="0" tIns="0" rIns="0" bIns="0" rtlCol="0" anchor="ctr"/>
          <a:lstStyle/>
          <a:p>
            <a:pPr marL="0" indent="0" algn="ctr">
              <a:buNone/>
            </a:pPr>
            <a:r>
              <a:rPr lang="en-US" sz="1050" dirty="0">
                <a:solidFill>
                  <a:srgbClr val="C9BCE8"/>
                </a:solidFill>
                <a:latin typeface="Calibri" pitchFamily="34" charset="0"/>
                <a:ea typeface="Calibri" pitchFamily="34" charset="-122"/>
                <a:cs typeface="Calibri" pitchFamily="34" charset="-120"/>
              </a:rPr>
              <a:t>Rows Observations</a:t>
            </a:r>
            <a:endParaRPr lang="en-US" sz="1050" dirty="0"/>
          </a:p>
        </p:txBody>
      </p:sp>
      <p:sp>
        <p:nvSpPr>
          <p:cNvPr id="7" name="Shape 5"/>
          <p:cNvSpPr/>
          <p:nvPr/>
        </p:nvSpPr>
        <p:spPr>
          <a:xfrm>
            <a:off x="3575304" y="1429083"/>
            <a:ext cx="1993392" cy="868680"/>
          </a:xfrm>
          <a:prstGeom prst="roundRect">
            <a:avLst>
              <a:gd name="adj" fmla="val 10526"/>
            </a:avLst>
          </a:prstGeom>
          <a:solidFill>
            <a:srgbClr val="3B2C6E"/>
          </a:solidFill>
          <a:ln/>
          <a:effectLst>
            <a:outerShdw blurRad="88900" dist="38100" dir="5400000" algn="bl" rotWithShape="0">
              <a:srgbClr val="1A0F40">
                <a:alpha val="35000"/>
              </a:srgbClr>
            </a:outerShdw>
          </a:effectLst>
        </p:spPr>
        <p:txBody>
          <a:bodyPr/>
          <a:lstStyle/>
          <a:p>
            <a:endParaRPr lang="en-US"/>
          </a:p>
        </p:txBody>
      </p:sp>
      <p:sp>
        <p:nvSpPr>
          <p:cNvPr id="8" name="Text 6"/>
          <p:cNvSpPr/>
          <p:nvPr/>
        </p:nvSpPr>
        <p:spPr>
          <a:xfrm>
            <a:off x="3575304" y="1547955"/>
            <a:ext cx="1993392" cy="411480"/>
          </a:xfrm>
          <a:prstGeom prst="rect">
            <a:avLst/>
          </a:prstGeom>
          <a:noFill/>
          <a:ln/>
        </p:spPr>
        <p:txBody>
          <a:bodyPr wrap="square" lIns="0" tIns="0" rIns="0" bIns="0" rtlCol="0" anchor="ctr"/>
          <a:lstStyle/>
          <a:p>
            <a:pPr marL="0" indent="0" algn="ctr">
              <a:buNone/>
            </a:pPr>
            <a:r>
              <a:rPr lang="en-US" sz="2300" b="1" dirty="0">
                <a:solidFill>
                  <a:srgbClr val="FFFFFF"/>
                </a:solidFill>
                <a:latin typeface="Cambria" pitchFamily="34" charset="0"/>
                <a:ea typeface="Cambria" pitchFamily="34" charset="-122"/>
                <a:cs typeface="Cambria" pitchFamily="34" charset="-120"/>
              </a:rPr>
              <a:t>16</a:t>
            </a:r>
            <a:endParaRPr lang="en-US" sz="2300" dirty="0"/>
          </a:p>
        </p:txBody>
      </p:sp>
      <p:sp>
        <p:nvSpPr>
          <p:cNvPr id="9" name="Text 7"/>
          <p:cNvSpPr/>
          <p:nvPr/>
        </p:nvSpPr>
        <p:spPr>
          <a:xfrm>
            <a:off x="3575304" y="1977723"/>
            <a:ext cx="1993392" cy="274320"/>
          </a:xfrm>
          <a:prstGeom prst="rect">
            <a:avLst/>
          </a:prstGeom>
          <a:noFill/>
          <a:ln/>
        </p:spPr>
        <p:txBody>
          <a:bodyPr wrap="square" lIns="0" tIns="0" rIns="0" bIns="0" rtlCol="0" anchor="ctr"/>
          <a:lstStyle/>
          <a:p>
            <a:pPr marL="0" indent="0" algn="ctr">
              <a:buNone/>
            </a:pPr>
            <a:r>
              <a:rPr lang="en-US" sz="1050">
                <a:solidFill>
                  <a:srgbClr val="C9BCE8"/>
                </a:solidFill>
                <a:latin typeface="Calibri" pitchFamily="34" charset="0"/>
                <a:ea typeface="Calibri" pitchFamily="34" charset="-122"/>
                <a:cs typeface="Calibri" pitchFamily="34" charset="-120"/>
              </a:rPr>
              <a:t>Columns / Features</a:t>
            </a:r>
            <a:endParaRPr lang="en-US" sz="1050" dirty="0"/>
          </a:p>
        </p:txBody>
      </p:sp>
      <p:sp>
        <p:nvSpPr>
          <p:cNvPr id="10" name="Shape 8"/>
          <p:cNvSpPr/>
          <p:nvPr/>
        </p:nvSpPr>
        <p:spPr>
          <a:xfrm>
            <a:off x="5760720" y="1429083"/>
            <a:ext cx="1993392" cy="868680"/>
          </a:xfrm>
          <a:prstGeom prst="roundRect">
            <a:avLst>
              <a:gd name="adj" fmla="val 10526"/>
            </a:avLst>
          </a:prstGeom>
          <a:solidFill>
            <a:srgbClr val="3B2C6E"/>
          </a:solidFill>
          <a:ln/>
          <a:effectLst>
            <a:outerShdw blurRad="88900" dist="38100" dir="5400000" algn="bl" rotWithShape="0">
              <a:srgbClr val="1A0F40">
                <a:alpha val="35000"/>
              </a:srgbClr>
            </a:outerShdw>
          </a:effectLst>
        </p:spPr>
        <p:txBody>
          <a:bodyPr/>
          <a:lstStyle/>
          <a:p>
            <a:endParaRPr lang="en-US"/>
          </a:p>
        </p:txBody>
      </p:sp>
      <p:sp>
        <p:nvSpPr>
          <p:cNvPr id="11" name="Text 9"/>
          <p:cNvSpPr/>
          <p:nvPr/>
        </p:nvSpPr>
        <p:spPr>
          <a:xfrm>
            <a:off x="5760720" y="1547955"/>
            <a:ext cx="1993392" cy="411480"/>
          </a:xfrm>
          <a:prstGeom prst="rect">
            <a:avLst/>
          </a:prstGeom>
          <a:noFill/>
          <a:ln/>
        </p:spPr>
        <p:txBody>
          <a:bodyPr wrap="square" lIns="0" tIns="0" rIns="0" bIns="0" rtlCol="0" anchor="ctr"/>
          <a:lstStyle/>
          <a:p>
            <a:pPr marL="0" indent="0" algn="ctr">
              <a:buNone/>
            </a:pPr>
            <a:r>
              <a:rPr lang="en-US" sz="2300" b="1" dirty="0">
                <a:solidFill>
                  <a:srgbClr val="FFFFFF"/>
                </a:solidFill>
                <a:latin typeface="Cambria" pitchFamily="34" charset="0"/>
              </a:rPr>
              <a:t>4</a:t>
            </a:r>
            <a:endParaRPr lang="en-US" sz="2300" dirty="0"/>
          </a:p>
        </p:txBody>
      </p:sp>
      <p:sp>
        <p:nvSpPr>
          <p:cNvPr id="12" name="Text 10"/>
          <p:cNvSpPr/>
          <p:nvPr/>
        </p:nvSpPr>
        <p:spPr>
          <a:xfrm>
            <a:off x="5760720" y="1977723"/>
            <a:ext cx="1993392" cy="274320"/>
          </a:xfrm>
          <a:prstGeom prst="rect">
            <a:avLst/>
          </a:prstGeom>
          <a:noFill/>
          <a:ln/>
        </p:spPr>
        <p:txBody>
          <a:bodyPr wrap="square" lIns="0" tIns="0" rIns="0" bIns="0" rtlCol="0" anchor="ctr"/>
          <a:lstStyle/>
          <a:p>
            <a:pPr marL="0" indent="0" algn="ctr">
              <a:buNone/>
            </a:pPr>
            <a:r>
              <a:rPr lang="en-US" sz="1050" dirty="0">
                <a:solidFill>
                  <a:srgbClr val="C9BCE8"/>
                </a:solidFill>
                <a:latin typeface="Calibri" pitchFamily="34" charset="0"/>
                <a:cs typeface="Calibri" pitchFamily="34" charset="-120"/>
              </a:rPr>
              <a:t>Years</a:t>
            </a:r>
          </a:p>
          <a:p>
            <a:pPr marL="0" indent="0" algn="ctr">
              <a:buNone/>
            </a:pPr>
            <a:r>
              <a:rPr lang="en-US" sz="1050" dirty="0">
                <a:solidFill>
                  <a:srgbClr val="C9BCE8"/>
                </a:solidFill>
                <a:latin typeface="Calibri" pitchFamily="34" charset="0"/>
                <a:cs typeface="Calibri" pitchFamily="34" charset="-120"/>
              </a:rPr>
              <a:t>2022–2025</a:t>
            </a:r>
            <a:endParaRPr lang="en-US" sz="1050" dirty="0"/>
          </a:p>
        </p:txBody>
      </p:sp>
      <p:sp>
        <p:nvSpPr>
          <p:cNvPr id="16" name="Text 14"/>
          <p:cNvSpPr/>
          <p:nvPr/>
        </p:nvSpPr>
        <p:spPr>
          <a:xfrm>
            <a:off x="521208" y="2407491"/>
            <a:ext cx="4572000" cy="3200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Key Columns</a:t>
            </a:r>
            <a:endParaRPr lang="en-US" sz="1500" dirty="0"/>
          </a:p>
        </p:txBody>
      </p:sp>
      <p:sp>
        <p:nvSpPr>
          <p:cNvPr id="17" name="Shape 15"/>
          <p:cNvSpPr/>
          <p:nvPr/>
        </p:nvSpPr>
        <p:spPr>
          <a:xfrm>
            <a:off x="502920" y="2860119"/>
            <a:ext cx="3977640" cy="658368"/>
          </a:xfrm>
          <a:prstGeom prst="roundRect">
            <a:avLst>
              <a:gd name="adj" fmla="val 13889"/>
            </a:avLst>
          </a:prstGeom>
          <a:solidFill>
            <a:srgbClr val="FFFFFF"/>
          </a:solidFill>
          <a:ln/>
          <a:effectLst>
            <a:outerShdw blurRad="88900" dist="38100" dir="5400000" algn="bl" rotWithShape="0">
              <a:srgbClr val="1A0F40">
                <a:alpha val="35000"/>
              </a:srgbClr>
            </a:outerShdw>
          </a:effectLst>
        </p:spPr>
        <p:txBody>
          <a:bodyPr/>
          <a:lstStyle/>
          <a:p>
            <a:endParaRPr lang="en-US"/>
          </a:p>
        </p:txBody>
      </p:sp>
      <p:sp>
        <p:nvSpPr>
          <p:cNvPr id="18" name="Shape 16"/>
          <p:cNvSpPr/>
          <p:nvPr/>
        </p:nvSpPr>
        <p:spPr>
          <a:xfrm>
            <a:off x="667512" y="3006423"/>
            <a:ext cx="960120" cy="365760"/>
          </a:xfrm>
          <a:prstGeom prst="roundRect">
            <a:avLst>
              <a:gd name="adj" fmla="val 20000"/>
            </a:avLst>
          </a:prstGeom>
          <a:solidFill>
            <a:srgbClr val="5A3FA0"/>
          </a:solidFill>
          <a:ln/>
        </p:spPr>
        <p:txBody>
          <a:bodyPr/>
          <a:lstStyle/>
          <a:p>
            <a:endParaRPr lang="en-US"/>
          </a:p>
        </p:txBody>
      </p:sp>
      <p:sp>
        <p:nvSpPr>
          <p:cNvPr id="19" name="Text 17"/>
          <p:cNvSpPr/>
          <p:nvPr/>
        </p:nvSpPr>
        <p:spPr>
          <a:xfrm>
            <a:off x="667512" y="3006423"/>
            <a:ext cx="960120" cy="36576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Dimension</a:t>
            </a:r>
            <a:endParaRPr lang="en-US" sz="900" dirty="0"/>
          </a:p>
        </p:txBody>
      </p:sp>
      <p:sp>
        <p:nvSpPr>
          <p:cNvPr id="20" name="Text 18"/>
          <p:cNvSpPr/>
          <p:nvPr/>
        </p:nvSpPr>
        <p:spPr>
          <a:xfrm>
            <a:off x="1737360" y="2951559"/>
            <a:ext cx="2606040" cy="274320"/>
          </a:xfrm>
          <a:prstGeom prst="rect">
            <a:avLst/>
          </a:prstGeom>
          <a:noFill/>
          <a:ln/>
        </p:spPr>
        <p:txBody>
          <a:bodyPr wrap="square" lIns="0" tIns="0" rIns="0" bIns="0" rtlCol="0" anchor="ctr"/>
          <a:lstStyle/>
          <a:p>
            <a:pPr marL="0" indent="0">
              <a:buNone/>
            </a:pPr>
            <a:r>
              <a:rPr lang="en-US" sz="1150" b="1" dirty="0">
                <a:solidFill>
                  <a:srgbClr val="2D1B69"/>
                </a:solidFill>
                <a:latin typeface="Calibri" pitchFamily="34" charset="0"/>
                <a:ea typeface="Calibri" pitchFamily="34" charset="-122"/>
                <a:cs typeface="Calibri" pitchFamily="34" charset="-120"/>
              </a:rPr>
              <a:t>date</a:t>
            </a:r>
            <a:endParaRPr lang="en-US" sz="1150" dirty="0"/>
          </a:p>
        </p:txBody>
      </p:sp>
      <p:sp>
        <p:nvSpPr>
          <p:cNvPr id="21" name="Text 19"/>
          <p:cNvSpPr/>
          <p:nvPr/>
        </p:nvSpPr>
        <p:spPr>
          <a:xfrm>
            <a:off x="1737360" y="3207591"/>
            <a:ext cx="2606040" cy="256032"/>
          </a:xfrm>
          <a:prstGeom prst="rect">
            <a:avLst/>
          </a:prstGeom>
          <a:noFill/>
          <a:ln/>
        </p:spPr>
        <p:txBody>
          <a:bodyPr wrap="square" lIns="0" tIns="0" rIns="0" bIns="0" rtlCol="0" anchor="ctr"/>
          <a:lstStyle/>
          <a:p>
            <a:pPr marL="0" indent="0">
              <a:buNone/>
            </a:pPr>
            <a:r>
              <a:rPr lang="en-US" sz="950">
                <a:solidFill>
                  <a:srgbClr val="6E6E80"/>
                </a:solidFill>
                <a:latin typeface="Calibri" pitchFamily="34" charset="0"/>
                <a:ea typeface="Calibri" pitchFamily="34" charset="-122"/>
                <a:cs typeface="Calibri" pitchFamily="34" charset="-120"/>
              </a:rPr>
              <a:t>Monthly price observation date</a:t>
            </a:r>
            <a:endParaRPr lang="en-US" sz="950" dirty="0"/>
          </a:p>
        </p:txBody>
      </p:sp>
      <p:sp>
        <p:nvSpPr>
          <p:cNvPr id="22" name="Shape 20"/>
          <p:cNvSpPr/>
          <p:nvPr/>
        </p:nvSpPr>
        <p:spPr>
          <a:xfrm>
            <a:off x="4663440" y="2860119"/>
            <a:ext cx="3977640" cy="658368"/>
          </a:xfrm>
          <a:prstGeom prst="roundRect">
            <a:avLst>
              <a:gd name="adj" fmla="val 13889"/>
            </a:avLst>
          </a:prstGeom>
          <a:solidFill>
            <a:srgbClr val="FFFFFF"/>
          </a:solidFill>
          <a:ln/>
          <a:effectLst>
            <a:outerShdw blurRad="88900" dist="38100" dir="5400000" algn="bl" rotWithShape="0">
              <a:srgbClr val="1A0F40">
                <a:alpha val="35000"/>
              </a:srgbClr>
            </a:outerShdw>
          </a:effectLst>
        </p:spPr>
        <p:txBody>
          <a:bodyPr/>
          <a:lstStyle/>
          <a:p>
            <a:endParaRPr lang="en-US"/>
          </a:p>
        </p:txBody>
      </p:sp>
      <p:sp>
        <p:nvSpPr>
          <p:cNvPr id="23" name="Shape 21"/>
          <p:cNvSpPr/>
          <p:nvPr/>
        </p:nvSpPr>
        <p:spPr>
          <a:xfrm>
            <a:off x="4828032" y="3006423"/>
            <a:ext cx="960120" cy="365760"/>
          </a:xfrm>
          <a:prstGeom prst="roundRect">
            <a:avLst>
              <a:gd name="adj" fmla="val 20000"/>
            </a:avLst>
          </a:prstGeom>
          <a:solidFill>
            <a:srgbClr val="5A3FA0"/>
          </a:solidFill>
          <a:ln/>
        </p:spPr>
        <p:txBody>
          <a:bodyPr/>
          <a:lstStyle/>
          <a:p>
            <a:endParaRPr lang="en-US"/>
          </a:p>
        </p:txBody>
      </p:sp>
      <p:sp>
        <p:nvSpPr>
          <p:cNvPr id="24" name="Text 22"/>
          <p:cNvSpPr/>
          <p:nvPr/>
        </p:nvSpPr>
        <p:spPr>
          <a:xfrm>
            <a:off x="4828032" y="3006423"/>
            <a:ext cx="960120" cy="36576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Dimension</a:t>
            </a:r>
            <a:endParaRPr lang="en-US" sz="900" dirty="0"/>
          </a:p>
        </p:txBody>
      </p:sp>
      <p:sp>
        <p:nvSpPr>
          <p:cNvPr id="25" name="Text 23"/>
          <p:cNvSpPr/>
          <p:nvPr/>
        </p:nvSpPr>
        <p:spPr>
          <a:xfrm>
            <a:off x="5897880" y="2951559"/>
            <a:ext cx="2606040" cy="274320"/>
          </a:xfrm>
          <a:prstGeom prst="rect">
            <a:avLst/>
          </a:prstGeom>
          <a:noFill/>
          <a:ln/>
        </p:spPr>
        <p:txBody>
          <a:bodyPr wrap="square" lIns="0" tIns="0" rIns="0" bIns="0" rtlCol="0" anchor="ctr"/>
          <a:lstStyle/>
          <a:p>
            <a:pPr marL="0" indent="0">
              <a:buNone/>
            </a:pPr>
            <a:r>
              <a:rPr lang="en-US" sz="1150" b="1" dirty="0">
                <a:solidFill>
                  <a:srgbClr val="2D1B69"/>
                </a:solidFill>
                <a:latin typeface="Calibri" pitchFamily="34" charset="0"/>
                <a:ea typeface="Calibri" pitchFamily="34" charset="-122"/>
                <a:cs typeface="Calibri" pitchFamily="34" charset="-120"/>
              </a:rPr>
              <a:t>market</a:t>
            </a:r>
            <a:endParaRPr lang="en-US" sz="1150" dirty="0"/>
          </a:p>
        </p:txBody>
      </p:sp>
      <p:sp>
        <p:nvSpPr>
          <p:cNvPr id="26" name="Text 24"/>
          <p:cNvSpPr/>
          <p:nvPr/>
        </p:nvSpPr>
        <p:spPr>
          <a:xfrm>
            <a:off x="5897880" y="3207591"/>
            <a:ext cx="2606040" cy="256032"/>
          </a:xfrm>
          <a:prstGeom prst="rect">
            <a:avLst/>
          </a:prstGeom>
          <a:noFill/>
          <a:ln/>
        </p:spPr>
        <p:txBody>
          <a:bodyPr wrap="square" lIns="0" tIns="0" rIns="0" bIns="0" rtlCol="0" anchor="ctr"/>
          <a:lstStyle/>
          <a:p>
            <a:pPr marL="0" indent="0">
              <a:buNone/>
            </a:pPr>
            <a:r>
              <a:rPr lang="en-US" sz="950">
                <a:solidFill>
                  <a:srgbClr val="6E6E80"/>
                </a:solidFill>
                <a:latin typeface="Calibri" pitchFamily="34" charset="0"/>
                <a:ea typeface="Calibri" pitchFamily="34" charset="-122"/>
                <a:cs typeface="Calibri" pitchFamily="34" charset="-120"/>
              </a:rPr>
              <a:t>Market name (province/city level)</a:t>
            </a:r>
            <a:endParaRPr lang="en-US" sz="950" dirty="0"/>
          </a:p>
        </p:txBody>
      </p:sp>
      <p:sp>
        <p:nvSpPr>
          <p:cNvPr id="27" name="Shape 25"/>
          <p:cNvSpPr/>
          <p:nvPr/>
        </p:nvSpPr>
        <p:spPr>
          <a:xfrm>
            <a:off x="502920" y="3628215"/>
            <a:ext cx="3977640" cy="658368"/>
          </a:xfrm>
          <a:prstGeom prst="roundRect">
            <a:avLst>
              <a:gd name="adj" fmla="val 13889"/>
            </a:avLst>
          </a:prstGeom>
          <a:solidFill>
            <a:srgbClr val="FFFFFF"/>
          </a:solidFill>
          <a:ln/>
          <a:effectLst>
            <a:outerShdw blurRad="88900" dist="38100" dir="5400000" algn="bl" rotWithShape="0">
              <a:srgbClr val="1A0F40">
                <a:alpha val="35000"/>
              </a:srgbClr>
            </a:outerShdw>
          </a:effectLst>
        </p:spPr>
        <p:txBody>
          <a:bodyPr/>
          <a:lstStyle/>
          <a:p>
            <a:endParaRPr lang="en-US"/>
          </a:p>
        </p:txBody>
      </p:sp>
      <p:sp>
        <p:nvSpPr>
          <p:cNvPr id="28" name="Shape 26"/>
          <p:cNvSpPr/>
          <p:nvPr/>
        </p:nvSpPr>
        <p:spPr>
          <a:xfrm>
            <a:off x="667512" y="3774519"/>
            <a:ext cx="960120" cy="365760"/>
          </a:xfrm>
          <a:prstGeom prst="roundRect">
            <a:avLst>
              <a:gd name="adj" fmla="val 20000"/>
            </a:avLst>
          </a:prstGeom>
          <a:solidFill>
            <a:srgbClr val="5A3FA0"/>
          </a:solidFill>
          <a:ln/>
        </p:spPr>
        <p:txBody>
          <a:bodyPr/>
          <a:lstStyle/>
          <a:p>
            <a:endParaRPr lang="en-US"/>
          </a:p>
        </p:txBody>
      </p:sp>
      <p:sp>
        <p:nvSpPr>
          <p:cNvPr id="29" name="Text 27"/>
          <p:cNvSpPr/>
          <p:nvPr/>
        </p:nvSpPr>
        <p:spPr>
          <a:xfrm>
            <a:off x="667512" y="3774519"/>
            <a:ext cx="960120" cy="36576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Dimension</a:t>
            </a:r>
            <a:endParaRPr lang="en-US" sz="900" dirty="0"/>
          </a:p>
        </p:txBody>
      </p:sp>
      <p:sp>
        <p:nvSpPr>
          <p:cNvPr id="30" name="Text 28"/>
          <p:cNvSpPr/>
          <p:nvPr/>
        </p:nvSpPr>
        <p:spPr>
          <a:xfrm>
            <a:off x="1737360" y="3719655"/>
            <a:ext cx="2606040" cy="274320"/>
          </a:xfrm>
          <a:prstGeom prst="rect">
            <a:avLst/>
          </a:prstGeom>
          <a:noFill/>
          <a:ln/>
        </p:spPr>
        <p:txBody>
          <a:bodyPr wrap="square" lIns="0" tIns="0" rIns="0" bIns="0" rtlCol="0" anchor="ctr"/>
          <a:lstStyle/>
          <a:p>
            <a:pPr marL="0" indent="0">
              <a:buNone/>
            </a:pPr>
            <a:r>
              <a:rPr lang="en-US" sz="1150" b="1" dirty="0" err="1">
                <a:solidFill>
                  <a:srgbClr val="2D1B69"/>
                </a:solidFill>
                <a:latin typeface="Calibri" pitchFamily="34" charset="0"/>
                <a:cs typeface="Calibri" pitchFamily="34" charset="-120"/>
              </a:rPr>
              <a:t>commodity</a:t>
            </a:r>
            <a:endParaRPr lang="en-US" sz="1150" dirty="0"/>
          </a:p>
        </p:txBody>
      </p:sp>
      <p:sp>
        <p:nvSpPr>
          <p:cNvPr id="31" name="Text 29"/>
          <p:cNvSpPr/>
          <p:nvPr/>
        </p:nvSpPr>
        <p:spPr>
          <a:xfrm>
            <a:off x="1737360" y="3975687"/>
            <a:ext cx="2606040" cy="256032"/>
          </a:xfrm>
          <a:prstGeom prst="rect">
            <a:avLst/>
          </a:prstGeom>
          <a:noFill/>
          <a:ln/>
        </p:spPr>
        <p:txBody>
          <a:bodyPr wrap="square" lIns="0" tIns="0" rIns="0" bIns="0" rtlCol="0" anchor="ctr"/>
          <a:lstStyle/>
          <a:p>
            <a:pPr marL="0" indent="0">
              <a:buNone/>
            </a:pPr>
            <a:r>
              <a:rPr lang="en-US" sz="950" dirty="0">
                <a:solidFill>
                  <a:srgbClr val="6E6E80"/>
                </a:solidFill>
                <a:latin typeface="Calibri" pitchFamily="34" charset="0"/>
                <a:cs typeface="Calibri" pitchFamily="34" charset="-120"/>
              </a:rPr>
              <a:t>Commodity type</a:t>
            </a:r>
            <a:endParaRPr lang="en-US" sz="950" dirty="0"/>
          </a:p>
        </p:txBody>
      </p:sp>
      <p:sp>
        <p:nvSpPr>
          <p:cNvPr id="32" name="Shape 30"/>
          <p:cNvSpPr/>
          <p:nvPr/>
        </p:nvSpPr>
        <p:spPr>
          <a:xfrm>
            <a:off x="4663440" y="3628215"/>
            <a:ext cx="3977640" cy="658368"/>
          </a:xfrm>
          <a:prstGeom prst="roundRect">
            <a:avLst>
              <a:gd name="adj" fmla="val 13889"/>
            </a:avLst>
          </a:prstGeom>
          <a:solidFill>
            <a:srgbClr val="FFFFFF"/>
          </a:solidFill>
          <a:ln/>
          <a:effectLst>
            <a:outerShdw blurRad="88900" dist="38100" dir="5400000" algn="bl" rotWithShape="0">
              <a:srgbClr val="1A0F40">
                <a:alpha val="35000"/>
              </a:srgbClr>
            </a:outerShdw>
          </a:effectLst>
        </p:spPr>
        <p:txBody>
          <a:bodyPr/>
          <a:lstStyle/>
          <a:p>
            <a:endParaRPr lang="en-US"/>
          </a:p>
        </p:txBody>
      </p:sp>
      <p:sp>
        <p:nvSpPr>
          <p:cNvPr id="33" name="Shape 31"/>
          <p:cNvSpPr/>
          <p:nvPr/>
        </p:nvSpPr>
        <p:spPr>
          <a:xfrm>
            <a:off x="4828032" y="3774519"/>
            <a:ext cx="960120" cy="365760"/>
          </a:xfrm>
          <a:prstGeom prst="roundRect">
            <a:avLst>
              <a:gd name="adj" fmla="val 20000"/>
            </a:avLst>
          </a:prstGeom>
          <a:solidFill>
            <a:srgbClr val="B5497E"/>
          </a:solidFill>
          <a:ln/>
        </p:spPr>
        <p:txBody>
          <a:bodyPr/>
          <a:lstStyle/>
          <a:p>
            <a:endParaRPr lang="en-US"/>
          </a:p>
        </p:txBody>
      </p:sp>
      <p:sp>
        <p:nvSpPr>
          <p:cNvPr id="34" name="Text 32"/>
          <p:cNvSpPr/>
          <p:nvPr/>
        </p:nvSpPr>
        <p:spPr>
          <a:xfrm>
            <a:off x="4828032" y="3774519"/>
            <a:ext cx="960120" cy="36576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Measure</a:t>
            </a:r>
            <a:endParaRPr lang="en-US" sz="900" dirty="0"/>
          </a:p>
        </p:txBody>
      </p:sp>
      <p:sp>
        <p:nvSpPr>
          <p:cNvPr id="35" name="Text 33"/>
          <p:cNvSpPr/>
          <p:nvPr/>
        </p:nvSpPr>
        <p:spPr>
          <a:xfrm>
            <a:off x="5897880" y="3719655"/>
            <a:ext cx="2606040" cy="274320"/>
          </a:xfrm>
          <a:prstGeom prst="rect">
            <a:avLst/>
          </a:prstGeom>
          <a:noFill/>
          <a:ln/>
        </p:spPr>
        <p:txBody>
          <a:bodyPr wrap="square" lIns="0" tIns="0" rIns="0" bIns="0" rtlCol="0" anchor="ctr"/>
          <a:lstStyle/>
          <a:p>
            <a:pPr marL="0" indent="0">
              <a:buNone/>
            </a:pPr>
            <a:r>
              <a:rPr lang="en-US" sz="1150" b="1" dirty="0" err="1">
                <a:solidFill>
                  <a:srgbClr val="2D1B69"/>
                </a:solidFill>
                <a:latin typeface="Calibri" pitchFamily="34" charset="0"/>
                <a:ea typeface="Calibri" pitchFamily="34" charset="-122"/>
                <a:cs typeface="Calibri" pitchFamily="34" charset="-120"/>
              </a:rPr>
              <a:t>usdprice</a:t>
            </a:r>
            <a:endParaRPr lang="en-US" sz="1150" dirty="0"/>
          </a:p>
        </p:txBody>
      </p:sp>
      <p:sp>
        <p:nvSpPr>
          <p:cNvPr id="36" name="Text 34"/>
          <p:cNvSpPr/>
          <p:nvPr/>
        </p:nvSpPr>
        <p:spPr>
          <a:xfrm>
            <a:off x="5897880" y="3975687"/>
            <a:ext cx="2606040" cy="256032"/>
          </a:xfrm>
          <a:prstGeom prst="rect">
            <a:avLst/>
          </a:prstGeom>
          <a:noFill/>
          <a:ln/>
        </p:spPr>
        <p:txBody>
          <a:bodyPr wrap="square" lIns="0" tIns="0" rIns="0" bIns="0" rtlCol="0" anchor="ctr"/>
          <a:lstStyle/>
          <a:p>
            <a:pPr marL="0" indent="0">
              <a:buNone/>
            </a:pPr>
            <a:r>
              <a:rPr lang="en-US" sz="950" dirty="0">
                <a:solidFill>
                  <a:srgbClr val="6E6E80"/>
                </a:solidFill>
                <a:latin typeface="Calibri" pitchFamily="34" charset="0"/>
                <a:ea typeface="Calibri" pitchFamily="34" charset="-122"/>
                <a:cs typeface="Calibri" pitchFamily="34" charset="-120"/>
              </a:rPr>
              <a:t>Price per unit in USD</a:t>
            </a:r>
            <a:endParaRPr lang="en-US" sz="950" dirty="0"/>
          </a:p>
        </p:txBody>
      </p:sp>
      <p:pic>
        <p:nvPicPr>
          <p:cNvPr id="37" name="Copied Picture 37">
            <a:extLst>
              <a:ext uri="{FF2B5EF4-FFF2-40B4-BE49-F238E27FC236}">
                <a16:creationId xmlns:a16="http://schemas.microsoft.com/office/drawing/2014/main" id="{098C5A1E-651C-798D-5D81-541A1CCCDFF3}"/>
              </a:ext>
            </a:extLst>
          </p:cNvPr>
          <p:cNvPicPr>
            <a:picLocks noChangeAspect="1"/>
          </p:cNvPicPr>
          <p:nvPr/>
        </p:nvPicPr>
        <p:blipFill>
          <a:blip r:embed="rId4"/>
          <a:stretch/>
        </p:blipFill>
        <p:spPr>
          <a:xfrm>
            <a:off x="7901259" y="101600"/>
            <a:ext cx="1141141" cy="753153"/>
          </a:xfrm>
          <a:prstGeom prst="rect">
            <a:avLst/>
          </a:prstGeom>
        </p:spPr>
      </p:pic>
      <p:sp>
        <p:nvSpPr>
          <p:cNvPr id="2" name="HeaderTitle">
            <a:extLst>
              <a:ext uri="{FF2B5EF4-FFF2-40B4-BE49-F238E27FC236}">
                <a16:creationId xmlns:a16="http://schemas.microsoft.com/office/drawing/2014/main" id="{15F24BF9-BD9A-CC4D-90EC-F3D92C79B589}"/>
              </a:ext>
            </a:extLst>
          </p:cNvPr>
          <p:cNvSpPr txBox="1"/>
          <p:nvPr/>
        </p:nvSpPr>
        <p:spPr>
          <a:xfrm>
            <a:off x="508000" y="254000"/>
            <a:ext cx="8229600" cy="635000"/>
          </a:xfrm>
          <a:prstGeom prst="rect">
            <a:avLst/>
          </a:prstGeom>
          <a:noFill/>
        </p:spPr>
        <p:txBody>
          <a:bodyPr vertOverflow="overflow" vert="horz" wrap="square" rtlCol="0" anchor="t">
            <a:spAutoFit/>
          </a:bodyPr>
          <a:lstStyle/>
          <a:p>
            <a:pPr algn="l"/>
            <a:r>
              <a:rPr lang="en-US" sz="3400" b="1" dirty="0">
                <a:solidFill>
                  <a:srgbClr val="FFFFFF"/>
                </a:solidFill>
                <a:latin typeface="Cambria"/>
              </a:rPr>
              <a:t>Data Understanding</a:t>
            </a:r>
          </a:p>
        </p:txBody>
      </p:sp>
    </p:spTree>
    <p:extLst>
      <p:ext uri="{BB962C8B-B14F-4D97-AF65-F5344CB8AC3E}">
        <p14:creationId xmlns:p14="http://schemas.microsoft.com/office/powerpoint/2010/main" val="37760331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a:extLst>
            <a:ext uri="{FF2B5EF4-FFF2-40B4-BE49-F238E27FC236}">
              <a16:creationId xmlns:a16="http://schemas.microsoft.com/office/drawing/2014/main" id="{6800A982-43F2-6756-ACE5-A76C738D5383}"/>
            </a:ext>
          </a:extLst>
        </p:cNvPr>
        <p:cNvGrpSpPr/>
        <p:nvPr/>
      </p:nvGrpSpPr>
      <p:grpSpPr>
        <a:xfrm>
          <a:off x="0" y="0"/>
          <a:ext cx="0" cy="0"/>
          <a:chOff x="0" y="0"/>
          <a:chExt cx="0" cy="0"/>
        </a:xfrm>
      </p:grpSpPr>
      <p:pic>
        <p:nvPicPr>
          <p:cNvPr id="37" name="Copied Picture 37">
            <a:extLst>
              <a:ext uri="{FF2B5EF4-FFF2-40B4-BE49-F238E27FC236}">
                <a16:creationId xmlns:a16="http://schemas.microsoft.com/office/drawing/2014/main" id="{8645B6BA-C0C9-2176-E9E2-9714F9A293D2}"/>
              </a:ext>
            </a:extLst>
          </p:cNvPr>
          <p:cNvPicPr>
            <a:picLocks noChangeAspect="1"/>
          </p:cNvPicPr>
          <p:nvPr/>
        </p:nvPicPr>
        <p:blipFill>
          <a:blip r:embed="rId3"/>
          <a:stretch/>
        </p:blipFill>
        <p:spPr>
          <a:xfrm>
            <a:off x="8002859" y="124279"/>
            <a:ext cx="1141141" cy="753153"/>
          </a:xfrm>
          <a:prstGeom prst="rect">
            <a:avLst/>
          </a:prstGeom>
        </p:spPr>
      </p:pic>
      <p:graphicFrame>
        <p:nvGraphicFramePr>
          <p:cNvPr id="14" name="Table 13">
            <a:extLst>
              <a:ext uri="{FF2B5EF4-FFF2-40B4-BE49-F238E27FC236}">
                <a16:creationId xmlns:a16="http://schemas.microsoft.com/office/drawing/2014/main" id="{11AE52D0-2ECF-9553-2F61-300F3AAFA7EA}"/>
              </a:ext>
            </a:extLst>
          </p:cNvPr>
          <p:cNvGraphicFramePr>
            <a:graphicFrameLocks noGrp="1"/>
          </p:cNvGraphicFramePr>
          <p:nvPr>
            <p:extLst>
              <p:ext uri="{D42A27DB-BD31-4B8C-83A1-F6EECF244321}">
                <p14:modId xmlns:p14="http://schemas.microsoft.com/office/powerpoint/2010/main" val="4109884143"/>
              </p:ext>
            </p:extLst>
          </p:nvPr>
        </p:nvGraphicFramePr>
        <p:xfrm>
          <a:off x="334942" y="1247542"/>
          <a:ext cx="4216962" cy="3779520"/>
        </p:xfrm>
        <a:graphic>
          <a:graphicData uri="http://schemas.openxmlformats.org/drawingml/2006/table">
            <a:tbl>
              <a:tblPr firstRow="1" bandRow="1">
                <a:tableStyleId>{5C22544A-7EE6-4342-B048-85BDC9FD1C3A}</a:tableStyleId>
              </a:tblPr>
              <a:tblGrid>
                <a:gridCol w="1614438">
                  <a:extLst>
                    <a:ext uri="{9D8B030D-6E8A-4147-A177-3AD203B41FA5}">
                      <a16:colId xmlns:a16="http://schemas.microsoft.com/office/drawing/2014/main" val="3899438707"/>
                    </a:ext>
                  </a:extLst>
                </a:gridCol>
                <a:gridCol w="2602524">
                  <a:extLst>
                    <a:ext uri="{9D8B030D-6E8A-4147-A177-3AD203B41FA5}">
                      <a16:colId xmlns:a16="http://schemas.microsoft.com/office/drawing/2014/main" val="2394820604"/>
                    </a:ext>
                  </a:extLst>
                </a:gridCol>
              </a:tblGrid>
              <a:tr h="370840">
                <a:tc>
                  <a:txBody>
                    <a:bodyPr/>
                    <a:lstStyle/>
                    <a:p>
                      <a:pPr>
                        <a:buNone/>
                      </a:pPr>
                      <a:r>
                        <a:rPr lang="en-US" sz="1400"/>
                        <a:t>Column</a:t>
                      </a:r>
                    </a:p>
                  </a:txBody>
                  <a:tcPr anchor="ctr">
                    <a:solidFill>
                      <a:srgbClr val="9986DE"/>
                    </a:solidFill>
                  </a:tcPr>
                </a:tc>
                <a:tc>
                  <a:txBody>
                    <a:bodyPr/>
                    <a:lstStyle/>
                    <a:p>
                      <a:pPr>
                        <a:buNone/>
                      </a:pPr>
                      <a:r>
                        <a:rPr lang="en-US" sz="1400"/>
                        <a:t>Description</a:t>
                      </a:r>
                    </a:p>
                  </a:txBody>
                  <a:tcPr anchor="ctr">
                    <a:solidFill>
                      <a:srgbClr val="9986DE"/>
                    </a:solidFill>
                  </a:tcPr>
                </a:tc>
                <a:extLst>
                  <a:ext uri="{0D108BD9-81ED-4DB2-BD59-A6C34878D82A}">
                    <a16:rowId xmlns:a16="http://schemas.microsoft.com/office/drawing/2014/main" val="2588850552"/>
                  </a:ext>
                </a:extLst>
              </a:tr>
              <a:tr h="160230">
                <a:tc>
                  <a:txBody>
                    <a:bodyPr/>
                    <a:lstStyle/>
                    <a:p>
                      <a:pPr>
                        <a:buNone/>
                      </a:pPr>
                      <a:r>
                        <a:rPr lang="en-US" sz="1100" dirty="0">
                          <a:latin typeface="Courier New" panose="02070309020205020404" pitchFamily="49" charset="0"/>
                        </a:rPr>
                        <a:t>countryiso3</a:t>
                      </a:r>
                      <a:endParaRPr lang="en-US" sz="1100" dirty="0"/>
                    </a:p>
                  </a:txBody>
                  <a:tcPr anchor="ctr"/>
                </a:tc>
                <a:tc>
                  <a:txBody>
                    <a:bodyPr/>
                    <a:lstStyle/>
                    <a:p>
                      <a:pPr>
                        <a:buNone/>
                      </a:pPr>
                      <a:r>
                        <a:rPr lang="en-US" sz="1100" dirty="0"/>
                        <a:t>ISO3 country code</a:t>
                      </a:r>
                    </a:p>
                  </a:txBody>
                  <a:tcPr anchor="ctr"/>
                </a:tc>
                <a:extLst>
                  <a:ext uri="{0D108BD9-81ED-4DB2-BD59-A6C34878D82A}">
                    <a16:rowId xmlns:a16="http://schemas.microsoft.com/office/drawing/2014/main" val="3530000569"/>
                  </a:ext>
                </a:extLst>
              </a:tr>
              <a:tr h="0">
                <a:tc>
                  <a:txBody>
                    <a:bodyPr/>
                    <a:lstStyle/>
                    <a:p>
                      <a:pPr>
                        <a:buNone/>
                      </a:pPr>
                      <a:r>
                        <a:rPr lang="en-US" sz="1100" dirty="0">
                          <a:latin typeface="Courier New" panose="02070309020205020404" pitchFamily="49" charset="0"/>
                        </a:rPr>
                        <a:t>date</a:t>
                      </a:r>
                      <a:endParaRPr lang="en-US" sz="1100" dirty="0"/>
                    </a:p>
                  </a:txBody>
                  <a:tcPr anchor="ctr"/>
                </a:tc>
                <a:tc>
                  <a:txBody>
                    <a:bodyPr/>
                    <a:lstStyle/>
                    <a:p>
                      <a:pPr>
                        <a:buNone/>
                      </a:pPr>
                      <a:r>
                        <a:rPr lang="en-US" sz="1100" dirty="0"/>
                        <a:t>Price observation date</a:t>
                      </a:r>
                    </a:p>
                  </a:txBody>
                  <a:tcPr anchor="ctr"/>
                </a:tc>
                <a:extLst>
                  <a:ext uri="{0D108BD9-81ED-4DB2-BD59-A6C34878D82A}">
                    <a16:rowId xmlns:a16="http://schemas.microsoft.com/office/drawing/2014/main" val="1075583812"/>
                  </a:ext>
                </a:extLst>
              </a:tr>
              <a:tr h="143105">
                <a:tc>
                  <a:txBody>
                    <a:bodyPr/>
                    <a:lstStyle/>
                    <a:p>
                      <a:pPr>
                        <a:buNone/>
                      </a:pPr>
                      <a:r>
                        <a:rPr lang="en-US" sz="1100" dirty="0">
                          <a:latin typeface="Courier New" panose="02070309020205020404" pitchFamily="49" charset="0"/>
                        </a:rPr>
                        <a:t>admin1</a:t>
                      </a:r>
                      <a:endParaRPr lang="en-US" sz="1100" dirty="0"/>
                    </a:p>
                  </a:txBody>
                  <a:tcPr anchor="ctr"/>
                </a:tc>
                <a:tc>
                  <a:txBody>
                    <a:bodyPr/>
                    <a:lstStyle/>
                    <a:p>
                      <a:pPr>
                        <a:buNone/>
                      </a:pPr>
                      <a:r>
                        <a:rPr lang="en-US" sz="1100" dirty="0"/>
                        <a:t>Province administrative region</a:t>
                      </a:r>
                    </a:p>
                  </a:txBody>
                  <a:tcPr anchor="ctr"/>
                </a:tc>
                <a:extLst>
                  <a:ext uri="{0D108BD9-81ED-4DB2-BD59-A6C34878D82A}">
                    <a16:rowId xmlns:a16="http://schemas.microsoft.com/office/drawing/2014/main" val="1270156629"/>
                  </a:ext>
                </a:extLst>
              </a:tr>
              <a:tr h="230191">
                <a:tc>
                  <a:txBody>
                    <a:bodyPr/>
                    <a:lstStyle/>
                    <a:p>
                      <a:pPr>
                        <a:buNone/>
                      </a:pPr>
                      <a:r>
                        <a:rPr lang="en-US" sz="1100" dirty="0">
                          <a:latin typeface="Courier New" panose="02070309020205020404" pitchFamily="49" charset="0"/>
                        </a:rPr>
                        <a:t>admin2</a:t>
                      </a:r>
                      <a:endParaRPr lang="en-US" sz="1100" dirty="0"/>
                    </a:p>
                  </a:txBody>
                  <a:tcPr anchor="ctr"/>
                </a:tc>
                <a:tc>
                  <a:txBody>
                    <a:bodyPr/>
                    <a:lstStyle/>
                    <a:p>
                      <a:pPr>
                        <a:buNone/>
                      </a:pPr>
                      <a:r>
                        <a:rPr lang="en-US" sz="1100" dirty="0"/>
                        <a:t>District administrative region</a:t>
                      </a:r>
                    </a:p>
                  </a:txBody>
                  <a:tcPr anchor="ctr"/>
                </a:tc>
                <a:extLst>
                  <a:ext uri="{0D108BD9-81ED-4DB2-BD59-A6C34878D82A}">
                    <a16:rowId xmlns:a16="http://schemas.microsoft.com/office/drawing/2014/main" val="2302605941"/>
                  </a:ext>
                </a:extLst>
              </a:tr>
              <a:tr h="370840">
                <a:tc>
                  <a:txBody>
                    <a:bodyPr/>
                    <a:lstStyle/>
                    <a:p>
                      <a:pPr>
                        <a:buNone/>
                      </a:pPr>
                      <a:r>
                        <a:rPr lang="en-US" sz="1100" dirty="0">
                          <a:latin typeface="Courier New" panose="02070309020205020404" pitchFamily="49" charset="0"/>
                        </a:rPr>
                        <a:t>market</a:t>
                      </a:r>
                      <a:endParaRPr lang="en-US" sz="1100" dirty="0"/>
                    </a:p>
                  </a:txBody>
                  <a:tcPr anchor="ctr"/>
                </a:tc>
                <a:tc>
                  <a:txBody>
                    <a:bodyPr/>
                    <a:lstStyle/>
                    <a:p>
                      <a:pPr>
                        <a:buNone/>
                      </a:pPr>
                      <a:r>
                        <a:rPr lang="en-US" sz="1100" dirty="0"/>
                        <a:t>Specific market where price was recorded</a:t>
                      </a:r>
                    </a:p>
                  </a:txBody>
                  <a:tcPr anchor="ctr"/>
                </a:tc>
                <a:extLst>
                  <a:ext uri="{0D108BD9-81ED-4DB2-BD59-A6C34878D82A}">
                    <a16:rowId xmlns:a16="http://schemas.microsoft.com/office/drawing/2014/main" val="157730713"/>
                  </a:ext>
                </a:extLst>
              </a:tr>
              <a:tr h="370840">
                <a:tc>
                  <a:txBody>
                    <a:bodyPr/>
                    <a:lstStyle/>
                    <a:p>
                      <a:pPr>
                        <a:buNone/>
                      </a:pPr>
                      <a:r>
                        <a:rPr lang="en-US" sz="1100" dirty="0" err="1">
                          <a:latin typeface="Courier New" panose="02070309020205020404" pitchFamily="49" charset="0"/>
                        </a:rPr>
                        <a:t>market_id</a:t>
                      </a:r>
                      <a:endParaRPr lang="en-US" sz="1100" dirty="0"/>
                    </a:p>
                  </a:txBody>
                  <a:tcPr anchor="ctr"/>
                </a:tc>
                <a:tc>
                  <a:txBody>
                    <a:bodyPr/>
                    <a:lstStyle/>
                    <a:p>
                      <a:pPr>
                        <a:buNone/>
                      </a:pPr>
                      <a:r>
                        <a:rPr lang="en-US" sz="1100" dirty="0"/>
                        <a:t>Unique identifier for the market</a:t>
                      </a:r>
                    </a:p>
                  </a:txBody>
                  <a:tcPr anchor="ctr"/>
                </a:tc>
                <a:extLst>
                  <a:ext uri="{0D108BD9-81ED-4DB2-BD59-A6C34878D82A}">
                    <a16:rowId xmlns:a16="http://schemas.microsoft.com/office/drawing/2014/main" val="2882609552"/>
                  </a:ext>
                </a:extLst>
              </a:tr>
              <a:tr h="370840">
                <a:tc>
                  <a:txBody>
                    <a:bodyPr/>
                    <a:lstStyle/>
                    <a:p>
                      <a:pPr>
                        <a:buNone/>
                      </a:pPr>
                      <a:r>
                        <a:rPr lang="en-US" sz="1100" dirty="0">
                          <a:latin typeface="Courier New" panose="02070309020205020404" pitchFamily="49" charset="0"/>
                        </a:rPr>
                        <a:t>latitude</a:t>
                      </a:r>
                      <a:endParaRPr lang="en-US" sz="1100" dirty="0"/>
                    </a:p>
                  </a:txBody>
                  <a:tcPr anchor="ctr"/>
                </a:tc>
                <a:tc>
                  <a:txBody>
                    <a:bodyPr/>
                    <a:lstStyle/>
                    <a:p>
                      <a:pPr>
                        <a:buNone/>
                      </a:pPr>
                      <a:r>
                        <a:rPr lang="en-US" sz="1100" dirty="0"/>
                        <a:t>Market's geographic latitude</a:t>
                      </a:r>
                    </a:p>
                  </a:txBody>
                  <a:tcPr anchor="ctr"/>
                </a:tc>
                <a:extLst>
                  <a:ext uri="{0D108BD9-81ED-4DB2-BD59-A6C34878D82A}">
                    <a16:rowId xmlns:a16="http://schemas.microsoft.com/office/drawing/2014/main" val="161183624"/>
                  </a:ext>
                </a:extLst>
              </a:tr>
              <a:tr h="370840">
                <a:tc>
                  <a:txBody>
                    <a:bodyPr/>
                    <a:lstStyle/>
                    <a:p>
                      <a:pPr>
                        <a:buNone/>
                      </a:pPr>
                      <a:r>
                        <a:rPr lang="en-US" sz="1100" dirty="0">
                          <a:latin typeface="Courier New" panose="02070309020205020404" pitchFamily="49" charset="0"/>
                        </a:rPr>
                        <a:t>longitude</a:t>
                      </a:r>
                      <a:endParaRPr lang="en-US" sz="1100" dirty="0"/>
                    </a:p>
                  </a:txBody>
                  <a:tcPr anchor="ctr"/>
                </a:tc>
                <a:tc>
                  <a:txBody>
                    <a:bodyPr/>
                    <a:lstStyle/>
                    <a:p>
                      <a:pPr>
                        <a:buNone/>
                      </a:pPr>
                      <a:r>
                        <a:rPr lang="en-US" sz="1100" dirty="0"/>
                        <a:t>Market's geographic longitude</a:t>
                      </a:r>
                    </a:p>
                  </a:txBody>
                  <a:tcPr anchor="ctr"/>
                </a:tc>
                <a:extLst>
                  <a:ext uri="{0D108BD9-81ED-4DB2-BD59-A6C34878D82A}">
                    <a16:rowId xmlns:a16="http://schemas.microsoft.com/office/drawing/2014/main" val="432813751"/>
                  </a:ext>
                </a:extLst>
              </a:tr>
              <a:tr h="180396">
                <a:tc>
                  <a:txBody>
                    <a:bodyPr/>
                    <a:lstStyle/>
                    <a:p>
                      <a:pPr>
                        <a:buNone/>
                      </a:pPr>
                      <a:r>
                        <a:rPr lang="en-US" sz="1100" dirty="0">
                          <a:latin typeface="Courier New" panose="02070309020205020404" pitchFamily="49" charset="0"/>
                        </a:rPr>
                        <a:t>category</a:t>
                      </a:r>
                      <a:endParaRPr lang="en-US" sz="1100" dirty="0"/>
                    </a:p>
                  </a:txBody>
                  <a:tcPr anchor="ctr"/>
                </a:tc>
                <a:tc>
                  <a:txBody>
                    <a:bodyPr/>
                    <a:lstStyle/>
                    <a:p>
                      <a:pPr>
                        <a:buNone/>
                      </a:pPr>
                      <a:r>
                        <a:rPr lang="en-US" sz="1100" dirty="0"/>
                        <a:t>Broad commodity category</a:t>
                      </a:r>
                    </a:p>
                  </a:txBody>
                  <a:tcPr anchor="ctr"/>
                </a:tc>
                <a:extLst>
                  <a:ext uri="{0D108BD9-81ED-4DB2-BD59-A6C34878D82A}">
                    <a16:rowId xmlns:a16="http://schemas.microsoft.com/office/drawing/2014/main" val="3318407115"/>
                  </a:ext>
                </a:extLst>
              </a:tr>
              <a:tr h="240742">
                <a:tc>
                  <a:txBody>
                    <a:bodyPr/>
                    <a:lstStyle/>
                    <a:p>
                      <a:pPr>
                        <a:buNone/>
                      </a:pPr>
                      <a:r>
                        <a:rPr lang="en-US" sz="1100" dirty="0">
                          <a:latin typeface="Courier New" panose="02070309020205020404" pitchFamily="49" charset="0"/>
                        </a:rPr>
                        <a:t>commodity</a:t>
                      </a:r>
                      <a:endParaRPr lang="en-US" sz="1100" dirty="0"/>
                    </a:p>
                  </a:txBody>
                  <a:tcPr anchor="ctr"/>
                </a:tc>
                <a:tc>
                  <a:txBody>
                    <a:bodyPr/>
                    <a:lstStyle/>
                    <a:p>
                      <a:pPr>
                        <a:buNone/>
                      </a:pPr>
                      <a:r>
                        <a:rPr lang="en-US" sz="1100" dirty="0"/>
                        <a:t>Specific commodity name</a:t>
                      </a:r>
                    </a:p>
                  </a:txBody>
                  <a:tcPr anchor="ctr"/>
                </a:tc>
                <a:extLst>
                  <a:ext uri="{0D108BD9-81ED-4DB2-BD59-A6C34878D82A}">
                    <a16:rowId xmlns:a16="http://schemas.microsoft.com/office/drawing/2014/main" val="2016007028"/>
                  </a:ext>
                </a:extLst>
              </a:tr>
              <a:tr h="370840">
                <a:tc>
                  <a:txBody>
                    <a:bodyPr/>
                    <a:lstStyle/>
                    <a:p>
                      <a:pPr>
                        <a:buNone/>
                      </a:pPr>
                      <a:r>
                        <a:rPr lang="en-US" sz="1100" dirty="0" err="1">
                          <a:latin typeface="Courier New" panose="02070309020205020404" pitchFamily="49" charset="0"/>
                        </a:rPr>
                        <a:t>commodity_id</a:t>
                      </a:r>
                      <a:endParaRPr lang="en-US" sz="1100" dirty="0"/>
                    </a:p>
                  </a:txBody>
                  <a:tcPr anchor="ctr"/>
                </a:tc>
                <a:tc>
                  <a:txBody>
                    <a:bodyPr/>
                    <a:lstStyle/>
                    <a:p>
                      <a:pPr>
                        <a:buNone/>
                      </a:pPr>
                      <a:r>
                        <a:rPr lang="en-US" sz="1100" dirty="0"/>
                        <a:t>Unique identifier for the commodity</a:t>
                      </a:r>
                    </a:p>
                  </a:txBody>
                  <a:tcPr anchor="ctr"/>
                </a:tc>
                <a:extLst>
                  <a:ext uri="{0D108BD9-81ED-4DB2-BD59-A6C34878D82A}">
                    <a16:rowId xmlns:a16="http://schemas.microsoft.com/office/drawing/2014/main" val="1228630325"/>
                  </a:ext>
                </a:extLst>
              </a:tr>
            </a:tbl>
          </a:graphicData>
        </a:graphic>
      </p:graphicFrame>
      <p:graphicFrame>
        <p:nvGraphicFramePr>
          <p:cNvPr id="38" name="Table 37">
            <a:extLst>
              <a:ext uri="{FF2B5EF4-FFF2-40B4-BE49-F238E27FC236}">
                <a16:creationId xmlns:a16="http://schemas.microsoft.com/office/drawing/2014/main" id="{2300B757-2623-096C-C79B-B783A24E37ED}"/>
              </a:ext>
            </a:extLst>
          </p:cNvPr>
          <p:cNvGraphicFramePr>
            <a:graphicFrameLocks noGrp="1"/>
          </p:cNvGraphicFramePr>
          <p:nvPr>
            <p:extLst>
              <p:ext uri="{D42A27DB-BD31-4B8C-83A1-F6EECF244321}">
                <p14:modId xmlns:p14="http://schemas.microsoft.com/office/powerpoint/2010/main" val="2326777339"/>
              </p:ext>
            </p:extLst>
          </p:nvPr>
        </p:nvGraphicFramePr>
        <p:xfrm>
          <a:off x="4752873" y="1247542"/>
          <a:ext cx="4170064" cy="259588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3425917407"/>
                    </a:ext>
                  </a:extLst>
                </a:gridCol>
                <a:gridCol w="2950864">
                  <a:extLst>
                    <a:ext uri="{9D8B030D-6E8A-4147-A177-3AD203B41FA5}">
                      <a16:colId xmlns:a16="http://schemas.microsoft.com/office/drawing/2014/main" val="753987720"/>
                    </a:ext>
                  </a:extLst>
                </a:gridCol>
              </a:tblGrid>
              <a:tr h="370840">
                <a:tc>
                  <a:txBody>
                    <a:bodyPr/>
                    <a:lstStyle/>
                    <a:p>
                      <a:r>
                        <a:rPr lang="en-US" sz="1400"/>
                        <a:t>Column</a:t>
                      </a:r>
                      <a:endParaRPr lang="en-US" sz="1600"/>
                    </a:p>
                  </a:txBody>
                  <a:tcPr>
                    <a:solidFill>
                      <a:srgbClr val="9986DE"/>
                    </a:solidFill>
                  </a:tcPr>
                </a:tc>
                <a:tc>
                  <a:txBody>
                    <a:bodyPr/>
                    <a:lstStyle/>
                    <a:p>
                      <a:r>
                        <a:rPr lang="en-US" sz="1400"/>
                        <a:t>Description</a:t>
                      </a:r>
                      <a:endParaRPr lang="en-US" sz="1600"/>
                    </a:p>
                  </a:txBody>
                  <a:tcPr>
                    <a:solidFill>
                      <a:srgbClr val="9986DE"/>
                    </a:solidFill>
                  </a:tcPr>
                </a:tc>
                <a:extLst>
                  <a:ext uri="{0D108BD9-81ED-4DB2-BD59-A6C34878D82A}">
                    <a16:rowId xmlns:a16="http://schemas.microsoft.com/office/drawing/2014/main" val="1751626533"/>
                  </a:ext>
                </a:extLst>
              </a:tr>
              <a:tr h="370840">
                <a:tc>
                  <a:txBody>
                    <a:bodyPr/>
                    <a:lstStyle/>
                    <a:p>
                      <a:pPr>
                        <a:buNone/>
                      </a:pPr>
                      <a:r>
                        <a:rPr lang="en-US" sz="1100" dirty="0">
                          <a:latin typeface="Courier New" panose="02070309020205020404" pitchFamily="49" charset="0"/>
                        </a:rPr>
                        <a:t>unit</a:t>
                      </a:r>
                      <a:endParaRPr lang="en-US" sz="1100" dirty="0"/>
                    </a:p>
                  </a:txBody>
                  <a:tcPr anchor="ctr"/>
                </a:tc>
                <a:tc>
                  <a:txBody>
                    <a:bodyPr/>
                    <a:lstStyle/>
                    <a:p>
                      <a:pPr>
                        <a:buNone/>
                      </a:pPr>
                      <a:r>
                        <a:rPr lang="en-US" sz="1100" dirty="0"/>
                        <a:t>Unit of measurement (KG)</a:t>
                      </a:r>
                    </a:p>
                  </a:txBody>
                  <a:tcPr anchor="ctr"/>
                </a:tc>
                <a:extLst>
                  <a:ext uri="{0D108BD9-81ED-4DB2-BD59-A6C34878D82A}">
                    <a16:rowId xmlns:a16="http://schemas.microsoft.com/office/drawing/2014/main" val="4012452582"/>
                  </a:ext>
                </a:extLst>
              </a:tr>
              <a:tr h="136448">
                <a:tc>
                  <a:txBody>
                    <a:bodyPr/>
                    <a:lstStyle/>
                    <a:p>
                      <a:pPr>
                        <a:buNone/>
                      </a:pPr>
                      <a:r>
                        <a:rPr lang="en-US" sz="1100" dirty="0" err="1">
                          <a:latin typeface="Courier New" panose="02070309020205020404" pitchFamily="49" charset="0"/>
                        </a:rPr>
                        <a:t>priceflag</a:t>
                      </a:r>
                      <a:endParaRPr lang="en-US" sz="1100" dirty="0"/>
                    </a:p>
                  </a:txBody>
                  <a:tcPr anchor="ctr"/>
                </a:tc>
                <a:tc>
                  <a:txBody>
                    <a:bodyPr/>
                    <a:lstStyle/>
                    <a:p>
                      <a:pPr>
                        <a:buNone/>
                      </a:pPr>
                      <a:r>
                        <a:rPr lang="en-US" sz="1100" dirty="0"/>
                        <a:t>Data provenance: actual/aggregate</a:t>
                      </a:r>
                    </a:p>
                  </a:txBody>
                  <a:tcPr anchor="ctr"/>
                </a:tc>
                <a:extLst>
                  <a:ext uri="{0D108BD9-81ED-4DB2-BD59-A6C34878D82A}">
                    <a16:rowId xmlns:a16="http://schemas.microsoft.com/office/drawing/2014/main" val="275634545"/>
                  </a:ext>
                </a:extLst>
              </a:tr>
              <a:tr h="370840">
                <a:tc>
                  <a:txBody>
                    <a:bodyPr/>
                    <a:lstStyle/>
                    <a:p>
                      <a:pPr>
                        <a:buNone/>
                      </a:pPr>
                      <a:r>
                        <a:rPr lang="en-US" sz="1100" dirty="0" err="1">
                          <a:latin typeface="Courier New" panose="02070309020205020404" pitchFamily="49" charset="0"/>
                        </a:rPr>
                        <a:t>pricetype</a:t>
                      </a:r>
                      <a:endParaRPr lang="en-US" sz="1100" dirty="0"/>
                    </a:p>
                  </a:txBody>
                  <a:tcPr anchor="ctr"/>
                </a:tc>
                <a:tc>
                  <a:txBody>
                    <a:bodyPr/>
                    <a:lstStyle/>
                    <a:p>
                      <a:pPr>
                        <a:buNone/>
                      </a:pPr>
                      <a:r>
                        <a:rPr lang="en-US" sz="1100" dirty="0"/>
                        <a:t>Retail (consumer price) or wholesale (distributor price)</a:t>
                      </a:r>
                    </a:p>
                  </a:txBody>
                  <a:tcPr anchor="ctr"/>
                </a:tc>
                <a:extLst>
                  <a:ext uri="{0D108BD9-81ED-4DB2-BD59-A6C34878D82A}">
                    <a16:rowId xmlns:a16="http://schemas.microsoft.com/office/drawing/2014/main" val="2625757805"/>
                  </a:ext>
                </a:extLst>
              </a:tr>
              <a:tr h="370840">
                <a:tc>
                  <a:txBody>
                    <a:bodyPr/>
                    <a:lstStyle/>
                    <a:p>
                      <a:pPr>
                        <a:buNone/>
                      </a:pPr>
                      <a:r>
                        <a:rPr lang="en-US" sz="1100" dirty="0">
                          <a:latin typeface="Courier New" panose="02070309020205020404" pitchFamily="49" charset="0"/>
                        </a:rPr>
                        <a:t>currency</a:t>
                      </a:r>
                      <a:endParaRPr lang="en-US" sz="1100" dirty="0"/>
                    </a:p>
                  </a:txBody>
                  <a:tcPr anchor="ctr"/>
                </a:tc>
                <a:tc>
                  <a:txBody>
                    <a:bodyPr/>
                    <a:lstStyle/>
                    <a:p>
                      <a:pPr>
                        <a:buNone/>
                      </a:pPr>
                      <a:r>
                        <a:rPr lang="en-US" sz="1100" dirty="0"/>
                        <a:t>Local currency of the recorded price (e.g., IDR)</a:t>
                      </a:r>
                    </a:p>
                  </a:txBody>
                  <a:tcPr anchor="ctr"/>
                </a:tc>
                <a:extLst>
                  <a:ext uri="{0D108BD9-81ED-4DB2-BD59-A6C34878D82A}">
                    <a16:rowId xmlns:a16="http://schemas.microsoft.com/office/drawing/2014/main" val="316928535"/>
                  </a:ext>
                </a:extLst>
              </a:tr>
              <a:tr h="370840">
                <a:tc>
                  <a:txBody>
                    <a:bodyPr/>
                    <a:lstStyle/>
                    <a:p>
                      <a:pPr>
                        <a:buNone/>
                      </a:pPr>
                      <a:r>
                        <a:rPr lang="en-US" sz="1100" dirty="0">
                          <a:latin typeface="Courier New" panose="02070309020205020404" pitchFamily="49" charset="0"/>
                        </a:rPr>
                        <a:t>price</a:t>
                      </a:r>
                      <a:endParaRPr lang="en-US" sz="1100" dirty="0"/>
                    </a:p>
                  </a:txBody>
                  <a:tcPr anchor="ctr"/>
                </a:tc>
                <a:tc>
                  <a:txBody>
                    <a:bodyPr/>
                    <a:lstStyle/>
                    <a:p>
                      <a:pPr>
                        <a:buNone/>
                      </a:pPr>
                      <a:r>
                        <a:rPr lang="en-US" sz="1100" dirty="0"/>
                        <a:t>Price in local currency</a:t>
                      </a:r>
                    </a:p>
                  </a:txBody>
                  <a:tcPr anchor="ctr"/>
                </a:tc>
                <a:extLst>
                  <a:ext uri="{0D108BD9-81ED-4DB2-BD59-A6C34878D82A}">
                    <a16:rowId xmlns:a16="http://schemas.microsoft.com/office/drawing/2014/main" val="3931530848"/>
                  </a:ext>
                </a:extLst>
              </a:tr>
              <a:tr h="183505">
                <a:tc>
                  <a:txBody>
                    <a:bodyPr/>
                    <a:lstStyle/>
                    <a:p>
                      <a:pPr>
                        <a:buNone/>
                      </a:pPr>
                      <a:r>
                        <a:rPr lang="en-US" sz="1100" dirty="0" err="1">
                          <a:latin typeface="Courier New" panose="02070309020205020404" pitchFamily="49" charset="0"/>
                        </a:rPr>
                        <a:t>usdprice</a:t>
                      </a:r>
                      <a:endParaRPr lang="en-US" sz="1100" dirty="0"/>
                    </a:p>
                  </a:txBody>
                  <a:tcPr anchor="ctr"/>
                </a:tc>
                <a:tc>
                  <a:txBody>
                    <a:bodyPr/>
                    <a:lstStyle/>
                    <a:p>
                      <a:pPr>
                        <a:buNone/>
                      </a:pPr>
                      <a:r>
                        <a:rPr lang="en-US" sz="1100" dirty="0"/>
                        <a:t>Price converted to USD (</a:t>
                      </a:r>
                      <a:r>
                        <a:rPr lang="en-US" sz="1100" dirty="0" err="1"/>
                        <a:t>standardizedcomparison</a:t>
                      </a:r>
                      <a:r>
                        <a:rPr lang="en-US" sz="1100" dirty="0"/>
                        <a:t>)</a:t>
                      </a:r>
                    </a:p>
                  </a:txBody>
                  <a:tcPr anchor="ctr"/>
                </a:tc>
                <a:extLst>
                  <a:ext uri="{0D108BD9-81ED-4DB2-BD59-A6C34878D82A}">
                    <a16:rowId xmlns:a16="http://schemas.microsoft.com/office/drawing/2014/main" val="4159462895"/>
                  </a:ext>
                </a:extLst>
              </a:tr>
            </a:tbl>
          </a:graphicData>
        </a:graphic>
      </p:graphicFrame>
      <p:pic>
        <p:nvPicPr>
          <p:cNvPr id="41" name="Picture 40">
            <a:extLst>
              <a:ext uri="{FF2B5EF4-FFF2-40B4-BE49-F238E27FC236}">
                <a16:creationId xmlns:a16="http://schemas.microsoft.com/office/drawing/2014/main" id="{DE3BCE85-3FE9-E61C-E77A-5FAADD067B5F}"/>
              </a:ext>
            </a:extLst>
          </p:cNvPr>
          <p:cNvPicPr>
            <a:picLocks noChangeAspect="1"/>
          </p:cNvPicPr>
          <p:nvPr/>
        </p:nvPicPr>
        <p:blipFill>
          <a:blip r:embed="rId4"/>
          <a:stretch>
            <a:fillRect/>
          </a:stretch>
        </p:blipFill>
        <p:spPr>
          <a:xfrm>
            <a:off x="355037" y="308637"/>
            <a:ext cx="7533965" cy="779883"/>
          </a:xfrm>
          <a:prstGeom prst="rect">
            <a:avLst/>
          </a:prstGeom>
        </p:spPr>
      </p:pic>
      <p:sp>
        <p:nvSpPr>
          <p:cNvPr id="42" name="HeaderTitle">
            <a:extLst>
              <a:ext uri="{FF2B5EF4-FFF2-40B4-BE49-F238E27FC236}">
                <a16:creationId xmlns:a16="http://schemas.microsoft.com/office/drawing/2014/main" id="{0BB39B4C-1647-137B-5803-87FD82E93C8D}"/>
              </a:ext>
            </a:extLst>
          </p:cNvPr>
          <p:cNvSpPr txBox="1"/>
          <p:nvPr/>
        </p:nvSpPr>
        <p:spPr>
          <a:xfrm>
            <a:off x="4981948" y="4213532"/>
            <a:ext cx="4216962" cy="635000"/>
          </a:xfrm>
          <a:prstGeom prst="rect">
            <a:avLst/>
          </a:prstGeom>
          <a:noFill/>
        </p:spPr>
        <p:txBody>
          <a:bodyPr vertOverflow="overflow" vert="horz" wrap="square" rtlCol="0" anchor="t">
            <a:spAutoFit/>
          </a:bodyPr>
          <a:lstStyle/>
          <a:p>
            <a:pPr algn="l"/>
            <a:r>
              <a:rPr lang="en-US" sz="3400" b="1" dirty="0">
                <a:solidFill>
                  <a:srgbClr val="FFFFFF"/>
                </a:solidFill>
                <a:latin typeface="Cambria"/>
              </a:rPr>
              <a:t>Dataset Overview</a:t>
            </a:r>
          </a:p>
        </p:txBody>
      </p:sp>
    </p:spTree>
    <p:extLst>
      <p:ext uri="{BB962C8B-B14F-4D97-AF65-F5344CB8AC3E}">
        <p14:creationId xmlns:p14="http://schemas.microsoft.com/office/powerpoint/2010/main" val="26328875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2D1B69"/>
        </a:solidFill>
        <a:effectLst/>
      </p:bgPr>
    </p:bg>
    <p:spTree>
      <p:nvGrpSpPr>
        <p:cNvPr id="1" name=""/>
        <p:cNvGrpSpPr/>
        <p:nvPr/>
      </p:nvGrpSpPr>
      <p:grpSpPr>
        <a:xfrm>
          <a:off x="0" y="0"/>
          <a:ext cx="0" cy="0"/>
          <a:chOff x="0" y="0"/>
          <a:chExt cx="0" cy="0"/>
        </a:xfrm>
      </p:grpSpPr>
      <p:sp>
        <p:nvSpPr>
          <p:cNvPr id="2" name="Text 0"/>
          <p:cNvSpPr/>
          <p:nvPr/>
        </p:nvSpPr>
        <p:spPr>
          <a:xfrm>
            <a:off x="484632" y="124025"/>
            <a:ext cx="82296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Data Preparation</a:t>
            </a:r>
            <a:endParaRPr lang="en-US" sz="3000" dirty="0"/>
          </a:p>
        </p:txBody>
      </p:sp>
      <p:sp>
        <p:nvSpPr>
          <p:cNvPr id="3" name="Shape 1"/>
          <p:cNvSpPr/>
          <p:nvPr/>
        </p:nvSpPr>
        <p:spPr>
          <a:xfrm>
            <a:off x="484632" y="826440"/>
            <a:ext cx="4160520" cy="3883210"/>
          </a:xfrm>
          <a:prstGeom prst="roundRect">
            <a:avLst>
              <a:gd name="adj" fmla="val 2427"/>
            </a:avLst>
          </a:prstGeom>
          <a:solidFill>
            <a:srgbClr val="FFFFFF"/>
          </a:solidFill>
          <a:ln/>
          <a:effectLst>
            <a:outerShdw blurRad="88900" dist="38100" dir="5400000" algn="bl" rotWithShape="0">
              <a:srgbClr val="1A0F40">
                <a:alpha val="35000"/>
              </a:srgbClr>
            </a:outerShdw>
          </a:effectLst>
        </p:spPr>
        <p:txBody>
          <a:bodyPr/>
          <a:lstStyle/>
          <a:p>
            <a:endParaRPr lang="en-US"/>
          </a:p>
        </p:txBody>
      </p:sp>
      <p:pic>
        <p:nvPicPr>
          <p:cNvPr id="4" name="Image 0" descr="preencoded.png"/>
          <p:cNvPicPr>
            <a:picLocks noChangeAspect="1"/>
          </p:cNvPicPr>
          <p:nvPr/>
        </p:nvPicPr>
        <p:blipFill>
          <a:blip r:embed="rId3"/>
          <a:stretch>
            <a:fillRect/>
          </a:stretch>
        </p:blipFill>
        <p:spPr>
          <a:xfrm>
            <a:off x="694944" y="1000176"/>
            <a:ext cx="256032" cy="256032"/>
          </a:xfrm>
          <a:prstGeom prst="rect">
            <a:avLst/>
          </a:prstGeom>
        </p:spPr>
      </p:pic>
      <p:sp>
        <p:nvSpPr>
          <p:cNvPr id="5" name="Text 2"/>
          <p:cNvSpPr/>
          <p:nvPr/>
        </p:nvSpPr>
        <p:spPr>
          <a:xfrm>
            <a:off x="1042416" y="963600"/>
            <a:ext cx="3383280" cy="310896"/>
          </a:xfrm>
          <a:prstGeom prst="rect">
            <a:avLst/>
          </a:prstGeom>
          <a:noFill/>
          <a:ln/>
        </p:spPr>
        <p:txBody>
          <a:bodyPr wrap="square" lIns="0" tIns="0" rIns="0" bIns="0" rtlCol="0" anchor="ctr"/>
          <a:lstStyle/>
          <a:p>
            <a:pPr marL="0" indent="0">
              <a:buNone/>
            </a:pPr>
            <a:r>
              <a:rPr lang="en-US" sz="1300" b="1" dirty="0">
                <a:solidFill>
                  <a:srgbClr val="2D1B69"/>
                </a:solidFill>
                <a:latin typeface="Calibri" pitchFamily="34" charset="0"/>
                <a:ea typeface="Calibri" pitchFamily="34" charset="-122"/>
                <a:cs typeface="Calibri" pitchFamily="34" charset="-120"/>
              </a:rPr>
              <a:t>Data Preparation</a:t>
            </a:r>
            <a:endParaRPr lang="en-US" sz="1300" dirty="0"/>
          </a:p>
        </p:txBody>
      </p:sp>
      <p:sp>
        <p:nvSpPr>
          <p:cNvPr id="6" name="Shape 3"/>
          <p:cNvSpPr/>
          <p:nvPr/>
        </p:nvSpPr>
        <p:spPr>
          <a:xfrm>
            <a:off x="713232" y="1347648"/>
            <a:ext cx="329184" cy="329184"/>
          </a:xfrm>
          <a:prstGeom prst="ellipse">
            <a:avLst/>
          </a:prstGeom>
          <a:solidFill>
            <a:srgbClr val="5A3FA0"/>
          </a:solidFill>
          <a:ln/>
        </p:spPr>
        <p:txBody>
          <a:bodyPr/>
          <a:lstStyle/>
          <a:p>
            <a:endParaRPr lang="en-US"/>
          </a:p>
        </p:txBody>
      </p:sp>
      <p:sp>
        <p:nvSpPr>
          <p:cNvPr id="7" name="Text 4"/>
          <p:cNvSpPr/>
          <p:nvPr/>
        </p:nvSpPr>
        <p:spPr>
          <a:xfrm>
            <a:off x="713232" y="1347648"/>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01</a:t>
            </a:r>
            <a:endParaRPr lang="en-US" sz="1000" dirty="0"/>
          </a:p>
        </p:txBody>
      </p:sp>
      <p:sp>
        <p:nvSpPr>
          <p:cNvPr id="8" name="Text 5"/>
          <p:cNvSpPr/>
          <p:nvPr/>
        </p:nvSpPr>
        <p:spPr>
          <a:xfrm>
            <a:off x="1170432" y="1329360"/>
            <a:ext cx="3337560" cy="237744"/>
          </a:xfrm>
          <a:prstGeom prst="rect">
            <a:avLst/>
          </a:prstGeom>
          <a:noFill/>
          <a:ln/>
        </p:spPr>
        <p:txBody>
          <a:bodyPr wrap="square" lIns="0" tIns="0" rIns="0" bIns="0" rtlCol="0" anchor="ctr"/>
          <a:lstStyle/>
          <a:p>
            <a:pPr marL="0" indent="0">
              <a:buNone/>
            </a:pPr>
            <a:r>
              <a:rPr lang="en-US" sz="1100" b="1" dirty="0">
                <a:solidFill>
                  <a:srgbClr val="2D1B69"/>
                </a:solidFill>
                <a:latin typeface="Calibri" pitchFamily="34" charset="0"/>
                <a:ea typeface="Calibri" pitchFamily="34" charset="-122"/>
                <a:cs typeface="Calibri" pitchFamily="34" charset="-120"/>
              </a:rPr>
              <a:t>Import &amp; </a:t>
            </a:r>
            <a:r>
              <a:rPr lang="en-US" sz="1100" b="1">
                <a:solidFill>
                  <a:srgbClr val="2D1B69"/>
                </a:solidFill>
                <a:latin typeface="Calibri" pitchFamily="34" charset="0"/>
                <a:ea typeface="Calibri" pitchFamily="34" charset="-122"/>
                <a:cs typeface="Calibri" pitchFamily="34" charset="-120"/>
              </a:rPr>
              <a:t>Inspection</a:t>
            </a:r>
            <a:endParaRPr lang="en-US" sz="1100" dirty="0"/>
          </a:p>
        </p:txBody>
      </p:sp>
      <p:sp>
        <p:nvSpPr>
          <p:cNvPr id="9" name="Text 6"/>
          <p:cNvSpPr/>
          <p:nvPr/>
        </p:nvSpPr>
        <p:spPr>
          <a:xfrm>
            <a:off x="1170432" y="1567104"/>
            <a:ext cx="3383280" cy="384048"/>
          </a:xfrm>
          <a:prstGeom prst="rect">
            <a:avLst/>
          </a:prstGeom>
          <a:noFill/>
          <a:ln/>
        </p:spPr>
        <p:txBody>
          <a:bodyPr wrap="square" lIns="0" tIns="0" rIns="0" bIns="0" rtlCol="0" anchor="t"/>
          <a:lstStyle/>
          <a:p>
            <a:pPr marL="0" indent="0">
              <a:lnSpc>
                <a:spcPct val="100000"/>
              </a:lnSpc>
              <a:buNone/>
            </a:pPr>
            <a:r>
              <a:rPr lang="en-US" sz="900">
                <a:solidFill>
                  <a:srgbClr val="6E6E80"/>
                </a:solidFill>
                <a:latin typeface="Calibri" pitchFamily="34" charset="0"/>
                <a:ea typeface="Calibri" pitchFamily="34" charset="-122"/>
                <a:cs typeface="Calibri" pitchFamily="34" charset="-120"/>
              </a:rPr>
              <a:t>Load the WFP CSV with pandas; check shape, data types, missing values, and duplicates.</a:t>
            </a:r>
            <a:endParaRPr lang="en-US" sz="900" dirty="0"/>
          </a:p>
        </p:txBody>
      </p:sp>
      <p:sp>
        <p:nvSpPr>
          <p:cNvPr id="10" name="Shape 7"/>
          <p:cNvSpPr/>
          <p:nvPr/>
        </p:nvSpPr>
        <p:spPr>
          <a:xfrm>
            <a:off x="713232" y="1978584"/>
            <a:ext cx="329184" cy="329184"/>
          </a:xfrm>
          <a:prstGeom prst="ellipse">
            <a:avLst/>
          </a:prstGeom>
          <a:solidFill>
            <a:srgbClr val="5A3FA0"/>
          </a:solidFill>
          <a:ln/>
        </p:spPr>
        <p:txBody>
          <a:bodyPr/>
          <a:lstStyle/>
          <a:p>
            <a:endParaRPr lang="en-US"/>
          </a:p>
        </p:txBody>
      </p:sp>
      <p:sp>
        <p:nvSpPr>
          <p:cNvPr id="11" name="Text 8"/>
          <p:cNvSpPr/>
          <p:nvPr/>
        </p:nvSpPr>
        <p:spPr>
          <a:xfrm>
            <a:off x="713232" y="1978584"/>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02</a:t>
            </a:r>
            <a:endParaRPr lang="en-US" sz="1000" dirty="0"/>
          </a:p>
        </p:txBody>
      </p:sp>
      <p:sp>
        <p:nvSpPr>
          <p:cNvPr id="12" name="Text 9"/>
          <p:cNvSpPr/>
          <p:nvPr/>
        </p:nvSpPr>
        <p:spPr>
          <a:xfrm>
            <a:off x="1170432" y="1960296"/>
            <a:ext cx="3337560" cy="237744"/>
          </a:xfrm>
          <a:prstGeom prst="rect">
            <a:avLst/>
          </a:prstGeom>
          <a:noFill/>
          <a:ln/>
        </p:spPr>
        <p:txBody>
          <a:bodyPr wrap="square" lIns="0" tIns="0" rIns="0" bIns="0" rtlCol="0" anchor="ctr"/>
          <a:lstStyle/>
          <a:p>
            <a:pPr marL="0" indent="0">
              <a:buNone/>
            </a:pPr>
            <a:r>
              <a:rPr lang="en-US" sz="1100" b="1">
                <a:solidFill>
                  <a:srgbClr val="2D1B69"/>
                </a:solidFill>
                <a:latin typeface="Calibri" pitchFamily="34" charset="0"/>
                <a:ea typeface="Calibri" pitchFamily="34" charset="-122"/>
                <a:cs typeface="Calibri" pitchFamily="34" charset="-120"/>
              </a:rPr>
              <a:t>Consistency </a:t>
            </a:r>
            <a:r>
              <a:rPr lang="en-US" sz="1100" b="1" dirty="0">
                <a:solidFill>
                  <a:srgbClr val="2D1B69"/>
                </a:solidFill>
                <a:latin typeface="Calibri" pitchFamily="34" charset="0"/>
                <a:ea typeface="Calibri" pitchFamily="34" charset="-122"/>
                <a:cs typeface="Calibri" pitchFamily="34" charset="-120"/>
              </a:rPr>
              <a:t>&amp; </a:t>
            </a:r>
            <a:r>
              <a:rPr lang="en-US" sz="1100" b="1">
                <a:solidFill>
                  <a:srgbClr val="2D1B69"/>
                </a:solidFill>
                <a:latin typeface="Calibri" pitchFamily="34" charset="0"/>
                <a:ea typeface="Calibri" pitchFamily="34" charset="-122"/>
                <a:cs typeface="Calibri" pitchFamily="34" charset="-120"/>
              </a:rPr>
              <a:t>Standardization</a:t>
            </a:r>
            <a:endParaRPr lang="en-US" sz="1100" dirty="0"/>
          </a:p>
        </p:txBody>
      </p:sp>
      <p:sp>
        <p:nvSpPr>
          <p:cNvPr id="13" name="Text 10"/>
          <p:cNvSpPr/>
          <p:nvPr/>
        </p:nvSpPr>
        <p:spPr>
          <a:xfrm>
            <a:off x="1170432" y="2198040"/>
            <a:ext cx="3383280" cy="384048"/>
          </a:xfrm>
          <a:prstGeom prst="rect">
            <a:avLst/>
          </a:prstGeom>
          <a:noFill/>
          <a:ln/>
        </p:spPr>
        <p:txBody>
          <a:bodyPr wrap="square" lIns="0" tIns="0" rIns="0" bIns="0" rtlCol="0" anchor="t"/>
          <a:lstStyle/>
          <a:p>
            <a:pPr marL="0" indent="0">
              <a:lnSpc>
                <a:spcPct val="100000"/>
              </a:lnSpc>
              <a:buNone/>
            </a:pPr>
            <a:r>
              <a:rPr lang="en-US" sz="900">
                <a:solidFill>
                  <a:srgbClr val="6E6E80"/>
                </a:solidFill>
                <a:latin typeface="Calibri" pitchFamily="34" charset="0"/>
                <a:ea typeface="Calibri" pitchFamily="34" charset="-122"/>
                <a:cs typeface="Calibri" pitchFamily="34" charset="-120"/>
              </a:rPr>
              <a:t>Standardize market and commodity name spelling/casing; confirm unit and currency consistency across records.</a:t>
            </a:r>
            <a:endParaRPr lang="en-US" sz="900" dirty="0"/>
          </a:p>
        </p:txBody>
      </p:sp>
      <p:sp>
        <p:nvSpPr>
          <p:cNvPr id="14" name="Shape 11"/>
          <p:cNvSpPr/>
          <p:nvPr/>
        </p:nvSpPr>
        <p:spPr>
          <a:xfrm>
            <a:off x="713232" y="2609520"/>
            <a:ext cx="329184" cy="329184"/>
          </a:xfrm>
          <a:prstGeom prst="ellipse">
            <a:avLst/>
          </a:prstGeom>
          <a:solidFill>
            <a:srgbClr val="5A3FA0"/>
          </a:solidFill>
          <a:ln/>
        </p:spPr>
        <p:txBody>
          <a:bodyPr/>
          <a:lstStyle/>
          <a:p>
            <a:endParaRPr lang="en-US"/>
          </a:p>
        </p:txBody>
      </p:sp>
      <p:sp>
        <p:nvSpPr>
          <p:cNvPr id="15" name="Text 12"/>
          <p:cNvSpPr/>
          <p:nvPr/>
        </p:nvSpPr>
        <p:spPr>
          <a:xfrm>
            <a:off x="713232" y="2609520"/>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03</a:t>
            </a:r>
            <a:endParaRPr lang="en-US" sz="1000" dirty="0"/>
          </a:p>
        </p:txBody>
      </p:sp>
      <p:sp>
        <p:nvSpPr>
          <p:cNvPr id="16" name="Text 13"/>
          <p:cNvSpPr/>
          <p:nvPr/>
        </p:nvSpPr>
        <p:spPr>
          <a:xfrm>
            <a:off x="1170432" y="2591232"/>
            <a:ext cx="3337560" cy="237744"/>
          </a:xfrm>
          <a:prstGeom prst="rect">
            <a:avLst/>
          </a:prstGeom>
          <a:noFill/>
          <a:ln/>
        </p:spPr>
        <p:txBody>
          <a:bodyPr wrap="square" lIns="0" tIns="0" rIns="0" bIns="0" rtlCol="0" anchor="ctr"/>
          <a:lstStyle/>
          <a:p>
            <a:pPr marL="0" indent="0">
              <a:buNone/>
            </a:pPr>
            <a:r>
              <a:rPr lang="en-US" sz="1100" b="1" dirty="0">
                <a:solidFill>
                  <a:srgbClr val="2D1B69"/>
                </a:solidFill>
                <a:latin typeface="Calibri" pitchFamily="34" charset="0"/>
                <a:ea typeface="Calibri" pitchFamily="34" charset="-122"/>
                <a:cs typeface="Calibri" pitchFamily="34" charset="-120"/>
              </a:rPr>
              <a:t>Data</a:t>
            </a:r>
            <a:r>
              <a:rPr lang="en-US" sz="1100" b="1">
                <a:solidFill>
                  <a:srgbClr val="2D1B69"/>
                </a:solidFill>
                <a:latin typeface="Calibri" pitchFamily="34" charset="0"/>
                <a:ea typeface="Calibri" pitchFamily="34" charset="-122"/>
                <a:cs typeface="Calibri" pitchFamily="34" charset="-120"/>
              </a:rPr>
              <a:t> Type Conversion</a:t>
            </a:r>
            <a:endParaRPr lang="en-US" sz="1100" dirty="0"/>
          </a:p>
        </p:txBody>
      </p:sp>
      <p:sp>
        <p:nvSpPr>
          <p:cNvPr id="17" name="Text 14"/>
          <p:cNvSpPr/>
          <p:nvPr/>
        </p:nvSpPr>
        <p:spPr>
          <a:xfrm>
            <a:off x="1170432" y="2828976"/>
            <a:ext cx="3383280" cy="384048"/>
          </a:xfrm>
          <a:prstGeom prst="rect">
            <a:avLst/>
          </a:prstGeom>
          <a:noFill/>
          <a:ln/>
        </p:spPr>
        <p:txBody>
          <a:bodyPr wrap="square" lIns="0" tIns="0" rIns="0" bIns="0" rtlCol="0" anchor="t"/>
          <a:lstStyle/>
          <a:p>
            <a:r>
              <a:rPr lang="en-US" sz="900" dirty="0">
                <a:solidFill>
                  <a:srgbClr val="6E6E80"/>
                </a:solidFill>
                <a:latin typeface="Calibri" pitchFamily="34" charset="0"/>
                <a:ea typeface="Calibri" pitchFamily="34" charset="-122"/>
                <a:cs typeface="Calibri" pitchFamily="34" charset="-120"/>
              </a:rPr>
              <a:t>The date column is converted to datetime to enable time-component extraction and regime segmentation.</a:t>
            </a:r>
            <a:endParaRPr lang="en-US" sz="900" dirty="0"/>
          </a:p>
        </p:txBody>
      </p:sp>
      <p:sp>
        <p:nvSpPr>
          <p:cNvPr id="18" name="Shape 15"/>
          <p:cNvSpPr/>
          <p:nvPr/>
        </p:nvSpPr>
        <p:spPr>
          <a:xfrm>
            <a:off x="713232" y="3337867"/>
            <a:ext cx="329184" cy="329184"/>
          </a:xfrm>
          <a:prstGeom prst="ellipse">
            <a:avLst/>
          </a:prstGeom>
          <a:solidFill>
            <a:srgbClr val="5A3FA0"/>
          </a:solidFill>
          <a:ln/>
        </p:spPr>
        <p:txBody>
          <a:bodyPr/>
          <a:lstStyle/>
          <a:p>
            <a:endParaRPr lang="en-US"/>
          </a:p>
        </p:txBody>
      </p:sp>
      <p:sp>
        <p:nvSpPr>
          <p:cNvPr id="19" name="Text 16"/>
          <p:cNvSpPr/>
          <p:nvPr/>
        </p:nvSpPr>
        <p:spPr>
          <a:xfrm>
            <a:off x="713232" y="3337867"/>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04</a:t>
            </a:r>
            <a:endParaRPr lang="en-US" sz="1000" dirty="0"/>
          </a:p>
        </p:txBody>
      </p:sp>
      <p:sp>
        <p:nvSpPr>
          <p:cNvPr id="22" name="Shape 19"/>
          <p:cNvSpPr/>
          <p:nvPr/>
        </p:nvSpPr>
        <p:spPr>
          <a:xfrm>
            <a:off x="713232" y="3968803"/>
            <a:ext cx="329184" cy="329184"/>
          </a:xfrm>
          <a:prstGeom prst="ellipse">
            <a:avLst/>
          </a:prstGeom>
          <a:solidFill>
            <a:srgbClr val="5A3FA0"/>
          </a:solidFill>
          <a:ln/>
        </p:spPr>
        <p:txBody>
          <a:bodyPr/>
          <a:lstStyle/>
          <a:p>
            <a:endParaRPr lang="en-US"/>
          </a:p>
        </p:txBody>
      </p:sp>
      <p:sp>
        <p:nvSpPr>
          <p:cNvPr id="23" name="Text 20"/>
          <p:cNvSpPr/>
          <p:nvPr/>
        </p:nvSpPr>
        <p:spPr>
          <a:xfrm>
            <a:off x="713232" y="3968803"/>
            <a:ext cx="329184"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05</a:t>
            </a:r>
            <a:endParaRPr lang="en-US" sz="1000" dirty="0"/>
          </a:p>
        </p:txBody>
      </p:sp>
      <p:sp>
        <p:nvSpPr>
          <p:cNvPr id="24" name="Text 21"/>
          <p:cNvSpPr/>
          <p:nvPr/>
        </p:nvSpPr>
        <p:spPr>
          <a:xfrm>
            <a:off x="1170432" y="3299005"/>
            <a:ext cx="3337560" cy="237744"/>
          </a:xfrm>
          <a:prstGeom prst="rect">
            <a:avLst/>
          </a:prstGeom>
          <a:noFill/>
          <a:ln/>
        </p:spPr>
        <p:txBody>
          <a:bodyPr wrap="square" lIns="0" tIns="0" rIns="0" bIns="0" rtlCol="0" anchor="ctr"/>
          <a:lstStyle/>
          <a:p>
            <a:pPr marL="0" indent="0">
              <a:buNone/>
            </a:pPr>
            <a:r>
              <a:rPr lang="en-US" sz="1100" b="1" dirty="0">
                <a:solidFill>
                  <a:srgbClr val="2D1B69"/>
                </a:solidFill>
                <a:latin typeface="Calibri" pitchFamily="34" charset="0"/>
                <a:ea typeface="Calibri" pitchFamily="34" charset="-122"/>
                <a:cs typeface="Calibri" pitchFamily="34" charset="-120"/>
              </a:rPr>
              <a:t>Feature Engineering</a:t>
            </a:r>
            <a:endParaRPr lang="en-US" sz="1100" dirty="0"/>
          </a:p>
        </p:txBody>
      </p:sp>
      <p:sp>
        <p:nvSpPr>
          <p:cNvPr id="25" name="Text 22"/>
          <p:cNvSpPr/>
          <p:nvPr/>
        </p:nvSpPr>
        <p:spPr>
          <a:xfrm>
            <a:off x="1170432" y="3536749"/>
            <a:ext cx="3383280" cy="384048"/>
          </a:xfrm>
          <a:prstGeom prst="rect">
            <a:avLst/>
          </a:prstGeom>
          <a:noFill/>
          <a:ln/>
        </p:spPr>
        <p:txBody>
          <a:bodyPr wrap="square" lIns="0" tIns="0" rIns="0" bIns="0" rtlCol="0" anchor="t"/>
          <a:lstStyle/>
          <a:p>
            <a:pPr marL="0" indent="0">
              <a:lnSpc>
                <a:spcPct val="100000"/>
              </a:lnSpc>
              <a:buNone/>
            </a:pPr>
            <a:r>
              <a:rPr lang="en-US" sz="900" dirty="0">
                <a:solidFill>
                  <a:srgbClr val="6E6E80"/>
                </a:solidFill>
                <a:latin typeface="Calibri" pitchFamily="34" charset="0"/>
                <a:ea typeface="Calibri" pitchFamily="34" charset="-122"/>
                <a:cs typeface="Calibri" pitchFamily="34" charset="-120"/>
              </a:rPr>
              <a:t>New features are created to support analysis and modeling.</a:t>
            </a:r>
            <a:endParaRPr lang="en-US" sz="900" dirty="0"/>
          </a:p>
        </p:txBody>
      </p:sp>
      <p:sp>
        <p:nvSpPr>
          <p:cNvPr id="26" name="Shape 23"/>
          <p:cNvSpPr/>
          <p:nvPr/>
        </p:nvSpPr>
        <p:spPr>
          <a:xfrm>
            <a:off x="4855464" y="826440"/>
            <a:ext cx="3794760" cy="2386584"/>
          </a:xfrm>
          <a:prstGeom prst="roundRect">
            <a:avLst>
              <a:gd name="adj" fmla="val 2427"/>
            </a:avLst>
          </a:prstGeom>
          <a:solidFill>
            <a:srgbClr val="FFFFFF"/>
          </a:solidFill>
          <a:ln/>
          <a:effectLst>
            <a:outerShdw blurRad="88900" dist="38100" dir="5400000" algn="bl" rotWithShape="0">
              <a:srgbClr val="1A0F40">
                <a:alpha val="35000"/>
              </a:srgbClr>
            </a:outerShdw>
          </a:effectLst>
        </p:spPr>
        <p:txBody>
          <a:bodyPr/>
          <a:lstStyle/>
          <a:p>
            <a:endParaRPr lang="en-US" dirty="0"/>
          </a:p>
        </p:txBody>
      </p:sp>
      <p:pic>
        <p:nvPicPr>
          <p:cNvPr id="27" name="Image 1" descr="preencoded.png"/>
          <p:cNvPicPr>
            <a:picLocks noChangeAspect="1"/>
          </p:cNvPicPr>
          <p:nvPr/>
        </p:nvPicPr>
        <p:blipFill>
          <a:blip r:embed="rId4"/>
          <a:stretch>
            <a:fillRect/>
          </a:stretch>
        </p:blipFill>
        <p:spPr>
          <a:xfrm>
            <a:off x="5065776" y="1009885"/>
            <a:ext cx="256032" cy="256032"/>
          </a:xfrm>
          <a:prstGeom prst="rect">
            <a:avLst/>
          </a:prstGeom>
        </p:spPr>
      </p:pic>
      <p:sp>
        <p:nvSpPr>
          <p:cNvPr id="28" name="Text 24"/>
          <p:cNvSpPr/>
          <p:nvPr/>
        </p:nvSpPr>
        <p:spPr>
          <a:xfrm>
            <a:off x="5413248" y="963599"/>
            <a:ext cx="3017520" cy="334475"/>
          </a:xfrm>
          <a:prstGeom prst="rect">
            <a:avLst/>
          </a:prstGeom>
          <a:noFill/>
          <a:ln/>
        </p:spPr>
        <p:txBody>
          <a:bodyPr wrap="square" lIns="0" tIns="0" rIns="0" bIns="0" rtlCol="0" anchor="ctr"/>
          <a:lstStyle/>
          <a:p>
            <a:pPr marL="0" indent="0">
              <a:buNone/>
            </a:pPr>
            <a:r>
              <a:rPr lang="en-US" sz="1300" b="1" dirty="0">
                <a:solidFill>
                  <a:srgbClr val="2D1B69"/>
                </a:solidFill>
                <a:latin typeface="Calibri" pitchFamily="34" charset="0"/>
                <a:ea typeface="Calibri" pitchFamily="34" charset="-122"/>
                <a:cs typeface="Calibri" pitchFamily="34" charset="-120"/>
              </a:rPr>
              <a:t>Data</a:t>
            </a:r>
            <a:r>
              <a:rPr lang="en-US" sz="1300" b="1">
                <a:solidFill>
                  <a:srgbClr val="2D1B69"/>
                </a:solidFill>
                <a:latin typeface="Calibri" pitchFamily="34" charset="0"/>
                <a:ea typeface="Calibri" pitchFamily="34" charset="-122"/>
                <a:cs typeface="Calibri" pitchFamily="34" charset="-120"/>
              </a:rPr>
              <a:t> Quality Findings</a:t>
            </a:r>
            <a:endParaRPr lang="en-US" sz="1300" dirty="0"/>
          </a:p>
        </p:txBody>
      </p:sp>
      <p:sp>
        <p:nvSpPr>
          <p:cNvPr id="30" name="Text 25"/>
          <p:cNvSpPr/>
          <p:nvPr/>
        </p:nvSpPr>
        <p:spPr>
          <a:xfrm>
            <a:off x="5541264" y="1475663"/>
            <a:ext cx="2926080" cy="295125"/>
          </a:xfrm>
          <a:prstGeom prst="rect">
            <a:avLst/>
          </a:prstGeom>
          <a:noFill/>
          <a:ln/>
        </p:spPr>
        <p:txBody>
          <a:bodyPr wrap="square" lIns="0" tIns="0" rIns="0" bIns="0" rtlCol="0" anchor="ctr"/>
          <a:lstStyle/>
          <a:p>
            <a:pPr marL="0" indent="0">
              <a:buNone/>
            </a:pPr>
            <a:r>
              <a:rPr lang="en-US" sz="1150" b="1" dirty="0">
                <a:solidFill>
                  <a:srgbClr val="2D1B69"/>
                </a:solidFill>
                <a:latin typeface="Calibri" pitchFamily="34" charset="0"/>
                <a:ea typeface="Calibri" pitchFamily="34" charset="-122"/>
                <a:cs typeface="Calibri" pitchFamily="34" charset="-120"/>
              </a:rPr>
              <a:t>Missing Values</a:t>
            </a:r>
            <a:endParaRPr lang="en-US" sz="1150" dirty="0"/>
          </a:p>
        </p:txBody>
      </p:sp>
      <p:sp>
        <p:nvSpPr>
          <p:cNvPr id="31" name="Text 26"/>
          <p:cNvSpPr/>
          <p:nvPr/>
        </p:nvSpPr>
        <p:spPr>
          <a:xfrm>
            <a:off x="5541263" y="1749984"/>
            <a:ext cx="3017519" cy="393500"/>
          </a:xfrm>
          <a:prstGeom prst="rect">
            <a:avLst/>
          </a:prstGeom>
          <a:noFill/>
          <a:ln/>
        </p:spPr>
        <p:txBody>
          <a:bodyPr wrap="square" lIns="0" tIns="0" rIns="0" bIns="0" rtlCol="0" anchor="t"/>
          <a:lstStyle/>
          <a:p>
            <a:pPr marL="0" indent="0">
              <a:buNone/>
            </a:pPr>
            <a:r>
              <a:rPr lang="en-US" sz="950" dirty="0">
                <a:solidFill>
                  <a:srgbClr val="6E6E80"/>
                </a:solidFill>
                <a:latin typeface="Calibri" pitchFamily="34" charset="0"/>
                <a:ea typeface="Calibri" pitchFamily="34" charset="-122"/>
                <a:cs typeface="Calibri" pitchFamily="34" charset="-120"/>
              </a:rPr>
              <a:t>Missing values in </a:t>
            </a:r>
            <a:r>
              <a:rPr lang="en-US" sz="950" dirty="0" err="1">
                <a:solidFill>
                  <a:srgbClr val="6E6E80"/>
                </a:solidFill>
                <a:latin typeface="Calibri" pitchFamily="34" charset="0"/>
                <a:ea typeface="Calibri" pitchFamily="34" charset="-122"/>
                <a:cs typeface="Calibri" pitchFamily="34" charset="-120"/>
              </a:rPr>
              <a:t>usdprice</a:t>
            </a:r>
            <a:r>
              <a:rPr lang="en-US" sz="950" dirty="0">
                <a:solidFill>
                  <a:srgbClr val="6E6E80"/>
                </a:solidFill>
                <a:latin typeface="Calibri" pitchFamily="34" charset="0"/>
                <a:ea typeface="Calibri" pitchFamily="34" charset="-122"/>
                <a:cs typeface="Calibri" pitchFamily="34" charset="-120"/>
              </a:rPr>
              <a:t> and various categorical columns. Handled by imputing 0 for </a:t>
            </a:r>
            <a:r>
              <a:rPr lang="en-US" sz="950" dirty="0" err="1">
                <a:solidFill>
                  <a:srgbClr val="6E6E80"/>
                </a:solidFill>
                <a:latin typeface="Calibri" pitchFamily="34" charset="0"/>
                <a:ea typeface="Calibri" pitchFamily="34" charset="-122"/>
                <a:cs typeface="Calibri" pitchFamily="34" charset="-120"/>
              </a:rPr>
              <a:t>usdprices</a:t>
            </a:r>
            <a:r>
              <a:rPr lang="en-US" sz="950" dirty="0">
                <a:solidFill>
                  <a:srgbClr val="6E6E80"/>
                </a:solidFill>
                <a:latin typeface="Calibri" pitchFamily="34" charset="0"/>
                <a:ea typeface="Calibri" pitchFamily="34" charset="-122"/>
                <a:cs typeface="Calibri" pitchFamily="34" charset="-120"/>
              </a:rPr>
              <a:t> and “Unknown” for others.</a:t>
            </a:r>
            <a:endParaRPr lang="en-US" sz="950" dirty="0"/>
          </a:p>
        </p:txBody>
      </p:sp>
      <p:pic>
        <p:nvPicPr>
          <p:cNvPr id="35" name="Image 4" descr="preencoded.png"/>
          <p:cNvPicPr>
            <a:picLocks noChangeAspect="1"/>
          </p:cNvPicPr>
          <p:nvPr/>
        </p:nvPicPr>
        <p:blipFill>
          <a:blip r:embed="rId5"/>
          <a:stretch>
            <a:fillRect/>
          </a:stretch>
        </p:blipFill>
        <p:spPr>
          <a:xfrm>
            <a:off x="5079819" y="2302435"/>
            <a:ext cx="310896" cy="310896"/>
          </a:xfrm>
          <a:prstGeom prst="rect">
            <a:avLst/>
          </a:prstGeom>
        </p:spPr>
      </p:pic>
      <p:sp>
        <p:nvSpPr>
          <p:cNvPr id="36" name="Text 29"/>
          <p:cNvSpPr/>
          <p:nvPr/>
        </p:nvSpPr>
        <p:spPr>
          <a:xfrm>
            <a:off x="5522976" y="2208350"/>
            <a:ext cx="2926080" cy="295125"/>
          </a:xfrm>
          <a:prstGeom prst="rect">
            <a:avLst/>
          </a:prstGeom>
          <a:noFill/>
          <a:ln/>
        </p:spPr>
        <p:txBody>
          <a:bodyPr wrap="square" lIns="0" tIns="0" rIns="0" bIns="0" rtlCol="0" anchor="ctr"/>
          <a:lstStyle/>
          <a:p>
            <a:pPr marL="0" indent="0">
              <a:buNone/>
            </a:pPr>
            <a:r>
              <a:rPr lang="en-US" sz="1150" b="1">
                <a:solidFill>
                  <a:srgbClr val="2D1B69"/>
                </a:solidFill>
                <a:latin typeface="Calibri" pitchFamily="34" charset="0"/>
                <a:ea typeface="Calibri" pitchFamily="34" charset="-122"/>
                <a:cs typeface="Calibri" pitchFamily="34" charset="-120"/>
              </a:rPr>
              <a:t>Duplicate Rows</a:t>
            </a:r>
            <a:endParaRPr lang="en-US" sz="1150" dirty="0"/>
          </a:p>
        </p:txBody>
      </p:sp>
      <p:sp>
        <p:nvSpPr>
          <p:cNvPr id="37" name="Text 30"/>
          <p:cNvSpPr/>
          <p:nvPr/>
        </p:nvSpPr>
        <p:spPr>
          <a:xfrm>
            <a:off x="5522976" y="2482671"/>
            <a:ext cx="2971800" cy="393500"/>
          </a:xfrm>
          <a:prstGeom prst="rect">
            <a:avLst/>
          </a:prstGeom>
          <a:noFill/>
          <a:ln/>
        </p:spPr>
        <p:txBody>
          <a:bodyPr wrap="square" lIns="0" tIns="0" rIns="0" bIns="0" rtlCol="0" anchor="t"/>
          <a:lstStyle/>
          <a:p>
            <a:pPr marL="0" indent="0">
              <a:buNone/>
            </a:pPr>
            <a:r>
              <a:rPr lang="en-US" sz="950" dirty="0">
                <a:solidFill>
                  <a:srgbClr val="6E6E80"/>
                </a:solidFill>
                <a:latin typeface="Calibri" pitchFamily="34" charset="0"/>
                <a:ea typeface="Calibri" pitchFamily="34" charset="-122"/>
                <a:cs typeface="Calibri" pitchFamily="34" charset="-120"/>
              </a:rPr>
              <a:t>0 duplicates found.</a:t>
            </a:r>
            <a:endParaRPr lang="en-US" sz="950" dirty="0"/>
          </a:p>
        </p:txBody>
      </p:sp>
      <p:sp>
        <p:nvSpPr>
          <p:cNvPr id="44" name="Text 21">
            <a:extLst>
              <a:ext uri="{FF2B5EF4-FFF2-40B4-BE49-F238E27FC236}">
                <a16:creationId xmlns:a16="http://schemas.microsoft.com/office/drawing/2014/main" id="{6B39D2E1-244E-A206-8897-C6299A1E2507}"/>
              </a:ext>
            </a:extLst>
          </p:cNvPr>
          <p:cNvSpPr/>
          <p:nvPr/>
        </p:nvSpPr>
        <p:spPr>
          <a:xfrm>
            <a:off x="1133856" y="3920797"/>
            <a:ext cx="3337560" cy="237744"/>
          </a:xfrm>
          <a:prstGeom prst="rect">
            <a:avLst/>
          </a:prstGeom>
          <a:noFill/>
          <a:ln/>
        </p:spPr>
        <p:txBody>
          <a:bodyPr wrap="square" lIns="0" tIns="0" rIns="0" bIns="0" rtlCol="0" anchor="ctr"/>
          <a:lstStyle/>
          <a:p>
            <a:pPr marL="0" indent="0">
              <a:buNone/>
            </a:pPr>
            <a:r>
              <a:rPr lang="en-US" sz="1100" b="1">
                <a:solidFill>
                  <a:srgbClr val="2D1B69"/>
                </a:solidFill>
                <a:latin typeface="Calibri" pitchFamily="34" charset="0"/>
                <a:cs typeface="Calibri" pitchFamily="34" charset="-120"/>
              </a:rPr>
              <a:t>Monthly Aggregation</a:t>
            </a:r>
            <a:endParaRPr lang="en-US" sz="1100" dirty="0"/>
          </a:p>
        </p:txBody>
      </p:sp>
      <p:sp>
        <p:nvSpPr>
          <p:cNvPr id="45" name="Text 22">
            <a:extLst>
              <a:ext uri="{FF2B5EF4-FFF2-40B4-BE49-F238E27FC236}">
                <a16:creationId xmlns:a16="http://schemas.microsoft.com/office/drawing/2014/main" id="{71BC574A-E533-5FBE-21D1-37BB2D5E86E3}"/>
              </a:ext>
            </a:extLst>
          </p:cNvPr>
          <p:cNvSpPr/>
          <p:nvPr/>
        </p:nvSpPr>
        <p:spPr>
          <a:xfrm>
            <a:off x="1133856" y="4158541"/>
            <a:ext cx="3383280" cy="384048"/>
          </a:xfrm>
          <a:prstGeom prst="rect">
            <a:avLst/>
          </a:prstGeom>
          <a:noFill/>
          <a:ln/>
        </p:spPr>
        <p:txBody>
          <a:bodyPr wrap="square" lIns="0" tIns="0" rIns="0" bIns="0" rtlCol="0" anchor="t"/>
          <a:lstStyle/>
          <a:p>
            <a:r>
              <a:rPr lang="en-US" sz="900">
                <a:solidFill>
                  <a:srgbClr val="6E6E80"/>
                </a:solidFill>
                <a:latin typeface="Calibri" pitchFamily="34" charset="0"/>
                <a:ea typeface="Calibri" pitchFamily="34" charset="-122"/>
                <a:cs typeface="Calibri" pitchFamily="34" charset="-120"/>
              </a:rPr>
              <a:t>Raw price observations are aggregated to a consistent monthly series per market and commodity to stabilize the regime-detection and forecasting pipeline.</a:t>
            </a:r>
          </a:p>
        </p:txBody>
      </p:sp>
      <p:pic>
        <p:nvPicPr>
          <p:cNvPr id="21" name="Image 4" descr="preencoded.png">
            <a:extLst>
              <a:ext uri="{FF2B5EF4-FFF2-40B4-BE49-F238E27FC236}">
                <a16:creationId xmlns:a16="http://schemas.microsoft.com/office/drawing/2014/main" id="{979085B6-19D1-CF50-C8DC-1878F9E40059}"/>
              </a:ext>
            </a:extLst>
          </p:cNvPr>
          <p:cNvPicPr>
            <a:picLocks noChangeAspect="1"/>
          </p:cNvPicPr>
          <p:nvPr/>
        </p:nvPicPr>
        <p:blipFill>
          <a:blip r:embed="rId5"/>
          <a:stretch>
            <a:fillRect/>
          </a:stretch>
        </p:blipFill>
        <p:spPr>
          <a:xfrm>
            <a:off x="5068611" y="2777216"/>
            <a:ext cx="310896" cy="310896"/>
          </a:xfrm>
          <a:prstGeom prst="rect">
            <a:avLst/>
          </a:prstGeom>
        </p:spPr>
      </p:pic>
      <p:sp>
        <p:nvSpPr>
          <p:cNvPr id="29" name="Text 29">
            <a:extLst>
              <a:ext uri="{FF2B5EF4-FFF2-40B4-BE49-F238E27FC236}">
                <a16:creationId xmlns:a16="http://schemas.microsoft.com/office/drawing/2014/main" id="{E1D3AA78-D3EC-DECD-EC6B-3F631ED44116}"/>
              </a:ext>
            </a:extLst>
          </p:cNvPr>
          <p:cNvSpPr/>
          <p:nvPr/>
        </p:nvSpPr>
        <p:spPr>
          <a:xfrm>
            <a:off x="5511768" y="2683131"/>
            <a:ext cx="2926080" cy="295125"/>
          </a:xfrm>
          <a:prstGeom prst="rect">
            <a:avLst/>
          </a:prstGeom>
          <a:noFill/>
          <a:ln/>
        </p:spPr>
        <p:txBody>
          <a:bodyPr wrap="square" lIns="0" tIns="0" rIns="0" bIns="0" rtlCol="0" anchor="ctr"/>
          <a:lstStyle/>
          <a:p>
            <a:pPr marL="0" indent="0">
              <a:buNone/>
            </a:pPr>
            <a:r>
              <a:rPr lang="en-US" sz="1150" b="1">
                <a:solidFill>
                  <a:srgbClr val="2D1B69"/>
                </a:solidFill>
                <a:latin typeface="Calibri" pitchFamily="34" charset="0"/>
                <a:cs typeface="Calibri" pitchFamily="34" charset="-120"/>
              </a:rPr>
              <a:t>Consistent </a:t>
            </a:r>
            <a:r>
              <a:rPr lang="en-US" sz="1150" b="1" dirty="0">
                <a:solidFill>
                  <a:srgbClr val="2D1B69"/>
                </a:solidFill>
                <a:latin typeface="Calibri" pitchFamily="34" charset="0"/>
                <a:cs typeface="Calibri" pitchFamily="34" charset="-120"/>
              </a:rPr>
              <a:t>Format</a:t>
            </a:r>
            <a:endParaRPr lang="en-US" sz="1150" dirty="0"/>
          </a:p>
        </p:txBody>
      </p:sp>
      <p:sp>
        <p:nvSpPr>
          <p:cNvPr id="32" name="Text 30">
            <a:extLst>
              <a:ext uri="{FF2B5EF4-FFF2-40B4-BE49-F238E27FC236}">
                <a16:creationId xmlns:a16="http://schemas.microsoft.com/office/drawing/2014/main" id="{FEBC52B7-6146-3DBB-4A15-B8916289F619}"/>
              </a:ext>
            </a:extLst>
          </p:cNvPr>
          <p:cNvSpPr/>
          <p:nvPr/>
        </p:nvSpPr>
        <p:spPr>
          <a:xfrm>
            <a:off x="5511768" y="2957452"/>
            <a:ext cx="2971800" cy="393500"/>
          </a:xfrm>
          <a:prstGeom prst="rect">
            <a:avLst/>
          </a:prstGeom>
          <a:noFill/>
          <a:ln/>
        </p:spPr>
        <p:txBody>
          <a:bodyPr wrap="square" lIns="0" tIns="0" rIns="0" bIns="0" rtlCol="0" anchor="t"/>
          <a:lstStyle/>
          <a:p>
            <a:r>
              <a:rPr lang="en-US" sz="950" dirty="0">
                <a:solidFill>
                  <a:srgbClr val="6E6E80"/>
                </a:solidFill>
                <a:latin typeface="Calibri" pitchFamily="34" charset="0"/>
                <a:ea typeface="Calibri" pitchFamily="34" charset="-122"/>
                <a:cs typeface="Calibri" pitchFamily="34" charset="-120"/>
              </a:rPr>
              <a:t>All categorical columns verified consistent.</a:t>
            </a:r>
            <a:endParaRPr lang="en-US" sz="950" dirty="0"/>
          </a:p>
        </p:txBody>
      </p:sp>
      <p:pic>
        <p:nvPicPr>
          <p:cNvPr id="46" name="Copied Picture 46">
            <a:extLst>
              <a:ext uri="{FF2B5EF4-FFF2-40B4-BE49-F238E27FC236}">
                <a16:creationId xmlns:a16="http://schemas.microsoft.com/office/drawing/2014/main" id="{098C5A1E-651C-798D-5D81-541A1CCCDFF3}"/>
              </a:ext>
            </a:extLst>
          </p:cNvPr>
          <p:cNvPicPr>
            <a:picLocks noChangeAspect="1"/>
          </p:cNvPicPr>
          <p:nvPr/>
        </p:nvPicPr>
        <p:blipFill>
          <a:blip r:embed="rId6"/>
          <a:stretch/>
        </p:blipFill>
        <p:spPr>
          <a:xfrm>
            <a:off x="7901259" y="101600"/>
            <a:ext cx="1141141" cy="753153"/>
          </a:xfrm>
          <a:prstGeom prst="rect">
            <a:avLst/>
          </a:prstGeom>
        </p:spPr>
      </p:pic>
      <p:pic>
        <p:nvPicPr>
          <p:cNvPr id="34" name="Graphic 33" descr="Close with solid fill">
            <a:extLst>
              <a:ext uri="{FF2B5EF4-FFF2-40B4-BE49-F238E27FC236}">
                <a16:creationId xmlns:a16="http://schemas.microsoft.com/office/drawing/2014/main" id="{51D7984F-B768-1D0C-4D1E-F991841A514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079820" y="1512241"/>
            <a:ext cx="334476" cy="334476"/>
          </a:xfrm>
          <a:prstGeom prst="rect">
            <a:avLst/>
          </a:prstGeom>
        </p:spPr>
      </p:pic>
      <p:pic>
        <p:nvPicPr>
          <p:cNvPr id="47" name="Picture 46">
            <a:extLst>
              <a:ext uri="{FF2B5EF4-FFF2-40B4-BE49-F238E27FC236}">
                <a16:creationId xmlns:a16="http://schemas.microsoft.com/office/drawing/2014/main" id="{58123DBC-0322-7860-9951-8E10EAED3DE7}"/>
              </a:ext>
            </a:extLst>
          </p:cNvPr>
          <p:cNvPicPr>
            <a:picLocks noChangeAspect="1"/>
          </p:cNvPicPr>
          <p:nvPr/>
        </p:nvPicPr>
        <p:blipFill>
          <a:blip r:embed="rId8"/>
          <a:stretch>
            <a:fillRect/>
          </a:stretch>
        </p:blipFill>
        <p:spPr>
          <a:xfrm>
            <a:off x="6056671" y="3300845"/>
            <a:ext cx="1455174" cy="1737521"/>
          </a:xfrm>
          <a:prstGeom prst="rect">
            <a:avLst/>
          </a:prstGeom>
        </p:spPr>
      </p:pic>
    </p:spTree>
    <p:extLst>
      <p:ext uri="{BB962C8B-B14F-4D97-AF65-F5344CB8AC3E}">
        <p14:creationId xmlns:p14="http://schemas.microsoft.com/office/powerpoint/2010/main" val="12271462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a:extLst>
            <a:ext uri="{FF2B5EF4-FFF2-40B4-BE49-F238E27FC236}">
              <a16:creationId xmlns:a16="http://schemas.microsoft.com/office/drawing/2014/main" id="{F9B61FF8-1EC3-A1D9-8D19-F871EEF7AE5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0D29081-4581-802A-8C50-982867834029}"/>
              </a:ext>
            </a:extLst>
          </p:cNvPr>
          <p:cNvSpPr/>
          <p:nvPr/>
        </p:nvSpPr>
        <p:spPr>
          <a:xfrm>
            <a:off x="457198" y="23259"/>
            <a:ext cx="82296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rPr>
              <a:t>Global Outlier</a:t>
            </a:r>
            <a:endParaRPr lang="en-US" sz="3000" dirty="0"/>
          </a:p>
        </p:txBody>
      </p:sp>
      <p:pic>
        <p:nvPicPr>
          <p:cNvPr id="8" name="Copied Picture 8">
            <a:extLst>
              <a:ext uri="{FF2B5EF4-FFF2-40B4-BE49-F238E27FC236}">
                <a16:creationId xmlns:a16="http://schemas.microsoft.com/office/drawing/2014/main" id="{F64505A7-4C4D-04E7-F0EA-3E7ACFC05EAF}"/>
              </a:ext>
            </a:extLst>
          </p:cNvPr>
          <p:cNvPicPr>
            <a:picLocks noChangeAspect="1"/>
          </p:cNvPicPr>
          <p:nvPr/>
        </p:nvPicPr>
        <p:blipFill>
          <a:blip r:embed="rId3"/>
          <a:stretch/>
        </p:blipFill>
        <p:spPr>
          <a:xfrm>
            <a:off x="7901259" y="101600"/>
            <a:ext cx="1141141" cy="753153"/>
          </a:xfrm>
          <a:prstGeom prst="rect">
            <a:avLst/>
          </a:prstGeom>
        </p:spPr>
      </p:pic>
      <p:sp>
        <p:nvSpPr>
          <p:cNvPr id="9" name="Shape 3">
            <a:extLst>
              <a:ext uri="{FF2B5EF4-FFF2-40B4-BE49-F238E27FC236}">
                <a16:creationId xmlns:a16="http://schemas.microsoft.com/office/drawing/2014/main" id="{B0DC224C-4233-60A8-C6EE-3BBC69FDDDA4}"/>
              </a:ext>
            </a:extLst>
          </p:cNvPr>
          <p:cNvSpPr/>
          <p:nvPr/>
        </p:nvSpPr>
        <p:spPr>
          <a:xfrm>
            <a:off x="4892038" y="878861"/>
            <a:ext cx="3794760" cy="3184609"/>
          </a:xfrm>
          <a:prstGeom prst="roundRect">
            <a:avLst>
              <a:gd name="adj" fmla="val 3448"/>
            </a:avLst>
          </a:prstGeom>
          <a:solidFill>
            <a:srgbClr val="FFFFFF"/>
          </a:solidFill>
          <a:ln/>
          <a:effectLst>
            <a:outerShdw blurRad="88900" dist="38100" dir="5400000" algn="bl" rotWithShape="0">
              <a:srgbClr val="1A0F40">
                <a:alpha val="35000"/>
              </a:srgbClr>
            </a:outerShdw>
          </a:effectLst>
        </p:spPr>
        <p:txBody>
          <a:bodyPr/>
          <a:lstStyle/>
          <a:p>
            <a:endParaRPr lang="en-US"/>
          </a:p>
        </p:txBody>
      </p:sp>
      <p:sp>
        <p:nvSpPr>
          <p:cNvPr id="11" name="Text 4">
            <a:extLst>
              <a:ext uri="{FF2B5EF4-FFF2-40B4-BE49-F238E27FC236}">
                <a16:creationId xmlns:a16="http://schemas.microsoft.com/office/drawing/2014/main" id="{E19CBF24-4699-D941-7309-22676944B1D7}"/>
              </a:ext>
            </a:extLst>
          </p:cNvPr>
          <p:cNvSpPr/>
          <p:nvPr/>
        </p:nvSpPr>
        <p:spPr>
          <a:xfrm>
            <a:off x="5120638" y="1080030"/>
            <a:ext cx="3337560" cy="2912850"/>
          </a:xfrm>
          <a:prstGeom prst="rect">
            <a:avLst/>
          </a:prstGeom>
          <a:noFill/>
          <a:ln/>
        </p:spPr>
        <p:txBody>
          <a:bodyPr wrap="square" lIns="0" tIns="0" rIns="0" bIns="0" rtlCol="0" anchor="t"/>
          <a:lstStyle/>
          <a:p>
            <a:pPr marL="0" indent="0" algn="just">
              <a:lnSpc>
                <a:spcPct val="108000"/>
              </a:lnSpc>
              <a:buNone/>
            </a:pPr>
            <a:r>
              <a:rPr lang="en-US" sz="970" b="1" dirty="0">
                <a:solidFill>
                  <a:srgbClr val="2D1B69"/>
                </a:solidFill>
                <a:latin typeface="Calibri" pitchFamily="34" charset="0"/>
                <a:ea typeface="Calibri" pitchFamily="34" charset="-122"/>
                <a:cs typeface="Calibri" pitchFamily="34" charset="-120"/>
              </a:rPr>
              <a:t>Exploratory Outlier Detection</a:t>
            </a:r>
            <a:endParaRPr lang="en-US" sz="970" dirty="0"/>
          </a:p>
          <a:p>
            <a:pPr algn="just">
              <a:lnSpc>
                <a:spcPct val="108000"/>
              </a:lnSpc>
            </a:pPr>
            <a:r>
              <a:rPr lang="en-US" sz="970" dirty="0">
                <a:solidFill>
                  <a:srgbClr val="3A3A4A"/>
                </a:solidFill>
                <a:latin typeface="Calibri" pitchFamily="34" charset="0"/>
                <a:ea typeface="Calibri" pitchFamily="34" charset="-122"/>
                <a:cs typeface="Calibri" pitchFamily="34" charset="-120"/>
              </a:rPr>
              <a:t>The IQR method is applied </a:t>
            </a:r>
            <a:r>
              <a:rPr lang="en-US" sz="970" b="1" dirty="0">
                <a:solidFill>
                  <a:srgbClr val="3A3A4A"/>
                </a:solidFill>
                <a:latin typeface="Calibri" pitchFamily="34" charset="0"/>
                <a:ea typeface="Calibri" pitchFamily="34" charset="-122"/>
                <a:cs typeface="Calibri" pitchFamily="34" charset="-120"/>
              </a:rPr>
              <a:t>globally first </a:t>
            </a:r>
            <a:r>
              <a:rPr lang="en-US" sz="970" dirty="0">
                <a:solidFill>
                  <a:srgbClr val="3A3A4A"/>
                </a:solidFill>
                <a:latin typeface="Calibri" pitchFamily="34" charset="0"/>
                <a:ea typeface="Calibri" pitchFamily="34" charset="-122"/>
                <a:cs typeface="Calibri" pitchFamily="34" charset="-120"/>
              </a:rPr>
              <a:t>(across all countries and commodities) to understand overall data quality, using standard IQR bounds (Q1 − 1.5×IQR, Q3 + 1.5×IQR).</a:t>
            </a:r>
          </a:p>
          <a:p>
            <a:pPr algn="just">
              <a:lnSpc>
                <a:spcPct val="108000"/>
              </a:lnSpc>
            </a:pPr>
            <a:r>
              <a:rPr lang="en-US" sz="970" dirty="0">
                <a:solidFill>
                  <a:srgbClr val="3A3A4A"/>
                </a:solidFill>
                <a:latin typeface="Calibri" pitchFamily="34" charset="0"/>
                <a:ea typeface="Calibri" pitchFamily="34" charset="-122"/>
                <a:cs typeface="Calibri" pitchFamily="34" charset="-120"/>
              </a:rPr>
              <a:t>
Outlier range %:</a:t>
            </a:r>
          </a:p>
          <a:p>
            <a:pPr algn="just">
              <a:lnSpc>
                <a:spcPct val="108000"/>
              </a:lnSpc>
            </a:pPr>
            <a:endParaRPr lang="en-US" sz="970" dirty="0">
              <a:solidFill>
                <a:srgbClr val="3A3A4A"/>
              </a:solidFill>
              <a:latin typeface="Calibri" pitchFamily="34" charset="0"/>
              <a:ea typeface="Calibri" pitchFamily="34" charset="-122"/>
              <a:cs typeface="Calibri" pitchFamily="34" charset="-120"/>
            </a:endParaRPr>
          </a:p>
          <a:p>
            <a:pPr algn="just">
              <a:lnSpc>
                <a:spcPct val="108000"/>
              </a:lnSpc>
            </a:pPr>
            <a:r>
              <a:rPr lang="en-US" sz="970" b="1" dirty="0">
                <a:solidFill>
                  <a:srgbClr val="3A3A4A"/>
                </a:solidFill>
                <a:latin typeface="Calibri" pitchFamily="34" charset="0"/>
                <a:ea typeface="Calibri" pitchFamily="34" charset="-122"/>
                <a:cs typeface="Calibri" pitchFamily="34" charset="-120"/>
              </a:rPr>
              <a:t>11,78% </a:t>
            </a:r>
            <a:r>
              <a:rPr lang="en-US" sz="970" dirty="0">
                <a:solidFill>
                  <a:srgbClr val="3A3A4A"/>
                </a:solidFill>
                <a:latin typeface="Calibri" pitchFamily="34" charset="0"/>
                <a:ea typeface="Calibri" pitchFamily="34" charset="-122"/>
                <a:cs typeface="Calibri" pitchFamily="34" charset="-120"/>
              </a:rPr>
              <a:t>of global rows flagged</a:t>
            </a:r>
          </a:p>
          <a:p>
            <a:pPr algn="just">
              <a:lnSpc>
                <a:spcPct val="108000"/>
              </a:lnSpc>
            </a:pPr>
            <a:endParaRPr lang="en-US" sz="970" dirty="0"/>
          </a:p>
          <a:p>
            <a:pPr marL="0" indent="0" algn="just">
              <a:lnSpc>
                <a:spcPct val="108000"/>
              </a:lnSpc>
              <a:buNone/>
            </a:pPr>
            <a:r>
              <a:rPr lang="en-US" sz="970" b="1" dirty="0">
                <a:solidFill>
                  <a:srgbClr val="2D1B69"/>
                </a:solidFill>
                <a:latin typeface="Calibri" pitchFamily="34" charset="0"/>
                <a:ea typeface="Calibri" pitchFamily="34" charset="-122"/>
                <a:cs typeface="Calibri" pitchFamily="34" charset="-120"/>
              </a:rPr>
              <a:t>Decision</a:t>
            </a:r>
            <a:endParaRPr lang="en-US" sz="970" dirty="0"/>
          </a:p>
          <a:p>
            <a:pPr marL="0" indent="0" algn="just">
              <a:lnSpc>
                <a:spcPct val="108000"/>
              </a:lnSpc>
              <a:buNone/>
            </a:pPr>
            <a:r>
              <a:rPr lang="en-US" sz="970" dirty="0">
                <a:solidFill>
                  <a:srgbClr val="3A3A4A"/>
                </a:solidFill>
                <a:latin typeface="Calibri" pitchFamily="34" charset="0"/>
                <a:ea typeface="Calibri" pitchFamily="34" charset="-122"/>
                <a:cs typeface="Calibri" pitchFamily="34" charset="-120"/>
              </a:rPr>
              <a:t>Outliers are flagged, </a:t>
            </a:r>
            <a:r>
              <a:rPr lang="en-US" sz="970" b="1" dirty="0">
                <a:solidFill>
                  <a:srgbClr val="3A3A4A"/>
                </a:solidFill>
                <a:latin typeface="Calibri" pitchFamily="34" charset="0"/>
                <a:ea typeface="Calibri" pitchFamily="34" charset="-122"/>
                <a:cs typeface="Calibri" pitchFamily="34" charset="-120"/>
              </a:rPr>
              <a:t>not removed</a:t>
            </a:r>
            <a:r>
              <a:rPr lang="en-US" sz="970" dirty="0">
                <a:solidFill>
                  <a:srgbClr val="3A3A4A"/>
                </a:solidFill>
                <a:latin typeface="Calibri" pitchFamily="34" charset="0"/>
                <a:ea typeface="Calibri" pitchFamily="34" charset="-122"/>
                <a:cs typeface="Calibri" pitchFamily="34" charset="-120"/>
              </a:rPr>
              <a:t>.</a:t>
            </a:r>
          </a:p>
          <a:p>
            <a:pPr marL="0" indent="0" algn="just">
              <a:lnSpc>
                <a:spcPct val="108000"/>
              </a:lnSpc>
              <a:buNone/>
            </a:pPr>
            <a:endParaRPr lang="en-US" sz="970" dirty="0">
              <a:solidFill>
                <a:srgbClr val="3A3A4A"/>
              </a:solidFill>
              <a:latin typeface="Calibri" pitchFamily="34" charset="0"/>
              <a:ea typeface="Calibri" pitchFamily="34" charset="-122"/>
              <a:cs typeface="Calibri" pitchFamily="34" charset="-120"/>
            </a:endParaRPr>
          </a:p>
          <a:p>
            <a:pPr marL="0" indent="0" algn="just">
              <a:lnSpc>
                <a:spcPct val="108000"/>
              </a:lnSpc>
              <a:buNone/>
            </a:pPr>
            <a:r>
              <a:rPr lang="en-US" sz="970" b="1" dirty="0">
                <a:solidFill>
                  <a:srgbClr val="2D1B69"/>
                </a:solidFill>
                <a:latin typeface="Calibri" pitchFamily="34" charset="0"/>
                <a:ea typeface="Calibri" pitchFamily="34" charset="-122"/>
                <a:cs typeface="Calibri" pitchFamily="34" charset="-120"/>
              </a:rPr>
              <a:t>Reason</a:t>
            </a:r>
            <a:endParaRPr lang="en-US" sz="970" dirty="0"/>
          </a:p>
          <a:p>
            <a:pPr marL="0" indent="0" algn="just">
              <a:lnSpc>
                <a:spcPct val="108000"/>
              </a:lnSpc>
              <a:buNone/>
            </a:pPr>
            <a:r>
              <a:rPr lang="en-US" sz="970" dirty="0">
                <a:solidFill>
                  <a:srgbClr val="3A3A4A"/>
                </a:solidFill>
                <a:latin typeface="Calibri" pitchFamily="34" charset="0"/>
                <a:ea typeface="Calibri" pitchFamily="34" charset="-122"/>
                <a:cs typeface="Calibri" pitchFamily="34" charset="-120"/>
              </a:rPr>
              <a:t>These outliers represent genuine </a:t>
            </a:r>
            <a:r>
              <a:rPr lang="en-US" sz="970" b="1" dirty="0">
                <a:solidFill>
                  <a:srgbClr val="3A3A4A"/>
                </a:solidFill>
                <a:latin typeface="Calibri" pitchFamily="34" charset="0"/>
                <a:ea typeface="Calibri" pitchFamily="34" charset="-122"/>
                <a:cs typeface="Calibri" pitchFamily="34" charset="-120"/>
              </a:rPr>
              <a:t>price extremes across different countries and commodities</a:t>
            </a:r>
            <a:r>
              <a:rPr lang="en-US" sz="970" dirty="0">
                <a:solidFill>
                  <a:srgbClr val="3A3A4A"/>
                </a:solidFill>
                <a:latin typeface="Calibri" pitchFamily="34" charset="0"/>
                <a:ea typeface="Calibri" pitchFamily="34" charset="-122"/>
                <a:cs typeface="Calibri" pitchFamily="34" charset="-120"/>
              </a:rPr>
              <a:t>, not data entry errors. Removing them would distort cross-country comparisons and hide legitimate market events.</a:t>
            </a:r>
            <a:endParaRPr lang="en-US" sz="970" i="1" dirty="0"/>
          </a:p>
        </p:txBody>
      </p:sp>
      <p:pic>
        <p:nvPicPr>
          <p:cNvPr id="13" name="Picture 12">
            <a:extLst>
              <a:ext uri="{FF2B5EF4-FFF2-40B4-BE49-F238E27FC236}">
                <a16:creationId xmlns:a16="http://schemas.microsoft.com/office/drawing/2014/main" id="{D7CC1AD7-EC3C-4B26-B9F9-89C6D4BCD2D5}"/>
              </a:ext>
            </a:extLst>
          </p:cNvPr>
          <p:cNvPicPr>
            <a:picLocks noChangeAspect="1"/>
          </p:cNvPicPr>
          <p:nvPr/>
        </p:nvPicPr>
        <p:blipFill>
          <a:blip r:embed="rId4"/>
          <a:srcRect b="4310"/>
          <a:stretch>
            <a:fillRect/>
          </a:stretch>
        </p:blipFill>
        <p:spPr>
          <a:xfrm>
            <a:off x="859454" y="705571"/>
            <a:ext cx="3032384" cy="1866179"/>
          </a:xfrm>
          <a:prstGeom prst="rect">
            <a:avLst/>
          </a:prstGeom>
        </p:spPr>
      </p:pic>
      <p:pic>
        <p:nvPicPr>
          <p:cNvPr id="15" name="Picture 14">
            <a:extLst>
              <a:ext uri="{FF2B5EF4-FFF2-40B4-BE49-F238E27FC236}">
                <a16:creationId xmlns:a16="http://schemas.microsoft.com/office/drawing/2014/main" id="{47DE84A0-D867-D363-9C27-F9277BEE270B}"/>
              </a:ext>
            </a:extLst>
          </p:cNvPr>
          <p:cNvPicPr>
            <a:picLocks noChangeAspect="1"/>
          </p:cNvPicPr>
          <p:nvPr/>
        </p:nvPicPr>
        <p:blipFill>
          <a:blip r:embed="rId5"/>
          <a:stretch>
            <a:fillRect/>
          </a:stretch>
        </p:blipFill>
        <p:spPr>
          <a:xfrm>
            <a:off x="918496" y="2780985"/>
            <a:ext cx="2914299" cy="2111729"/>
          </a:xfrm>
          <a:prstGeom prst="rect">
            <a:avLst/>
          </a:prstGeom>
        </p:spPr>
      </p:pic>
    </p:spTree>
    <p:extLst>
      <p:ext uri="{BB962C8B-B14F-4D97-AF65-F5344CB8AC3E}">
        <p14:creationId xmlns:p14="http://schemas.microsoft.com/office/powerpoint/2010/main" val="19912957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a:extLst>
            <a:ext uri="{FF2B5EF4-FFF2-40B4-BE49-F238E27FC236}">
              <a16:creationId xmlns:a16="http://schemas.microsoft.com/office/drawing/2014/main" id="{D6C33488-1B40-CFB6-65F6-583125C2FF4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F50EFAF-DBDD-2651-B059-C1CF9C93DEFD}"/>
              </a:ext>
            </a:extLst>
          </p:cNvPr>
          <p:cNvSpPr/>
          <p:nvPr/>
        </p:nvSpPr>
        <p:spPr>
          <a:xfrm>
            <a:off x="457200" y="1846580"/>
            <a:ext cx="8229600" cy="822960"/>
          </a:xfrm>
          <a:prstGeom prst="rect">
            <a:avLst/>
          </a:prstGeom>
          <a:noFill/>
          <a:ln/>
        </p:spPr>
        <p:txBody>
          <a:bodyPr wrap="square" lIns="0" tIns="0" rIns="0" bIns="0" rtlCol="0" anchor="ctr"/>
          <a:lstStyle/>
          <a:p>
            <a:pPr marL="0" indent="0" algn="ctr">
              <a:buNone/>
            </a:pPr>
            <a:r>
              <a:rPr lang="en-US" sz="4200" b="1" dirty="0">
                <a:solidFill>
                  <a:srgbClr val="FFFFFF"/>
                </a:solidFill>
                <a:latin typeface="Cambria" pitchFamily="34" charset="0"/>
                <a:ea typeface="Cambria" pitchFamily="34" charset="-122"/>
                <a:cs typeface="Cambria" pitchFamily="34" charset="-120"/>
              </a:rPr>
              <a:t>Exploratory Data Analysis</a:t>
            </a:r>
            <a:endParaRPr lang="en-US" sz="4200" dirty="0"/>
          </a:p>
        </p:txBody>
      </p:sp>
      <p:sp>
        <p:nvSpPr>
          <p:cNvPr id="4" name="Shape 2">
            <a:extLst>
              <a:ext uri="{FF2B5EF4-FFF2-40B4-BE49-F238E27FC236}">
                <a16:creationId xmlns:a16="http://schemas.microsoft.com/office/drawing/2014/main" id="{979FB07F-9F60-118D-BB5D-8E3AE7FA6308}"/>
              </a:ext>
            </a:extLst>
          </p:cNvPr>
          <p:cNvSpPr/>
          <p:nvPr/>
        </p:nvSpPr>
        <p:spPr>
          <a:xfrm>
            <a:off x="2850187" y="2844437"/>
            <a:ext cx="1549191" cy="502920"/>
          </a:xfrm>
          <a:prstGeom prst="roundRect">
            <a:avLst>
              <a:gd name="adj" fmla="val 21818"/>
            </a:avLst>
          </a:prstGeom>
          <a:solidFill>
            <a:srgbClr val="473A77"/>
          </a:solidFill>
          <a:ln/>
        </p:spPr>
        <p:txBody>
          <a:bodyPr/>
          <a:lstStyle/>
          <a:p>
            <a:endParaRPr lang="en-US"/>
          </a:p>
        </p:txBody>
      </p:sp>
      <p:sp>
        <p:nvSpPr>
          <p:cNvPr id="5" name="Text 3">
            <a:extLst>
              <a:ext uri="{FF2B5EF4-FFF2-40B4-BE49-F238E27FC236}">
                <a16:creationId xmlns:a16="http://schemas.microsoft.com/office/drawing/2014/main" id="{6718200C-BE90-2150-98CD-A32E2C1D4E14}"/>
              </a:ext>
            </a:extLst>
          </p:cNvPr>
          <p:cNvSpPr/>
          <p:nvPr/>
        </p:nvSpPr>
        <p:spPr>
          <a:xfrm>
            <a:off x="2850186" y="2844437"/>
            <a:ext cx="1549191"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Global</a:t>
            </a:r>
            <a:endParaRPr lang="en-US" sz="1300" dirty="0"/>
          </a:p>
        </p:txBody>
      </p:sp>
      <p:sp>
        <p:nvSpPr>
          <p:cNvPr id="9" name="Shape 4">
            <a:extLst>
              <a:ext uri="{FF2B5EF4-FFF2-40B4-BE49-F238E27FC236}">
                <a16:creationId xmlns:a16="http://schemas.microsoft.com/office/drawing/2014/main" id="{DDD7297A-9D84-6C77-A531-B54E54834B3A}"/>
              </a:ext>
            </a:extLst>
          </p:cNvPr>
          <p:cNvSpPr/>
          <p:nvPr/>
        </p:nvSpPr>
        <p:spPr>
          <a:xfrm>
            <a:off x="4661495" y="2834640"/>
            <a:ext cx="1649810" cy="502920"/>
          </a:xfrm>
          <a:prstGeom prst="roundRect">
            <a:avLst>
              <a:gd name="adj" fmla="val 21818"/>
            </a:avLst>
          </a:prstGeom>
          <a:solidFill>
            <a:srgbClr val="473A77"/>
          </a:solidFill>
          <a:ln/>
        </p:spPr>
        <p:txBody>
          <a:bodyPr/>
          <a:lstStyle/>
          <a:p>
            <a:endParaRPr lang="en-US" dirty="0"/>
          </a:p>
        </p:txBody>
      </p:sp>
      <p:sp>
        <p:nvSpPr>
          <p:cNvPr id="11" name="Text 5">
            <a:extLst>
              <a:ext uri="{FF2B5EF4-FFF2-40B4-BE49-F238E27FC236}">
                <a16:creationId xmlns:a16="http://schemas.microsoft.com/office/drawing/2014/main" id="{7F26C8CE-7358-AECF-F698-D2B6B505F7BC}"/>
              </a:ext>
            </a:extLst>
          </p:cNvPr>
          <p:cNvSpPr/>
          <p:nvPr/>
        </p:nvSpPr>
        <p:spPr>
          <a:xfrm>
            <a:off x="4661495" y="2844437"/>
            <a:ext cx="164981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Indonesian deep-dive</a:t>
            </a:r>
            <a:endParaRPr lang="en-US" sz="1300" dirty="0"/>
          </a:p>
        </p:txBody>
      </p:sp>
      <p:pic>
        <p:nvPicPr>
          <p:cNvPr id="12" name="Copied Picture 12">
            <a:extLst>
              <a:ext uri="{FF2B5EF4-FFF2-40B4-BE49-F238E27FC236}">
                <a16:creationId xmlns:a16="http://schemas.microsoft.com/office/drawing/2014/main" id="{FEB7E158-422F-E335-00B3-93A279BC3041}"/>
              </a:ext>
            </a:extLst>
          </p:cNvPr>
          <p:cNvPicPr>
            <a:picLocks noChangeAspect="1"/>
          </p:cNvPicPr>
          <p:nvPr/>
        </p:nvPicPr>
        <p:blipFill>
          <a:blip r:embed="rId3"/>
          <a:stretch/>
        </p:blipFill>
        <p:spPr>
          <a:xfrm>
            <a:off x="7901259" y="101600"/>
            <a:ext cx="1141141" cy="753153"/>
          </a:xfrm>
          <a:prstGeom prst="rect">
            <a:avLst/>
          </a:prstGeom>
        </p:spPr>
      </p:pic>
    </p:spTree>
    <p:extLst>
      <p:ext uri="{BB962C8B-B14F-4D97-AF65-F5344CB8AC3E}">
        <p14:creationId xmlns:p14="http://schemas.microsoft.com/office/powerpoint/2010/main" val="19860168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bg>
      <p:bgPr>
        <a:solidFill>
          <a:srgbClr val="2D1B69"/>
        </a:solidFill>
        <a:effectLst/>
      </p:bgPr>
    </p:bg>
    <p:spTree>
      <p:nvGrpSpPr>
        <p:cNvPr id="1" name=""/>
        <p:cNvGrpSpPr/>
        <p:nvPr/>
      </p:nvGrpSpPr>
      <p:grpSpPr>
        <a:xfrm>
          <a:off x="0" y="0"/>
          <a:ext cx="0" cy="0"/>
          <a:chOff x="0" y="0"/>
          <a:chExt cx="0" cy="0"/>
        </a:xfrm>
      </p:grpSpPr>
      <p:sp>
        <p:nvSpPr>
          <p:cNvPr id="2" name="Text 0"/>
          <p:cNvSpPr/>
          <p:nvPr/>
        </p:nvSpPr>
        <p:spPr>
          <a:xfrm>
            <a:off x="457198" y="23259"/>
            <a:ext cx="82296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Global Overview</a:t>
            </a:r>
            <a:endParaRPr lang="en-US" sz="3000" dirty="0"/>
          </a:p>
        </p:txBody>
      </p:sp>
      <p:sp>
        <p:nvSpPr>
          <p:cNvPr id="5" name="Shape 3"/>
          <p:cNvSpPr/>
          <p:nvPr/>
        </p:nvSpPr>
        <p:spPr>
          <a:xfrm>
            <a:off x="4671906" y="927566"/>
            <a:ext cx="3794760" cy="3704621"/>
          </a:xfrm>
          <a:prstGeom prst="roundRect">
            <a:avLst>
              <a:gd name="adj" fmla="val 3448"/>
            </a:avLst>
          </a:prstGeom>
          <a:solidFill>
            <a:srgbClr val="FFFFFF"/>
          </a:solidFill>
          <a:ln/>
          <a:effectLst>
            <a:outerShdw blurRad="88900" dist="38100" dir="5400000" algn="bl" rotWithShape="0">
              <a:srgbClr val="1A0F40">
                <a:alpha val="35000"/>
              </a:srgbClr>
            </a:outerShdw>
          </a:effectLst>
        </p:spPr>
        <p:txBody>
          <a:bodyPr/>
          <a:lstStyle/>
          <a:p>
            <a:endParaRPr lang="en-US"/>
          </a:p>
        </p:txBody>
      </p:sp>
      <p:sp>
        <p:nvSpPr>
          <p:cNvPr id="6" name="Text 4"/>
          <p:cNvSpPr/>
          <p:nvPr/>
        </p:nvSpPr>
        <p:spPr>
          <a:xfrm>
            <a:off x="4900506" y="1128735"/>
            <a:ext cx="3337560" cy="3367426"/>
          </a:xfrm>
          <a:prstGeom prst="rect">
            <a:avLst/>
          </a:prstGeom>
          <a:noFill/>
          <a:ln/>
        </p:spPr>
        <p:txBody>
          <a:bodyPr wrap="square" lIns="0" tIns="0" rIns="0" bIns="0" rtlCol="0" anchor="t"/>
          <a:lstStyle/>
          <a:p>
            <a:pPr marL="0" indent="0" algn="l">
              <a:lnSpc>
                <a:spcPct val="108000"/>
              </a:lnSpc>
              <a:buNone/>
            </a:pPr>
            <a:r>
              <a:rPr lang="en-US" sz="970" b="1" dirty="0">
                <a:solidFill>
                  <a:srgbClr val="2D1B69"/>
                </a:solidFill>
                <a:latin typeface="Calibri" pitchFamily="34" charset="0"/>
                <a:ea typeface="Calibri" pitchFamily="34" charset="-122"/>
                <a:cs typeface="Calibri" pitchFamily="34" charset="-120"/>
              </a:rPr>
              <a:t>Global Data Coverage</a:t>
            </a:r>
            <a:endParaRPr lang="en-US" sz="970" dirty="0"/>
          </a:p>
          <a:p>
            <a:pPr algn="just">
              <a:lnSpc>
                <a:spcPct val="108000"/>
              </a:lnSpc>
            </a:pPr>
            <a:r>
              <a:rPr lang="en-US" sz="970" dirty="0">
                <a:solidFill>
                  <a:srgbClr val="3A3A4A"/>
                </a:solidFill>
                <a:latin typeface="Calibri" pitchFamily="34" charset="0"/>
                <a:ea typeface="Calibri" pitchFamily="34" charset="-122"/>
                <a:cs typeface="Calibri" pitchFamily="34" charset="-120"/>
              </a:rPr>
              <a:t>Data coverage and observation type were examined across all countries, since inconsistent coverage or a high share of estimated (non-actual) data would undermine reliability at the country level.</a:t>
            </a:r>
          </a:p>
          <a:p>
            <a:pPr algn="just">
              <a:lnSpc>
                <a:spcPct val="108000"/>
              </a:lnSpc>
            </a:pPr>
            <a:endParaRPr lang="en-US" sz="970" dirty="0"/>
          </a:p>
          <a:p>
            <a:pPr marL="0" indent="0" algn="l">
              <a:lnSpc>
                <a:spcPct val="108000"/>
              </a:lnSpc>
              <a:buNone/>
            </a:pPr>
            <a:r>
              <a:rPr lang="en-US" sz="970" b="1" dirty="0">
                <a:solidFill>
                  <a:srgbClr val="2D1B69"/>
                </a:solidFill>
                <a:latin typeface="Calibri" pitchFamily="34" charset="0"/>
                <a:ea typeface="Calibri" pitchFamily="34" charset="-122"/>
                <a:cs typeface="Calibri" pitchFamily="34" charset="-120"/>
              </a:rPr>
              <a:t>Coverage &amp; </a:t>
            </a:r>
            <a:r>
              <a:rPr lang="en-US" sz="970" b="1" dirty="0" err="1">
                <a:solidFill>
                  <a:srgbClr val="2D1B69"/>
                </a:solidFill>
                <a:latin typeface="Calibri" pitchFamily="34" charset="0"/>
                <a:ea typeface="Calibri" pitchFamily="34" charset="-122"/>
                <a:cs typeface="Calibri" pitchFamily="34" charset="-120"/>
              </a:rPr>
              <a:t>Priceflag</a:t>
            </a:r>
            <a:r>
              <a:rPr lang="en-US" sz="970" b="1" dirty="0">
                <a:solidFill>
                  <a:srgbClr val="2D1B69"/>
                </a:solidFill>
                <a:latin typeface="Calibri" pitchFamily="34" charset="0"/>
                <a:ea typeface="Calibri" pitchFamily="34" charset="-122"/>
                <a:cs typeface="Calibri" pitchFamily="34" charset="-120"/>
              </a:rPr>
              <a:t> finding</a:t>
            </a:r>
            <a:endParaRPr lang="en-US" sz="970" dirty="0"/>
          </a:p>
          <a:p>
            <a:pPr marL="0" indent="0" algn="just">
              <a:lnSpc>
                <a:spcPct val="108000"/>
              </a:lnSpc>
              <a:buNone/>
            </a:pPr>
            <a:r>
              <a:rPr lang="en-US" sz="970" dirty="0">
                <a:solidFill>
                  <a:srgbClr val="3A3A4A"/>
                </a:solidFill>
                <a:latin typeface="Calibri" pitchFamily="34" charset="0"/>
                <a:ea typeface="Calibri" pitchFamily="34" charset="-122"/>
                <a:cs typeface="Calibri" pitchFamily="34" charset="-120"/>
              </a:rPr>
              <a:t>Top 15 countries </a:t>
            </a:r>
            <a:r>
              <a:rPr lang="en-US" sz="970" b="1" dirty="0">
                <a:solidFill>
                  <a:srgbClr val="3A3A4A"/>
                </a:solidFill>
                <a:latin typeface="Calibri" pitchFamily="34" charset="0"/>
                <a:ea typeface="Calibri" pitchFamily="34" charset="-122"/>
                <a:cs typeface="Calibri" pitchFamily="34" charset="-120"/>
              </a:rPr>
              <a:t>show full 48-month coverage</a:t>
            </a:r>
            <a:r>
              <a:rPr lang="en-US" sz="970" dirty="0">
                <a:solidFill>
                  <a:srgbClr val="3A3A4A"/>
                </a:solidFill>
                <a:latin typeface="Calibri" pitchFamily="34" charset="0"/>
                <a:ea typeface="Calibri" pitchFamily="34" charset="-122"/>
                <a:cs typeface="Calibri" pitchFamily="34" charset="-120"/>
              </a:rPr>
              <a:t>. The complete training window this analysis requires. Countries below this threshold were deprioritized during country selection.</a:t>
            </a:r>
          </a:p>
          <a:p>
            <a:pPr marL="0" indent="0" algn="just">
              <a:lnSpc>
                <a:spcPct val="108000"/>
              </a:lnSpc>
              <a:buNone/>
            </a:pPr>
            <a:endParaRPr lang="en-US" sz="970" dirty="0">
              <a:solidFill>
                <a:srgbClr val="3A3A4A"/>
              </a:solidFill>
              <a:latin typeface="Calibri" pitchFamily="34" charset="0"/>
              <a:ea typeface="Calibri" pitchFamily="34" charset="-122"/>
              <a:cs typeface="Calibri" pitchFamily="34" charset="-120"/>
            </a:endParaRPr>
          </a:p>
          <a:p>
            <a:pPr algn="just">
              <a:lnSpc>
                <a:spcPct val="108000"/>
              </a:lnSpc>
            </a:pPr>
            <a:r>
              <a:rPr lang="en-US" sz="970" b="1" dirty="0">
                <a:solidFill>
                  <a:srgbClr val="3A3A4A"/>
                </a:solidFill>
                <a:latin typeface="Calibri" pitchFamily="34" charset="0"/>
                <a:ea typeface="Calibri" pitchFamily="34" charset="-122"/>
                <a:cs typeface="Calibri" pitchFamily="34" charset="-120"/>
              </a:rPr>
              <a:t>61.9% of global observations are actual</a:t>
            </a:r>
            <a:r>
              <a:rPr lang="en-US" sz="970" dirty="0">
                <a:solidFill>
                  <a:srgbClr val="3A3A4A"/>
                </a:solidFill>
                <a:latin typeface="Calibri" pitchFamily="34" charset="0"/>
                <a:ea typeface="Calibri" pitchFamily="34" charset="-122"/>
                <a:cs typeface="Calibri" pitchFamily="34" charset="-120"/>
              </a:rPr>
              <a:t> (directly field-observed), 37.7% are aggregate (WFP-estimated), and 0.3% are a mix of both. </a:t>
            </a:r>
          </a:p>
          <a:p>
            <a:pPr algn="just">
              <a:lnSpc>
                <a:spcPct val="108000"/>
              </a:lnSpc>
            </a:pPr>
            <a:endParaRPr lang="en-US" sz="970" dirty="0">
              <a:solidFill>
                <a:srgbClr val="3A3A4A"/>
              </a:solidFill>
              <a:latin typeface="Calibri" pitchFamily="34" charset="0"/>
              <a:ea typeface="Calibri" pitchFamily="34" charset="-122"/>
              <a:cs typeface="Calibri" pitchFamily="34" charset="-120"/>
            </a:endParaRPr>
          </a:p>
          <a:p>
            <a:pPr>
              <a:lnSpc>
                <a:spcPct val="108000"/>
              </a:lnSpc>
            </a:pPr>
            <a:r>
              <a:rPr lang="en-US" sz="970" b="1" dirty="0">
                <a:solidFill>
                  <a:srgbClr val="2D1B69"/>
                </a:solidFill>
                <a:latin typeface="Calibri" pitchFamily="34" charset="0"/>
                <a:ea typeface="Calibri" pitchFamily="34" charset="-122"/>
                <a:cs typeface="Calibri" pitchFamily="34" charset="-120"/>
              </a:rPr>
              <a:t>Why it matters</a:t>
            </a:r>
          </a:p>
          <a:p>
            <a:pPr algn="just">
              <a:lnSpc>
                <a:spcPct val="108000"/>
              </a:lnSpc>
            </a:pPr>
            <a:r>
              <a:rPr lang="en-US" sz="970" dirty="0">
                <a:solidFill>
                  <a:srgbClr val="3A3A4A"/>
                </a:solidFill>
                <a:latin typeface="Calibri" pitchFamily="34" charset="0"/>
                <a:ea typeface="Calibri" pitchFamily="34" charset="-122"/>
                <a:cs typeface="Calibri" pitchFamily="34" charset="-120"/>
              </a:rPr>
              <a:t>Full coverage and a healthy share of directly-observed data are two separate quality dimensions. A country could have complete monthly coverage but be entirely aggregate (estimated), or vice versa. </a:t>
            </a:r>
          </a:p>
        </p:txBody>
      </p:sp>
      <p:pic>
        <p:nvPicPr>
          <p:cNvPr id="8" name="Copied Picture 8">
            <a:extLst>
              <a:ext uri="{FF2B5EF4-FFF2-40B4-BE49-F238E27FC236}">
                <a16:creationId xmlns:a16="http://schemas.microsoft.com/office/drawing/2014/main" id="{098C5A1E-651C-798D-5D81-541A1CCCDFF3}"/>
              </a:ext>
            </a:extLst>
          </p:cNvPr>
          <p:cNvPicPr>
            <a:picLocks noChangeAspect="1"/>
          </p:cNvPicPr>
          <p:nvPr/>
        </p:nvPicPr>
        <p:blipFill>
          <a:blip r:embed="rId3"/>
          <a:stretch/>
        </p:blipFill>
        <p:spPr>
          <a:xfrm>
            <a:off x="7901259" y="101600"/>
            <a:ext cx="1141141" cy="753153"/>
          </a:xfrm>
          <a:prstGeom prst="rect">
            <a:avLst/>
          </a:prstGeom>
        </p:spPr>
      </p:pic>
      <p:pic>
        <p:nvPicPr>
          <p:cNvPr id="13" name="Picture 12">
            <a:extLst>
              <a:ext uri="{FF2B5EF4-FFF2-40B4-BE49-F238E27FC236}">
                <a16:creationId xmlns:a16="http://schemas.microsoft.com/office/drawing/2014/main" id="{D45675D2-8A18-C2EE-4257-043463CF4C73}"/>
              </a:ext>
            </a:extLst>
          </p:cNvPr>
          <p:cNvPicPr>
            <a:picLocks noChangeAspect="1"/>
          </p:cNvPicPr>
          <p:nvPr/>
        </p:nvPicPr>
        <p:blipFill>
          <a:blip r:embed="rId4"/>
          <a:stretch>
            <a:fillRect/>
          </a:stretch>
        </p:blipFill>
        <p:spPr>
          <a:xfrm>
            <a:off x="852162" y="663339"/>
            <a:ext cx="2788908" cy="2336800"/>
          </a:xfrm>
          <a:prstGeom prst="rect">
            <a:avLst/>
          </a:prstGeom>
        </p:spPr>
      </p:pic>
      <p:pic>
        <p:nvPicPr>
          <p:cNvPr id="15" name="Picture 14">
            <a:extLst>
              <a:ext uri="{FF2B5EF4-FFF2-40B4-BE49-F238E27FC236}">
                <a16:creationId xmlns:a16="http://schemas.microsoft.com/office/drawing/2014/main" id="{E7CB3B38-759B-F58F-9345-42DABE728275}"/>
              </a:ext>
            </a:extLst>
          </p:cNvPr>
          <p:cNvPicPr>
            <a:picLocks noChangeAspect="1"/>
          </p:cNvPicPr>
          <p:nvPr/>
        </p:nvPicPr>
        <p:blipFill>
          <a:blip r:embed="rId5"/>
          <a:stretch>
            <a:fillRect/>
          </a:stretch>
        </p:blipFill>
        <p:spPr>
          <a:xfrm>
            <a:off x="1392018" y="3223345"/>
            <a:ext cx="1707709" cy="1590972"/>
          </a:xfrm>
          <a:prstGeom prst="rect">
            <a:avLst/>
          </a:prstGeom>
        </p:spPr>
      </p:pic>
    </p:spTree>
    <p:extLst>
      <p:ext uri="{BB962C8B-B14F-4D97-AF65-F5344CB8AC3E}">
        <p14:creationId xmlns:p14="http://schemas.microsoft.com/office/powerpoint/2010/main" val="7449571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a:extLst>
            <a:ext uri="{FF2B5EF4-FFF2-40B4-BE49-F238E27FC236}">
              <a16:creationId xmlns:a16="http://schemas.microsoft.com/office/drawing/2014/main" id="{D6691DB5-3A33-FF4F-909A-28BECD06D16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7495C0D-D254-D388-8B72-880F507529DF}"/>
              </a:ext>
            </a:extLst>
          </p:cNvPr>
          <p:cNvSpPr/>
          <p:nvPr/>
        </p:nvSpPr>
        <p:spPr>
          <a:xfrm>
            <a:off x="457198" y="23259"/>
            <a:ext cx="82296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Outlier by Country</a:t>
            </a:r>
            <a:endParaRPr lang="en-US" sz="3000" dirty="0"/>
          </a:p>
        </p:txBody>
      </p:sp>
      <p:pic>
        <p:nvPicPr>
          <p:cNvPr id="8" name="Copied Picture 8">
            <a:extLst>
              <a:ext uri="{FF2B5EF4-FFF2-40B4-BE49-F238E27FC236}">
                <a16:creationId xmlns:a16="http://schemas.microsoft.com/office/drawing/2014/main" id="{3C80A566-E8F3-B9A3-D140-29C62B70042A}"/>
              </a:ext>
            </a:extLst>
          </p:cNvPr>
          <p:cNvPicPr>
            <a:picLocks noChangeAspect="1"/>
          </p:cNvPicPr>
          <p:nvPr/>
        </p:nvPicPr>
        <p:blipFill>
          <a:blip r:embed="rId3"/>
          <a:stretch/>
        </p:blipFill>
        <p:spPr>
          <a:xfrm>
            <a:off x="7887627" y="-83307"/>
            <a:ext cx="1141141" cy="753153"/>
          </a:xfrm>
          <a:prstGeom prst="rect">
            <a:avLst/>
          </a:prstGeom>
        </p:spPr>
      </p:pic>
      <p:pic>
        <p:nvPicPr>
          <p:cNvPr id="7" name="Picture 6">
            <a:extLst>
              <a:ext uri="{FF2B5EF4-FFF2-40B4-BE49-F238E27FC236}">
                <a16:creationId xmlns:a16="http://schemas.microsoft.com/office/drawing/2014/main" id="{E6C27FA0-2F24-A990-D421-0336511BA2B1}"/>
              </a:ext>
            </a:extLst>
          </p:cNvPr>
          <p:cNvPicPr>
            <a:picLocks noChangeAspect="1"/>
          </p:cNvPicPr>
          <p:nvPr/>
        </p:nvPicPr>
        <p:blipFill>
          <a:blip r:embed="rId4"/>
          <a:stretch>
            <a:fillRect/>
          </a:stretch>
        </p:blipFill>
        <p:spPr>
          <a:xfrm>
            <a:off x="685802" y="1081426"/>
            <a:ext cx="3055538" cy="2980647"/>
          </a:xfrm>
          <a:prstGeom prst="rect">
            <a:avLst/>
          </a:prstGeom>
        </p:spPr>
      </p:pic>
      <p:sp>
        <p:nvSpPr>
          <p:cNvPr id="9" name="Shape 3">
            <a:extLst>
              <a:ext uri="{FF2B5EF4-FFF2-40B4-BE49-F238E27FC236}">
                <a16:creationId xmlns:a16="http://schemas.microsoft.com/office/drawing/2014/main" id="{D3B74C65-E794-36E8-EE9C-D85B19438E5E}"/>
              </a:ext>
            </a:extLst>
          </p:cNvPr>
          <p:cNvSpPr/>
          <p:nvPr/>
        </p:nvSpPr>
        <p:spPr>
          <a:xfrm>
            <a:off x="4892038" y="535960"/>
            <a:ext cx="3794760" cy="4097000"/>
          </a:xfrm>
          <a:prstGeom prst="roundRect">
            <a:avLst>
              <a:gd name="adj" fmla="val 3448"/>
            </a:avLst>
          </a:prstGeom>
          <a:solidFill>
            <a:srgbClr val="FFFFFF"/>
          </a:solidFill>
          <a:ln/>
          <a:effectLst>
            <a:outerShdw blurRad="88900" dist="38100" dir="5400000" algn="bl" rotWithShape="0">
              <a:srgbClr val="1A0F40">
                <a:alpha val="35000"/>
              </a:srgbClr>
            </a:outerShdw>
          </a:effectLst>
        </p:spPr>
        <p:txBody>
          <a:bodyPr/>
          <a:lstStyle/>
          <a:p>
            <a:endParaRPr lang="en-US"/>
          </a:p>
        </p:txBody>
      </p:sp>
      <p:sp>
        <p:nvSpPr>
          <p:cNvPr id="11" name="Text 4">
            <a:extLst>
              <a:ext uri="{FF2B5EF4-FFF2-40B4-BE49-F238E27FC236}">
                <a16:creationId xmlns:a16="http://schemas.microsoft.com/office/drawing/2014/main" id="{4B3F0C1B-7E8F-7BD7-322A-AB7F41974702}"/>
              </a:ext>
            </a:extLst>
          </p:cNvPr>
          <p:cNvSpPr/>
          <p:nvPr/>
        </p:nvSpPr>
        <p:spPr>
          <a:xfrm>
            <a:off x="5120638" y="737130"/>
            <a:ext cx="3337560" cy="3796770"/>
          </a:xfrm>
          <a:prstGeom prst="rect">
            <a:avLst/>
          </a:prstGeom>
          <a:noFill/>
          <a:ln/>
        </p:spPr>
        <p:txBody>
          <a:bodyPr wrap="square" lIns="0" tIns="0" rIns="0" bIns="0" rtlCol="0" anchor="t"/>
          <a:lstStyle/>
          <a:p>
            <a:pPr marL="0" indent="0" algn="just">
              <a:lnSpc>
                <a:spcPct val="108000"/>
              </a:lnSpc>
              <a:buNone/>
            </a:pPr>
            <a:r>
              <a:rPr lang="en-US" sz="970" b="1" dirty="0">
                <a:solidFill>
                  <a:srgbClr val="2D1B69"/>
                </a:solidFill>
                <a:latin typeface="Calibri" pitchFamily="34" charset="0"/>
                <a:ea typeface="Calibri" pitchFamily="34" charset="-122"/>
                <a:cs typeface="Calibri" pitchFamily="34" charset="-120"/>
              </a:rPr>
              <a:t>Outlier Detection</a:t>
            </a:r>
          </a:p>
          <a:p>
            <a:pPr algn="just">
              <a:lnSpc>
                <a:spcPct val="108000"/>
              </a:lnSpc>
            </a:pPr>
            <a:r>
              <a:rPr lang="en-US" sz="970" dirty="0">
                <a:solidFill>
                  <a:srgbClr val="3A3A4A"/>
                </a:solidFill>
                <a:latin typeface="Calibri" pitchFamily="34" charset="0"/>
                <a:ea typeface="Calibri" pitchFamily="34" charset="-122"/>
                <a:cs typeface="Calibri" pitchFamily="34" charset="-120"/>
              </a:rPr>
              <a:t>The IQR method is </a:t>
            </a:r>
            <a:r>
              <a:rPr lang="en-US" sz="970" b="1" dirty="0">
                <a:solidFill>
                  <a:srgbClr val="3A3A4A"/>
                </a:solidFill>
                <a:latin typeface="Calibri" pitchFamily="34" charset="0"/>
                <a:ea typeface="Calibri" pitchFamily="34" charset="-122"/>
                <a:cs typeface="Calibri" pitchFamily="34" charset="-120"/>
              </a:rPr>
              <a:t>grouped by countries </a:t>
            </a:r>
            <a:r>
              <a:rPr lang="en-US" sz="970" dirty="0">
                <a:solidFill>
                  <a:srgbClr val="3A3A4A"/>
                </a:solidFill>
                <a:latin typeface="Calibri" pitchFamily="34" charset="0"/>
                <a:ea typeface="Calibri" pitchFamily="34" charset="-122"/>
                <a:cs typeface="Calibri" pitchFamily="34" charset="-120"/>
              </a:rPr>
              <a:t>(across all commodities), using standard IQR bounds (Q1 − 1.5×IQR, Q3 + 1.5×IQR)</a:t>
            </a:r>
          </a:p>
          <a:p>
            <a:pPr algn="just">
              <a:lnSpc>
                <a:spcPct val="108000"/>
              </a:lnSpc>
            </a:pPr>
            <a:endParaRPr lang="en-US" sz="970" dirty="0">
              <a:solidFill>
                <a:srgbClr val="3A3A4A"/>
              </a:solidFill>
              <a:latin typeface="Calibri" pitchFamily="34" charset="0"/>
              <a:ea typeface="Calibri" pitchFamily="34" charset="-122"/>
              <a:cs typeface="Calibri" pitchFamily="34" charset="-120"/>
            </a:endParaRPr>
          </a:p>
          <a:p>
            <a:pPr algn="just">
              <a:lnSpc>
                <a:spcPct val="108000"/>
              </a:lnSpc>
            </a:pPr>
            <a:r>
              <a:rPr lang="en-US" sz="970" b="1" dirty="0">
                <a:solidFill>
                  <a:srgbClr val="2D1B69"/>
                </a:solidFill>
                <a:latin typeface="Calibri" pitchFamily="34" charset="0"/>
                <a:ea typeface="Calibri" pitchFamily="34" charset="-122"/>
                <a:cs typeface="Calibri" pitchFamily="34" charset="-120"/>
              </a:rPr>
              <a:t>Results</a:t>
            </a:r>
            <a:endParaRPr lang="en-US" sz="970" dirty="0">
              <a:solidFill>
                <a:srgbClr val="3A3A4A"/>
              </a:solidFill>
              <a:latin typeface="Calibri" pitchFamily="34" charset="0"/>
              <a:ea typeface="Calibri" pitchFamily="34" charset="-122"/>
              <a:cs typeface="Calibri" pitchFamily="34" charset="-120"/>
            </a:endParaRPr>
          </a:p>
          <a:p>
            <a:pPr algn="just">
              <a:lnSpc>
                <a:spcPct val="108000"/>
              </a:lnSpc>
            </a:pPr>
            <a:r>
              <a:rPr lang="en-US" sz="970" dirty="0">
                <a:solidFill>
                  <a:srgbClr val="3A3A4A"/>
                </a:solidFill>
                <a:latin typeface="Calibri" pitchFamily="34" charset="0"/>
                <a:ea typeface="Calibri" pitchFamily="34" charset="-122"/>
                <a:cs typeface="Calibri" pitchFamily="34" charset="-120"/>
              </a:rPr>
              <a:t>171,965 outliers flagged (</a:t>
            </a:r>
            <a:r>
              <a:rPr lang="en-US" sz="970" b="1" dirty="0">
                <a:solidFill>
                  <a:srgbClr val="3A3A4A"/>
                </a:solidFill>
                <a:latin typeface="Calibri" pitchFamily="34" charset="0"/>
                <a:ea typeface="Calibri" pitchFamily="34" charset="-122"/>
                <a:cs typeface="Calibri" pitchFamily="34" charset="-120"/>
              </a:rPr>
              <a:t>9,31%</a:t>
            </a:r>
            <a:r>
              <a:rPr lang="en-US" sz="970" dirty="0">
                <a:solidFill>
                  <a:srgbClr val="3A3A4A"/>
                </a:solidFill>
                <a:latin typeface="Calibri" pitchFamily="34" charset="0"/>
                <a:ea typeface="Calibri" pitchFamily="34" charset="-122"/>
                <a:cs typeface="Calibri" pitchFamily="34" charset="-120"/>
              </a:rPr>
              <a:t> outlier rate)</a:t>
            </a:r>
          </a:p>
          <a:p>
            <a:pPr algn="just">
              <a:lnSpc>
                <a:spcPct val="108000"/>
              </a:lnSpc>
            </a:pPr>
            <a:endParaRPr lang="en-US" sz="970" dirty="0">
              <a:solidFill>
                <a:srgbClr val="3A3A4A"/>
              </a:solidFill>
              <a:latin typeface="Calibri" pitchFamily="34" charset="0"/>
              <a:ea typeface="Calibri" pitchFamily="34" charset="-122"/>
              <a:cs typeface="Calibri" pitchFamily="34" charset="-120"/>
            </a:endParaRPr>
          </a:p>
          <a:p>
            <a:pPr marL="0" indent="0" algn="just">
              <a:lnSpc>
                <a:spcPct val="108000"/>
              </a:lnSpc>
              <a:buNone/>
            </a:pPr>
            <a:r>
              <a:rPr lang="en-US" sz="970" b="1" dirty="0">
                <a:solidFill>
                  <a:srgbClr val="2D1B69"/>
                </a:solidFill>
                <a:latin typeface="Calibri" pitchFamily="34" charset="0"/>
                <a:ea typeface="Calibri" pitchFamily="34" charset="-122"/>
                <a:cs typeface="Calibri" pitchFamily="34" charset="-120"/>
              </a:rPr>
              <a:t>By Country</a:t>
            </a:r>
          </a:p>
          <a:p>
            <a:pPr algn="just">
              <a:lnSpc>
                <a:spcPct val="108000"/>
              </a:lnSpc>
            </a:pPr>
            <a:r>
              <a:rPr lang="en-US" sz="970" dirty="0">
                <a:solidFill>
                  <a:srgbClr val="3A3A4A"/>
                </a:solidFill>
                <a:latin typeface="Calibri" pitchFamily="34" charset="0"/>
                <a:ea typeface="Calibri" pitchFamily="34" charset="-122"/>
                <a:cs typeface="Calibri" pitchFamily="34" charset="-120"/>
              </a:rPr>
              <a:t>Indonesia (IDN) sits at the top of the list with 20,835 flagged outliers nearly double Syria’s 12,542 (2nd), suggesting an unusually wide gap in commodity pricing that makes it worth further investigation.</a:t>
            </a:r>
          </a:p>
          <a:p>
            <a:pPr algn="just">
              <a:lnSpc>
                <a:spcPct val="108000"/>
              </a:lnSpc>
            </a:pPr>
            <a:endParaRPr lang="en-US" sz="970" dirty="0">
              <a:solidFill>
                <a:srgbClr val="3A3A4A"/>
              </a:solidFill>
              <a:latin typeface="Calibri" pitchFamily="34" charset="0"/>
              <a:ea typeface="Calibri" pitchFamily="34" charset="-122"/>
              <a:cs typeface="Calibri" pitchFamily="34" charset="-120"/>
            </a:endParaRPr>
          </a:p>
          <a:p>
            <a:pPr marL="0" indent="0" algn="just">
              <a:lnSpc>
                <a:spcPct val="108000"/>
              </a:lnSpc>
              <a:buNone/>
            </a:pPr>
            <a:r>
              <a:rPr lang="en-US" sz="970" b="1" dirty="0">
                <a:solidFill>
                  <a:srgbClr val="2D1B69"/>
                </a:solidFill>
                <a:latin typeface="Calibri" pitchFamily="34" charset="0"/>
                <a:ea typeface="Calibri" pitchFamily="34" charset="-122"/>
                <a:cs typeface="Calibri" pitchFamily="34" charset="-120"/>
              </a:rPr>
              <a:t>Decision</a:t>
            </a:r>
          </a:p>
          <a:p>
            <a:pPr marL="0" indent="0" algn="just">
              <a:lnSpc>
                <a:spcPct val="108000"/>
              </a:lnSpc>
              <a:buNone/>
            </a:pPr>
            <a:r>
              <a:rPr lang="en-US" sz="970" dirty="0">
                <a:solidFill>
                  <a:srgbClr val="3A3A4A"/>
                </a:solidFill>
                <a:latin typeface="Calibri" pitchFamily="34" charset="0"/>
                <a:ea typeface="Calibri" pitchFamily="34" charset="-122"/>
                <a:cs typeface="Calibri" pitchFamily="34" charset="-120"/>
              </a:rPr>
              <a:t>Outliers are kept, </a:t>
            </a:r>
            <a:r>
              <a:rPr lang="en-US" sz="970" b="1" dirty="0">
                <a:solidFill>
                  <a:srgbClr val="3A3A4A"/>
                </a:solidFill>
                <a:latin typeface="Calibri" pitchFamily="34" charset="0"/>
                <a:ea typeface="Calibri" pitchFamily="34" charset="-122"/>
                <a:cs typeface="Calibri" pitchFamily="34" charset="-120"/>
              </a:rPr>
              <a:t>not removed</a:t>
            </a:r>
            <a:r>
              <a:rPr lang="en-US" sz="970" dirty="0">
                <a:solidFill>
                  <a:srgbClr val="3A3A4A"/>
                </a:solidFill>
                <a:latin typeface="Calibri" pitchFamily="34" charset="0"/>
                <a:ea typeface="Calibri" pitchFamily="34" charset="-122"/>
                <a:cs typeface="Calibri" pitchFamily="34" charset="-120"/>
              </a:rPr>
              <a:t>.</a:t>
            </a:r>
          </a:p>
          <a:p>
            <a:pPr marL="0" indent="0" algn="just">
              <a:lnSpc>
                <a:spcPct val="108000"/>
              </a:lnSpc>
              <a:buNone/>
            </a:pPr>
            <a:endParaRPr lang="en-US" sz="970" dirty="0">
              <a:solidFill>
                <a:srgbClr val="3A3A4A"/>
              </a:solidFill>
              <a:latin typeface="Calibri" pitchFamily="34" charset="0"/>
              <a:ea typeface="Calibri" pitchFamily="34" charset="-122"/>
              <a:cs typeface="Calibri" pitchFamily="34" charset="-120"/>
            </a:endParaRPr>
          </a:p>
          <a:p>
            <a:pPr marL="0" indent="0" algn="just">
              <a:lnSpc>
                <a:spcPct val="108000"/>
              </a:lnSpc>
              <a:buNone/>
            </a:pPr>
            <a:r>
              <a:rPr lang="en-US" sz="970" b="1" dirty="0">
                <a:solidFill>
                  <a:srgbClr val="2D1B69"/>
                </a:solidFill>
                <a:latin typeface="Calibri" pitchFamily="34" charset="0"/>
                <a:ea typeface="Calibri" pitchFamily="34" charset="-122"/>
                <a:cs typeface="Calibri" pitchFamily="34" charset="-120"/>
              </a:rPr>
              <a:t>Reason</a:t>
            </a:r>
          </a:p>
          <a:p>
            <a:pPr marL="0" indent="0" algn="just">
              <a:lnSpc>
                <a:spcPct val="108000"/>
              </a:lnSpc>
              <a:buNone/>
            </a:pPr>
            <a:r>
              <a:rPr lang="en-US" sz="970" dirty="0">
                <a:solidFill>
                  <a:srgbClr val="3A3A4A"/>
                </a:solidFill>
                <a:latin typeface="Calibri" pitchFamily="34" charset="0"/>
                <a:ea typeface="Calibri" pitchFamily="34" charset="-122"/>
                <a:cs typeface="Calibri" pitchFamily="34" charset="-120"/>
              </a:rPr>
              <a:t>Outliers represent genuine price extremes, not data entry errors. Removing them would hide the legitimate market events.</a:t>
            </a:r>
          </a:p>
          <a:p>
            <a:pPr marL="0" indent="0" algn="just">
              <a:lnSpc>
                <a:spcPct val="108000"/>
              </a:lnSpc>
              <a:buNone/>
            </a:pPr>
            <a:endParaRPr lang="en-US" sz="970" dirty="0">
              <a:solidFill>
                <a:srgbClr val="3A3A4A"/>
              </a:solidFill>
              <a:latin typeface="Calibri" pitchFamily="34" charset="0"/>
              <a:ea typeface="Calibri" pitchFamily="34" charset="-122"/>
              <a:cs typeface="Calibri" pitchFamily="34" charset="-120"/>
            </a:endParaRPr>
          </a:p>
          <a:p>
            <a:pPr algn="just">
              <a:lnSpc>
                <a:spcPct val="108000"/>
              </a:lnSpc>
            </a:pPr>
            <a:r>
              <a:rPr lang="en-US" sz="970" dirty="0">
                <a:solidFill>
                  <a:srgbClr val="3A3A4A"/>
                </a:solidFill>
                <a:latin typeface="Calibri" pitchFamily="34" charset="0"/>
                <a:ea typeface="Calibri" pitchFamily="34" charset="-122"/>
                <a:cs typeface="Calibri" pitchFamily="34" charset="-120"/>
              </a:rPr>
              <a:t>Indonesia had the highest absolute number of flagged observations. Because countries contain different numbers of records, this was treated as an exploratory signal.</a:t>
            </a:r>
          </a:p>
        </p:txBody>
      </p:sp>
    </p:spTree>
    <p:extLst>
      <p:ext uri="{BB962C8B-B14F-4D97-AF65-F5344CB8AC3E}">
        <p14:creationId xmlns:p14="http://schemas.microsoft.com/office/powerpoint/2010/main" val="18712914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a:extLst>
            <a:ext uri="{FF2B5EF4-FFF2-40B4-BE49-F238E27FC236}">
              <a16:creationId xmlns:a16="http://schemas.microsoft.com/office/drawing/2014/main" id="{AE21C7B1-E42C-47B2-43E6-ADC1CC11D82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050D397-EFF0-1982-2BB8-E57087317969}"/>
              </a:ext>
            </a:extLst>
          </p:cNvPr>
          <p:cNvSpPr/>
          <p:nvPr/>
        </p:nvSpPr>
        <p:spPr>
          <a:xfrm>
            <a:off x="457198" y="23259"/>
            <a:ext cx="82296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Indonesia’s Commodity Overview</a:t>
            </a:r>
            <a:endParaRPr lang="en-US" sz="3000" dirty="0"/>
          </a:p>
        </p:txBody>
      </p:sp>
      <p:sp>
        <p:nvSpPr>
          <p:cNvPr id="5" name="Shape 3">
            <a:extLst>
              <a:ext uri="{FF2B5EF4-FFF2-40B4-BE49-F238E27FC236}">
                <a16:creationId xmlns:a16="http://schemas.microsoft.com/office/drawing/2014/main" id="{86BCE22C-F5F1-5FEC-9AE2-A7280B2AABB6}"/>
              </a:ext>
            </a:extLst>
          </p:cNvPr>
          <p:cNvSpPr/>
          <p:nvPr/>
        </p:nvSpPr>
        <p:spPr>
          <a:xfrm>
            <a:off x="4892038" y="1187509"/>
            <a:ext cx="3794760" cy="3347084"/>
          </a:xfrm>
          <a:prstGeom prst="roundRect">
            <a:avLst>
              <a:gd name="adj" fmla="val 3448"/>
            </a:avLst>
          </a:prstGeom>
          <a:solidFill>
            <a:srgbClr val="FFFFFF"/>
          </a:solidFill>
          <a:ln/>
          <a:effectLst>
            <a:outerShdw blurRad="88900" dist="38100" dir="5400000" algn="bl" rotWithShape="0">
              <a:srgbClr val="1A0F40">
                <a:alpha val="35000"/>
              </a:srgbClr>
            </a:outerShdw>
          </a:effectLst>
        </p:spPr>
        <p:txBody>
          <a:bodyPr/>
          <a:lstStyle/>
          <a:p>
            <a:endParaRPr lang="en-US"/>
          </a:p>
        </p:txBody>
      </p:sp>
      <p:sp>
        <p:nvSpPr>
          <p:cNvPr id="6" name="Text 4">
            <a:extLst>
              <a:ext uri="{FF2B5EF4-FFF2-40B4-BE49-F238E27FC236}">
                <a16:creationId xmlns:a16="http://schemas.microsoft.com/office/drawing/2014/main" id="{F43E9DCE-0771-0A4F-A677-D0B9BFA4EC40}"/>
              </a:ext>
            </a:extLst>
          </p:cNvPr>
          <p:cNvSpPr/>
          <p:nvPr/>
        </p:nvSpPr>
        <p:spPr>
          <a:xfrm>
            <a:off x="5120638" y="1265852"/>
            <a:ext cx="3337560" cy="3214708"/>
          </a:xfrm>
          <a:prstGeom prst="rect">
            <a:avLst/>
          </a:prstGeom>
          <a:noFill/>
          <a:ln/>
        </p:spPr>
        <p:txBody>
          <a:bodyPr wrap="square" lIns="0" tIns="0" rIns="0" bIns="0" rtlCol="0" anchor="t"/>
          <a:lstStyle/>
          <a:p>
            <a:pPr marL="0" indent="0">
              <a:lnSpc>
                <a:spcPct val="108000"/>
              </a:lnSpc>
              <a:buNone/>
            </a:pPr>
            <a:r>
              <a:rPr lang="en-US" sz="970" b="1" dirty="0">
                <a:solidFill>
                  <a:srgbClr val="2D1B69"/>
                </a:solidFill>
                <a:latin typeface="Calibri" pitchFamily="34" charset="0"/>
                <a:ea typeface="Calibri" pitchFamily="34" charset="-122"/>
                <a:cs typeface="Calibri" pitchFamily="34" charset="-120"/>
              </a:rPr>
              <a:t>Distribution Analysis</a:t>
            </a:r>
            <a:endParaRPr lang="en-US" sz="970" dirty="0"/>
          </a:p>
          <a:p>
            <a:pPr algn="just">
              <a:lnSpc>
                <a:spcPct val="108000"/>
              </a:lnSpc>
            </a:pPr>
            <a:r>
              <a:rPr lang="en-US" sz="970" dirty="0">
                <a:solidFill>
                  <a:srgbClr val="3A3A4A"/>
                </a:solidFill>
                <a:latin typeface="Calibri" pitchFamily="34" charset="0"/>
                <a:ea typeface="Calibri" pitchFamily="34" charset="-122"/>
                <a:cs typeface="Calibri" pitchFamily="34" charset="-120"/>
              </a:rPr>
              <a:t>Price distributions were examined across Indonesia’s commodities using histogram. </a:t>
            </a:r>
          </a:p>
          <a:p>
            <a:pPr algn="just">
              <a:lnSpc>
                <a:spcPct val="108000"/>
              </a:lnSpc>
            </a:pPr>
            <a:endParaRPr lang="en-US" sz="970" dirty="0"/>
          </a:p>
          <a:p>
            <a:pPr marL="0" indent="0">
              <a:lnSpc>
                <a:spcPct val="108000"/>
              </a:lnSpc>
              <a:buNone/>
            </a:pPr>
            <a:r>
              <a:rPr lang="en-US" sz="970" b="1" dirty="0">
                <a:solidFill>
                  <a:srgbClr val="2D1B69"/>
                </a:solidFill>
                <a:latin typeface="Calibri" pitchFamily="34" charset="0"/>
                <a:ea typeface="Calibri" pitchFamily="34" charset="-122"/>
                <a:cs typeface="Calibri" pitchFamily="34" charset="-120"/>
              </a:rPr>
              <a:t>Finding</a:t>
            </a:r>
            <a:endParaRPr lang="en-US" sz="970" dirty="0"/>
          </a:p>
          <a:p>
            <a:pPr marL="0" indent="0" algn="just">
              <a:lnSpc>
                <a:spcPct val="108000"/>
              </a:lnSpc>
              <a:buNone/>
            </a:pPr>
            <a:r>
              <a:rPr lang="en-US" sz="970" dirty="0">
                <a:solidFill>
                  <a:srgbClr val="3A3A4A"/>
                </a:solidFill>
                <a:latin typeface="Calibri" pitchFamily="34" charset="0"/>
                <a:ea typeface="Calibri" pitchFamily="34" charset="-122"/>
                <a:cs typeface="Calibri" pitchFamily="34" charset="-120"/>
              </a:rPr>
              <a:t>Distribution is </a:t>
            </a:r>
            <a:r>
              <a:rPr lang="en-US" sz="970" b="1" dirty="0">
                <a:solidFill>
                  <a:srgbClr val="3A3A4A"/>
                </a:solidFill>
                <a:latin typeface="Calibri" pitchFamily="34" charset="0"/>
                <a:ea typeface="Calibri" pitchFamily="34" charset="-122"/>
                <a:cs typeface="Calibri" pitchFamily="34" charset="-120"/>
              </a:rPr>
              <a:t>right-skewed</a:t>
            </a:r>
            <a:r>
              <a:rPr lang="en-US" sz="970" dirty="0">
                <a:solidFill>
                  <a:srgbClr val="3A3A4A"/>
                </a:solidFill>
                <a:latin typeface="Calibri" pitchFamily="34" charset="0"/>
                <a:ea typeface="Calibri" pitchFamily="34" charset="-122"/>
                <a:cs typeface="Calibri" pitchFamily="34" charset="-120"/>
              </a:rPr>
              <a:t> with a small number of high-priced commodities (primarily beef) pulling the overall average upward.</a:t>
            </a:r>
          </a:p>
          <a:p>
            <a:pPr marL="0" indent="0" algn="just">
              <a:lnSpc>
                <a:spcPct val="108000"/>
              </a:lnSpc>
              <a:buNone/>
            </a:pPr>
            <a:r>
              <a:rPr lang="en-US" sz="970" dirty="0">
                <a:solidFill>
                  <a:srgbClr val="3A3A4A"/>
                </a:solidFill>
                <a:latin typeface="Calibri" pitchFamily="34" charset="0"/>
                <a:ea typeface="Calibri" pitchFamily="34" charset="-122"/>
                <a:cs typeface="Calibri" pitchFamily="34" charset="-120"/>
              </a:rPr>
              <a:t>It means most commodities </a:t>
            </a:r>
            <a:r>
              <a:rPr lang="en-US" sz="970" b="1" dirty="0">
                <a:solidFill>
                  <a:srgbClr val="3A3A4A"/>
                </a:solidFill>
                <a:latin typeface="Calibri" pitchFamily="34" charset="0"/>
                <a:ea typeface="Calibri" pitchFamily="34" charset="-122"/>
                <a:cs typeface="Calibri" pitchFamily="34" charset="-120"/>
              </a:rPr>
              <a:t>sit at the lower end of pricing</a:t>
            </a:r>
            <a:r>
              <a:rPr lang="en-US" sz="970" dirty="0">
                <a:solidFill>
                  <a:srgbClr val="3A3A4A"/>
                </a:solidFill>
                <a:latin typeface="Calibri" pitchFamily="34" charset="0"/>
                <a:ea typeface="Calibri" pitchFamily="34" charset="-122"/>
                <a:cs typeface="Calibri" pitchFamily="34" charset="-120"/>
              </a:rPr>
              <a:t>, with a few more expensive commodities.</a:t>
            </a:r>
          </a:p>
          <a:p>
            <a:pPr marL="0" indent="0" algn="just">
              <a:lnSpc>
                <a:spcPct val="108000"/>
              </a:lnSpc>
              <a:buNone/>
            </a:pPr>
            <a:endParaRPr lang="en-US" sz="970" dirty="0">
              <a:solidFill>
                <a:srgbClr val="3A3A4A"/>
              </a:solidFill>
              <a:latin typeface="Calibri" pitchFamily="34" charset="0"/>
              <a:ea typeface="Calibri" pitchFamily="34" charset="-122"/>
              <a:cs typeface="Calibri" pitchFamily="34" charset="-120"/>
            </a:endParaRPr>
          </a:p>
          <a:p>
            <a:pPr algn="just">
              <a:lnSpc>
                <a:spcPct val="108000"/>
              </a:lnSpc>
            </a:pPr>
            <a:r>
              <a:rPr lang="en-US" sz="970" b="1" dirty="0">
                <a:solidFill>
                  <a:srgbClr val="2D1B69"/>
                </a:solidFill>
                <a:latin typeface="Calibri" pitchFamily="34" charset="0"/>
                <a:ea typeface="Calibri" pitchFamily="34" charset="-122"/>
                <a:cs typeface="Calibri" pitchFamily="34" charset="-120"/>
              </a:rPr>
              <a:t>Technical Consequences</a:t>
            </a:r>
          </a:p>
          <a:p>
            <a:pPr algn="just">
              <a:lnSpc>
                <a:spcPct val="108000"/>
              </a:lnSpc>
            </a:pPr>
            <a:r>
              <a:rPr lang="en-US" sz="970" dirty="0">
                <a:solidFill>
                  <a:srgbClr val="3A3A4A"/>
                </a:solidFill>
                <a:latin typeface="Calibri" pitchFamily="34" charset="0"/>
                <a:ea typeface="Calibri" pitchFamily="34" charset="-122"/>
                <a:cs typeface="Calibri" pitchFamily="34" charset="-120"/>
              </a:rPr>
              <a:t>Machine learning models would likely </a:t>
            </a:r>
            <a:r>
              <a:rPr lang="en-US" sz="970" b="1" dirty="0">
                <a:solidFill>
                  <a:srgbClr val="3A3A4A"/>
                </a:solidFill>
                <a:latin typeface="Calibri" pitchFamily="34" charset="0"/>
                <a:ea typeface="Calibri" pitchFamily="34" charset="-122"/>
                <a:cs typeface="Calibri" pitchFamily="34" charset="-120"/>
              </a:rPr>
              <a:t>capture the lower side while underestimating the minority.</a:t>
            </a:r>
          </a:p>
          <a:p>
            <a:pPr marL="0" indent="0" algn="just">
              <a:lnSpc>
                <a:spcPct val="108000"/>
              </a:lnSpc>
              <a:buNone/>
            </a:pPr>
            <a:endParaRPr lang="en-US" sz="970" dirty="0">
              <a:solidFill>
                <a:srgbClr val="3A3A4A"/>
              </a:solidFill>
              <a:latin typeface="Calibri" pitchFamily="34" charset="0"/>
              <a:ea typeface="Calibri" pitchFamily="34" charset="-122"/>
              <a:cs typeface="Calibri" pitchFamily="34" charset="-120"/>
            </a:endParaRPr>
          </a:p>
          <a:p>
            <a:pPr algn="just">
              <a:lnSpc>
                <a:spcPct val="108000"/>
              </a:lnSpc>
            </a:pPr>
            <a:r>
              <a:rPr lang="en-US" sz="970" b="1" dirty="0">
                <a:solidFill>
                  <a:srgbClr val="2D1B69"/>
                </a:solidFill>
                <a:latin typeface="Calibri" pitchFamily="34" charset="0"/>
                <a:ea typeface="Calibri" pitchFamily="34" charset="-122"/>
                <a:cs typeface="Calibri" pitchFamily="34" charset="-120"/>
              </a:rPr>
              <a:t>Regional Data Density</a:t>
            </a:r>
          </a:p>
          <a:p>
            <a:pPr algn="just">
              <a:lnSpc>
                <a:spcPct val="108000"/>
              </a:lnSpc>
            </a:pPr>
            <a:r>
              <a:rPr lang="en-US" sz="970" dirty="0">
                <a:solidFill>
                  <a:srgbClr val="3A3A4A"/>
                </a:solidFill>
                <a:latin typeface="Calibri" pitchFamily="34" charset="0"/>
                <a:ea typeface="Calibri" pitchFamily="34" charset="-122"/>
                <a:cs typeface="Calibri" pitchFamily="34" charset="-120"/>
              </a:rPr>
              <a:t>Observation counts are uneven across Indonesia: Western Indonesia accounts for 110,861 observations vs. Eastern Indonesia's 59,192 (roughly a 2:1 ratio). This reflects </a:t>
            </a:r>
            <a:r>
              <a:rPr lang="en-US" sz="970" b="1" dirty="0">
                <a:solidFill>
                  <a:srgbClr val="3A3A4A"/>
                </a:solidFill>
                <a:latin typeface="Calibri" pitchFamily="34" charset="0"/>
                <a:ea typeface="Calibri" pitchFamily="34" charset="-122"/>
                <a:cs typeface="Calibri" pitchFamily="34" charset="-120"/>
              </a:rPr>
              <a:t>Western Indonesia's denser market network</a:t>
            </a:r>
            <a:r>
              <a:rPr lang="en-US" sz="970" dirty="0">
                <a:solidFill>
                  <a:srgbClr val="3A3A4A"/>
                </a:solidFill>
                <a:latin typeface="Calibri" pitchFamily="34" charset="0"/>
                <a:ea typeface="Calibri" pitchFamily="34" charset="-122"/>
                <a:cs typeface="Calibri" pitchFamily="34" charset="-120"/>
              </a:rPr>
              <a:t> (more provinces, more populous regions) rather than a data quality issue.</a:t>
            </a:r>
          </a:p>
          <a:p>
            <a:pPr algn="just">
              <a:lnSpc>
                <a:spcPct val="108000"/>
              </a:lnSpc>
            </a:pPr>
            <a:endParaRPr lang="en-US" sz="970" dirty="0">
              <a:solidFill>
                <a:srgbClr val="3A3A4A"/>
              </a:solidFill>
              <a:latin typeface="Calibri" pitchFamily="34" charset="0"/>
              <a:ea typeface="Calibri" pitchFamily="34" charset="-122"/>
              <a:cs typeface="Calibri" pitchFamily="34" charset="-120"/>
            </a:endParaRPr>
          </a:p>
        </p:txBody>
      </p:sp>
      <p:pic>
        <p:nvPicPr>
          <p:cNvPr id="8" name="Copied Picture 8">
            <a:extLst>
              <a:ext uri="{FF2B5EF4-FFF2-40B4-BE49-F238E27FC236}">
                <a16:creationId xmlns:a16="http://schemas.microsoft.com/office/drawing/2014/main" id="{25FCD457-525D-2B05-749A-B69DB8A73FE3}"/>
              </a:ext>
            </a:extLst>
          </p:cNvPr>
          <p:cNvPicPr>
            <a:picLocks noChangeAspect="1"/>
          </p:cNvPicPr>
          <p:nvPr/>
        </p:nvPicPr>
        <p:blipFill>
          <a:blip r:embed="rId3"/>
          <a:stretch/>
        </p:blipFill>
        <p:spPr>
          <a:xfrm>
            <a:off x="7901259" y="101600"/>
            <a:ext cx="1141141" cy="753153"/>
          </a:xfrm>
          <a:prstGeom prst="rect">
            <a:avLst/>
          </a:prstGeom>
        </p:spPr>
      </p:pic>
      <p:pic>
        <p:nvPicPr>
          <p:cNvPr id="7" name="Picture 6">
            <a:extLst>
              <a:ext uri="{FF2B5EF4-FFF2-40B4-BE49-F238E27FC236}">
                <a16:creationId xmlns:a16="http://schemas.microsoft.com/office/drawing/2014/main" id="{FFEE142E-124E-B510-F0C4-0BCF92242B56}"/>
              </a:ext>
            </a:extLst>
          </p:cNvPr>
          <p:cNvPicPr>
            <a:picLocks noChangeAspect="1"/>
          </p:cNvPicPr>
          <p:nvPr/>
        </p:nvPicPr>
        <p:blipFill>
          <a:blip r:embed="rId4"/>
          <a:stretch>
            <a:fillRect/>
          </a:stretch>
        </p:blipFill>
        <p:spPr>
          <a:xfrm>
            <a:off x="457198" y="681281"/>
            <a:ext cx="3452329" cy="2116568"/>
          </a:xfrm>
          <a:prstGeom prst="rect">
            <a:avLst/>
          </a:prstGeom>
        </p:spPr>
      </p:pic>
      <p:pic>
        <p:nvPicPr>
          <p:cNvPr id="13" name="Picture 12">
            <a:extLst>
              <a:ext uri="{FF2B5EF4-FFF2-40B4-BE49-F238E27FC236}">
                <a16:creationId xmlns:a16="http://schemas.microsoft.com/office/drawing/2014/main" id="{9BB6B3AA-6950-E33A-C677-5D2A99DF6450}"/>
              </a:ext>
            </a:extLst>
          </p:cNvPr>
          <p:cNvPicPr>
            <a:picLocks noChangeAspect="1"/>
          </p:cNvPicPr>
          <p:nvPr/>
        </p:nvPicPr>
        <p:blipFill>
          <a:blip r:embed="rId5"/>
          <a:stretch>
            <a:fillRect/>
          </a:stretch>
        </p:blipFill>
        <p:spPr>
          <a:xfrm>
            <a:off x="1066069" y="2976893"/>
            <a:ext cx="2234586" cy="1837424"/>
          </a:xfrm>
          <a:prstGeom prst="rect">
            <a:avLst/>
          </a:prstGeom>
        </p:spPr>
      </p:pic>
    </p:spTree>
    <p:extLst>
      <p:ext uri="{BB962C8B-B14F-4D97-AF65-F5344CB8AC3E}">
        <p14:creationId xmlns:p14="http://schemas.microsoft.com/office/powerpoint/2010/main" val="15754074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2D1B69"/>
        </a:solidFill>
        <a:effectLst/>
      </p:bgPr>
    </p:bg>
    <p:spTree>
      <p:nvGrpSpPr>
        <p:cNvPr id="1" name=""/>
        <p:cNvGrpSpPr/>
        <p:nvPr/>
      </p:nvGrpSpPr>
      <p:grpSpPr>
        <a:xfrm>
          <a:off x="0" y="0"/>
          <a:ext cx="0" cy="0"/>
          <a:chOff x="0" y="0"/>
          <a:chExt cx="0" cy="0"/>
        </a:xfrm>
      </p:grpSpPr>
      <p:sp>
        <p:nvSpPr>
          <p:cNvPr id="2" name="Text 0"/>
          <p:cNvSpPr/>
          <p:nvPr/>
        </p:nvSpPr>
        <p:spPr>
          <a:xfrm>
            <a:off x="465406" y="0"/>
            <a:ext cx="8595360" cy="64008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Indonesia’s Commodity Overview</a:t>
            </a:r>
            <a:endParaRPr lang="en-US" sz="2200" dirty="0"/>
          </a:p>
        </p:txBody>
      </p:sp>
      <p:sp>
        <p:nvSpPr>
          <p:cNvPr id="5" name="Shape 3"/>
          <p:cNvSpPr/>
          <p:nvPr/>
        </p:nvSpPr>
        <p:spPr>
          <a:xfrm>
            <a:off x="4740395" y="2104261"/>
            <a:ext cx="4160520" cy="1823683"/>
          </a:xfrm>
          <a:prstGeom prst="roundRect">
            <a:avLst>
              <a:gd name="adj" fmla="val 3279"/>
            </a:avLst>
          </a:prstGeom>
          <a:solidFill>
            <a:srgbClr val="FFFFFF"/>
          </a:solidFill>
          <a:ln/>
          <a:effectLst>
            <a:outerShdw blurRad="88900" dist="38100" dir="5400000" algn="bl" rotWithShape="0">
              <a:srgbClr val="1A0F40">
                <a:alpha val="35000"/>
              </a:srgbClr>
            </a:outerShdw>
          </a:effectLst>
        </p:spPr>
        <p:txBody>
          <a:bodyPr/>
          <a:lstStyle/>
          <a:p>
            <a:endParaRPr lang="en-US" dirty="0"/>
          </a:p>
        </p:txBody>
      </p:sp>
      <p:sp>
        <p:nvSpPr>
          <p:cNvPr id="6" name="Text 4"/>
          <p:cNvSpPr/>
          <p:nvPr/>
        </p:nvSpPr>
        <p:spPr>
          <a:xfrm>
            <a:off x="4950707" y="2241420"/>
            <a:ext cx="3749040" cy="310896"/>
          </a:xfrm>
          <a:prstGeom prst="rect">
            <a:avLst/>
          </a:prstGeom>
          <a:noFill/>
          <a:ln/>
        </p:spPr>
        <p:txBody>
          <a:bodyPr wrap="square" lIns="0" tIns="0" rIns="0" bIns="0" rtlCol="0" anchor="ctr"/>
          <a:lstStyle/>
          <a:p>
            <a:endParaRPr lang="en-US" sz="1350" dirty="0"/>
          </a:p>
        </p:txBody>
      </p:sp>
      <p:sp>
        <p:nvSpPr>
          <p:cNvPr id="7" name="Text 5"/>
          <p:cNvSpPr/>
          <p:nvPr/>
        </p:nvSpPr>
        <p:spPr>
          <a:xfrm>
            <a:off x="4950707" y="2588892"/>
            <a:ext cx="3767328" cy="827755"/>
          </a:xfrm>
          <a:prstGeom prst="rect">
            <a:avLst/>
          </a:prstGeom>
          <a:noFill/>
          <a:ln/>
        </p:spPr>
        <p:txBody>
          <a:bodyPr wrap="square" lIns="0" tIns="0" rIns="0" bIns="0" rtlCol="0" anchor="t"/>
          <a:lstStyle/>
          <a:p>
            <a:pPr algn="just">
              <a:lnSpc>
                <a:spcPct val="110000"/>
              </a:lnSpc>
              <a:spcAft>
                <a:spcPts val="400"/>
              </a:spcAft>
            </a:pPr>
            <a:endParaRPr lang="en-US" sz="1050" dirty="0"/>
          </a:p>
        </p:txBody>
      </p:sp>
      <p:sp>
        <p:nvSpPr>
          <p:cNvPr id="9" name="Text 7"/>
          <p:cNvSpPr/>
          <p:nvPr/>
        </p:nvSpPr>
        <p:spPr>
          <a:xfrm>
            <a:off x="171156" y="4644884"/>
            <a:ext cx="6803977" cy="566928"/>
          </a:xfrm>
          <a:prstGeom prst="rect">
            <a:avLst/>
          </a:prstGeom>
          <a:noFill/>
          <a:ln/>
        </p:spPr>
        <p:txBody>
          <a:bodyPr wrap="square" lIns="0" tIns="0" rIns="0" bIns="0" rtlCol="0" anchor="ctr"/>
          <a:lstStyle/>
          <a:p>
            <a:endParaRPr lang="en-US" sz="1100" dirty="0"/>
          </a:p>
        </p:txBody>
      </p:sp>
      <p:sp>
        <p:nvSpPr>
          <p:cNvPr id="15" name="Shape 1">
            <a:extLst>
              <a:ext uri="{FF2B5EF4-FFF2-40B4-BE49-F238E27FC236}">
                <a16:creationId xmlns:a16="http://schemas.microsoft.com/office/drawing/2014/main" id="{EAEDA557-30B7-439B-1B86-B4D62AD61A8F}"/>
              </a:ext>
            </a:extLst>
          </p:cNvPr>
          <p:cNvSpPr/>
          <p:nvPr/>
        </p:nvSpPr>
        <p:spPr>
          <a:xfrm>
            <a:off x="1563570" y="648650"/>
            <a:ext cx="1965960" cy="566927"/>
          </a:xfrm>
          <a:prstGeom prst="roundRect">
            <a:avLst>
              <a:gd name="adj" fmla="val 8000"/>
            </a:avLst>
          </a:prstGeom>
          <a:solidFill>
            <a:srgbClr val="FFFFFF"/>
          </a:solidFill>
          <a:ln/>
          <a:effectLst>
            <a:outerShdw blurRad="76200" dist="25400" dir="2700000" algn="bl" rotWithShape="0">
              <a:srgbClr val="000000">
                <a:alpha val="10000"/>
              </a:srgbClr>
            </a:outerShdw>
          </a:effectLst>
        </p:spPr>
        <p:txBody>
          <a:bodyPr/>
          <a:lstStyle/>
          <a:p>
            <a:endParaRPr lang="en-US"/>
          </a:p>
        </p:txBody>
      </p:sp>
      <p:sp>
        <p:nvSpPr>
          <p:cNvPr id="16" name="Text 2">
            <a:extLst>
              <a:ext uri="{FF2B5EF4-FFF2-40B4-BE49-F238E27FC236}">
                <a16:creationId xmlns:a16="http://schemas.microsoft.com/office/drawing/2014/main" id="{C715E509-8B77-82CD-99F4-17F86F5344A8}"/>
              </a:ext>
            </a:extLst>
          </p:cNvPr>
          <p:cNvSpPr/>
          <p:nvPr/>
        </p:nvSpPr>
        <p:spPr>
          <a:xfrm>
            <a:off x="1563570" y="594390"/>
            <a:ext cx="1965960" cy="502920"/>
          </a:xfrm>
          <a:prstGeom prst="rect">
            <a:avLst/>
          </a:prstGeom>
          <a:noFill/>
          <a:ln/>
        </p:spPr>
        <p:txBody>
          <a:bodyPr wrap="square" rtlCol="0" anchor="ctr"/>
          <a:lstStyle/>
          <a:p>
            <a:pPr marL="0" indent="0" algn="ctr">
              <a:buNone/>
            </a:pPr>
            <a:r>
              <a:rPr lang="en-US" sz="1800" b="1" dirty="0">
                <a:solidFill>
                  <a:srgbClr val="2D1B69"/>
                </a:solidFill>
              </a:rPr>
              <a:t>34</a:t>
            </a:r>
            <a:endParaRPr lang="en-US" sz="1800" dirty="0"/>
          </a:p>
        </p:txBody>
      </p:sp>
      <p:sp>
        <p:nvSpPr>
          <p:cNvPr id="17" name="Text 3">
            <a:extLst>
              <a:ext uri="{FF2B5EF4-FFF2-40B4-BE49-F238E27FC236}">
                <a16:creationId xmlns:a16="http://schemas.microsoft.com/office/drawing/2014/main" id="{D2116A1B-2269-29B5-A721-9C541868D3AB}"/>
              </a:ext>
            </a:extLst>
          </p:cNvPr>
          <p:cNvSpPr/>
          <p:nvPr/>
        </p:nvSpPr>
        <p:spPr>
          <a:xfrm>
            <a:off x="1563570" y="920818"/>
            <a:ext cx="1965960" cy="228600"/>
          </a:xfrm>
          <a:prstGeom prst="rect">
            <a:avLst/>
          </a:prstGeom>
          <a:noFill/>
          <a:ln/>
        </p:spPr>
        <p:txBody>
          <a:bodyPr wrap="square" rtlCol="0" anchor="ctr"/>
          <a:lstStyle/>
          <a:p>
            <a:pPr marL="0" indent="0" algn="ctr">
              <a:buNone/>
            </a:pPr>
            <a:r>
              <a:rPr lang="en-US" sz="1000" b="1" dirty="0">
                <a:solidFill>
                  <a:srgbClr val="1A1028"/>
                </a:solidFill>
              </a:rPr>
              <a:t>Provinces</a:t>
            </a:r>
            <a:endParaRPr lang="en-US" sz="1000" dirty="0"/>
          </a:p>
        </p:txBody>
      </p:sp>
      <p:sp>
        <p:nvSpPr>
          <p:cNvPr id="19" name="Shape 5">
            <a:extLst>
              <a:ext uri="{FF2B5EF4-FFF2-40B4-BE49-F238E27FC236}">
                <a16:creationId xmlns:a16="http://schemas.microsoft.com/office/drawing/2014/main" id="{B5712BF3-55E2-0B47-8017-4886374ACCC1}"/>
              </a:ext>
            </a:extLst>
          </p:cNvPr>
          <p:cNvSpPr/>
          <p:nvPr/>
        </p:nvSpPr>
        <p:spPr>
          <a:xfrm>
            <a:off x="3739842" y="648650"/>
            <a:ext cx="1965960" cy="566927"/>
          </a:xfrm>
          <a:prstGeom prst="roundRect">
            <a:avLst>
              <a:gd name="adj" fmla="val 8000"/>
            </a:avLst>
          </a:prstGeom>
          <a:solidFill>
            <a:srgbClr val="FFFFFF"/>
          </a:solidFill>
          <a:ln/>
          <a:effectLst>
            <a:outerShdw blurRad="76200" dist="25400" dir="2700000" algn="bl" rotWithShape="0">
              <a:srgbClr val="000000">
                <a:alpha val="10000"/>
              </a:srgbClr>
            </a:outerShdw>
          </a:effectLst>
        </p:spPr>
        <p:txBody>
          <a:bodyPr/>
          <a:lstStyle/>
          <a:p>
            <a:endParaRPr lang="en-US"/>
          </a:p>
        </p:txBody>
      </p:sp>
      <p:sp>
        <p:nvSpPr>
          <p:cNvPr id="20" name="Text 6">
            <a:extLst>
              <a:ext uri="{FF2B5EF4-FFF2-40B4-BE49-F238E27FC236}">
                <a16:creationId xmlns:a16="http://schemas.microsoft.com/office/drawing/2014/main" id="{662DE2CE-734A-523D-E685-BF3783C855D6}"/>
              </a:ext>
            </a:extLst>
          </p:cNvPr>
          <p:cNvSpPr/>
          <p:nvPr/>
        </p:nvSpPr>
        <p:spPr>
          <a:xfrm>
            <a:off x="3739842" y="594390"/>
            <a:ext cx="1965960" cy="502920"/>
          </a:xfrm>
          <a:prstGeom prst="rect">
            <a:avLst/>
          </a:prstGeom>
          <a:noFill/>
          <a:ln/>
        </p:spPr>
        <p:txBody>
          <a:bodyPr wrap="square" rtlCol="0" anchor="ctr"/>
          <a:lstStyle/>
          <a:p>
            <a:pPr algn="ctr"/>
            <a:r>
              <a:rPr lang="en-US" sz="1800" b="1" dirty="0">
                <a:solidFill>
                  <a:srgbClr val="4A3080"/>
                </a:solidFill>
              </a:rPr>
              <a:t>9</a:t>
            </a:r>
            <a:endParaRPr lang="en-US" sz="1800" dirty="0"/>
          </a:p>
        </p:txBody>
      </p:sp>
      <p:sp>
        <p:nvSpPr>
          <p:cNvPr id="21" name="Text 7">
            <a:extLst>
              <a:ext uri="{FF2B5EF4-FFF2-40B4-BE49-F238E27FC236}">
                <a16:creationId xmlns:a16="http://schemas.microsoft.com/office/drawing/2014/main" id="{8842AA6E-0949-2E05-6A93-794ADB7EF8AD}"/>
              </a:ext>
            </a:extLst>
          </p:cNvPr>
          <p:cNvSpPr/>
          <p:nvPr/>
        </p:nvSpPr>
        <p:spPr>
          <a:xfrm>
            <a:off x="3739842" y="922518"/>
            <a:ext cx="1965960" cy="228600"/>
          </a:xfrm>
          <a:prstGeom prst="rect">
            <a:avLst/>
          </a:prstGeom>
          <a:noFill/>
          <a:ln/>
        </p:spPr>
        <p:txBody>
          <a:bodyPr wrap="square" rtlCol="0" anchor="ctr"/>
          <a:lstStyle/>
          <a:p>
            <a:pPr marL="0" indent="0" algn="ctr">
              <a:buNone/>
            </a:pPr>
            <a:r>
              <a:rPr lang="en-US" sz="1000" b="1" dirty="0">
                <a:solidFill>
                  <a:srgbClr val="1A1028"/>
                </a:solidFill>
              </a:rPr>
              <a:t>Commodity</a:t>
            </a:r>
            <a:endParaRPr lang="en-US" sz="1000" dirty="0"/>
          </a:p>
        </p:txBody>
      </p:sp>
      <p:sp>
        <p:nvSpPr>
          <p:cNvPr id="23" name="Shape 9">
            <a:extLst>
              <a:ext uri="{FF2B5EF4-FFF2-40B4-BE49-F238E27FC236}">
                <a16:creationId xmlns:a16="http://schemas.microsoft.com/office/drawing/2014/main" id="{E4B1831B-CFB4-F75F-B3FC-8700F04D71D8}"/>
              </a:ext>
            </a:extLst>
          </p:cNvPr>
          <p:cNvSpPr/>
          <p:nvPr/>
        </p:nvSpPr>
        <p:spPr>
          <a:xfrm>
            <a:off x="5916114" y="644682"/>
            <a:ext cx="1965960" cy="566927"/>
          </a:xfrm>
          <a:prstGeom prst="roundRect">
            <a:avLst>
              <a:gd name="adj" fmla="val 8000"/>
            </a:avLst>
          </a:prstGeom>
          <a:solidFill>
            <a:srgbClr val="FFFFFF"/>
          </a:solidFill>
          <a:ln/>
          <a:effectLst>
            <a:outerShdw blurRad="76200" dist="25400" dir="2700000" algn="bl" rotWithShape="0">
              <a:srgbClr val="000000">
                <a:alpha val="10000"/>
              </a:srgbClr>
            </a:outerShdw>
          </a:effectLst>
        </p:spPr>
        <p:txBody>
          <a:bodyPr/>
          <a:lstStyle/>
          <a:p>
            <a:endParaRPr lang="en-US"/>
          </a:p>
        </p:txBody>
      </p:sp>
      <p:sp>
        <p:nvSpPr>
          <p:cNvPr id="24" name="Text 10">
            <a:extLst>
              <a:ext uri="{FF2B5EF4-FFF2-40B4-BE49-F238E27FC236}">
                <a16:creationId xmlns:a16="http://schemas.microsoft.com/office/drawing/2014/main" id="{368A27A0-436F-AE30-8084-C2FB79C6B2B8}"/>
              </a:ext>
            </a:extLst>
          </p:cNvPr>
          <p:cNvSpPr/>
          <p:nvPr/>
        </p:nvSpPr>
        <p:spPr>
          <a:xfrm>
            <a:off x="5916114" y="594390"/>
            <a:ext cx="1965960" cy="502920"/>
          </a:xfrm>
          <a:prstGeom prst="rect">
            <a:avLst/>
          </a:prstGeom>
          <a:noFill/>
          <a:ln/>
        </p:spPr>
        <p:txBody>
          <a:bodyPr wrap="square" rtlCol="0" anchor="ctr"/>
          <a:lstStyle/>
          <a:p>
            <a:pPr algn="ctr"/>
            <a:r>
              <a:rPr lang="en-US" b="1" dirty="0">
                <a:solidFill>
                  <a:srgbClr val="4A3080"/>
                </a:solidFill>
              </a:rPr>
              <a:t>220</a:t>
            </a:r>
            <a:endParaRPr lang="en-US" dirty="0"/>
          </a:p>
        </p:txBody>
      </p:sp>
      <p:sp>
        <p:nvSpPr>
          <p:cNvPr id="25" name="Text 11">
            <a:extLst>
              <a:ext uri="{FF2B5EF4-FFF2-40B4-BE49-F238E27FC236}">
                <a16:creationId xmlns:a16="http://schemas.microsoft.com/office/drawing/2014/main" id="{B3BC9CF4-B202-CD80-BAA0-5783C1FE1A03}"/>
              </a:ext>
            </a:extLst>
          </p:cNvPr>
          <p:cNvSpPr/>
          <p:nvPr/>
        </p:nvSpPr>
        <p:spPr>
          <a:xfrm>
            <a:off x="5925375" y="935932"/>
            <a:ext cx="1965960" cy="228600"/>
          </a:xfrm>
          <a:prstGeom prst="rect">
            <a:avLst/>
          </a:prstGeom>
          <a:noFill/>
          <a:ln/>
        </p:spPr>
        <p:txBody>
          <a:bodyPr wrap="square" rtlCol="0" anchor="ctr"/>
          <a:lstStyle/>
          <a:p>
            <a:pPr marL="0" indent="0" algn="ctr">
              <a:buNone/>
            </a:pPr>
            <a:r>
              <a:rPr lang="en-US" sz="1000" b="1" dirty="0">
                <a:solidFill>
                  <a:srgbClr val="1A1028"/>
                </a:solidFill>
              </a:rPr>
              <a:t>Market</a:t>
            </a:r>
            <a:endParaRPr lang="en-US" sz="1000" dirty="0"/>
          </a:p>
        </p:txBody>
      </p:sp>
      <p:pic>
        <p:nvPicPr>
          <p:cNvPr id="27" name="Copied Picture 27">
            <a:extLst>
              <a:ext uri="{FF2B5EF4-FFF2-40B4-BE49-F238E27FC236}">
                <a16:creationId xmlns:a16="http://schemas.microsoft.com/office/drawing/2014/main" id="{098C5A1E-651C-798D-5D81-541A1CCCDFF3}"/>
              </a:ext>
            </a:extLst>
          </p:cNvPr>
          <p:cNvPicPr>
            <a:picLocks noChangeAspect="1"/>
          </p:cNvPicPr>
          <p:nvPr/>
        </p:nvPicPr>
        <p:blipFill>
          <a:blip r:embed="rId3"/>
          <a:stretch/>
        </p:blipFill>
        <p:spPr>
          <a:xfrm>
            <a:off x="7900849" y="0"/>
            <a:ext cx="1141141" cy="753153"/>
          </a:xfrm>
          <a:prstGeom prst="rect">
            <a:avLst/>
          </a:prstGeom>
        </p:spPr>
      </p:pic>
      <p:pic>
        <p:nvPicPr>
          <p:cNvPr id="10" name="Picture 9">
            <a:extLst>
              <a:ext uri="{FF2B5EF4-FFF2-40B4-BE49-F238E27FC236}">
                <a16:creationId xmlns:a16="http://schemas.microsoft.com/office/drawing/2014/main" id="{8FB50C03-5D17-D9FC-6E3D-588FF9D43162}"/>
              </a:ext>
            </a:extLst>
          </p:cNvPr>
          <p:cNvPicPr>
            <a:picLocks noChangeAspect="1"/>
          </p:cNvPicPr>
          <p:nvPr/>
        </p:nvPicPr>
        <p:blipFill>
          <a:blip r:embed="rId4"/>
          <a:stretch>
            <a:fillRect/>
          </a:stretch>
        </p:blipFill>
        <p:spPr>
          <a:xfrm>
            <a:off x="829280" y="3296039"/>
            <a:ext cx="3093392" cy="1546696"/>
          </a:xfrm>
          <a:prstGeom prst="rect">
            <a:avLst/>
          </a:prstGeom>
        </p:spPr>
      </p:pic>
      <p:sp>
        <p:nvSpPr>
          <p:cNvPr id="14" name="Text 4">
            <a:extLst>
              <a:ext uri="{FF2B5EF4-FFF2-40B4-BE49-F238E27FC236}">
                <a16:creationId xmlns:a16="http://schemas.microsoft.com/office/drawing/2014/main" id="{C5F2E9F7-5123-8CEE-30D8-1C4A18DA38E2}"/>
              </a:ext>
            </a:extLst>
          </p:cNvPr>
          <p:cNvSpPr/>
          <p:nvPr/>
        </p:nvSpPr>
        <p:spPr>
          <a:xfrm>
            <a:off x="4889394" y="2205637"/>
            <a:ext cx="3899425" cy="1634843"/>
          </a:xfrm>
          <a:prstGeom prst="rect">
            <a:avLst/>
          </a:prstGeom>
          <a:noFill/>
          <a:ln/>
        </p:spPr>
        <p:txBody>
          <a:bodyPr wrap="square" lIns="0" tIns="0" rIns="0" bIns="0" rtlCol="0" anchor="t"/>
          <a:lstStyle/>
          <a:p>
            <a:pPr marL="0" indent="0">
              <a:lnSpc>
                <a:spcPct val="108000"/>
              </a:lnSpc>
              <a:buNone/>
            </a:pPr>
            <a:r>
              <a:rPr lang="en-US" sz="970" b="1" dirty="0">
                <a:solidFill>
                  <a:srgbClr val="2D1B69"/>
                </a:solidFill>
                <a:latin typeface="Calibri" pitchFamily="34" charset="0"/>
                <a:ea typeface="Calibri" pitchFamily="34" charset="-122"/>
                <a:cs typeface="Calibri" pitchFamily="34" charset="-120"/>
              </a:rPr>
              <a:t>Regional Price Gap</a:t>
            </a:r>
            <a:endParaRPr lang="en-US" sz="970" dirty="0"/>
          </a:p>
          <a:p>
            <a:pPr algn="just">
              <a:lnSpc>
                <a:spcPct val="108000"/>
              </a:lnSpc>
            </a:pPr>
            <a:r>
              <a:rPr lang="en-US" sz="970" dirty="0">
                <a:solidFill>
                  <a:srgbClr val="3A3A4A"/>
                </a:solidFill>
                <a:latin typeface="Calibri" pitchFamily="34" charset="0"/>
                <a:ea typeface="Calibri" pitchFamily="34" charset="-122"/>
                <a:cs typeface="Calibri" pitchFamily="34" charset="-120"/>
              </a:rPr>
              <a:t>Eastern Indonesia averages $2.55, roughly 6% higher than Western Indonesia's $2.40, a pattern consistent across the commodity basket, not isolated to one product. This reflects longer supply chains and higher logistics costs across Indonesia's eastern archipelago.</a:t>
            </a:r>
          </a:p>
          <a:p>
            <a:pPr>
              <a:lnSpc>
                <a:spcPct val="108000"/>
              </a:lnSpc>
            </a:pPr>
            <a:endParaRPr lang="en-US" sz="970" dirty="0"/>
          </a:p>
          <a:p>
            <a:pPr marL="0" indent="0">
              <a:lnSpc>
                <a:spcPct val="108000"/>
              </a:lnSpc>
              <a:buNone/>
            </a:pPr>
            <a:r>
              <a:rPr lang="en-US" sz="970" b="1" dirty="0">
                <a:solidFill>
                  <a:srgbClr val="2D1B69"/>
                </a:solidFill>
                <a:latin typeface="Calibri" pitchFamily="34" charset="0"/>
                <a:ea typeface="Calibri" pitchFamily="34" charset="-122"/>
                <a:cs typeface="Calibri" pitchFamily="34" charset="-120"/>
              </a:rPr>
              <a:t>Commodity Price Rank</a:t>
            </a:r>
            <a:endParaRPr lang="en-US" sz="970" dirty="0"/>
          </a:p>
          <a:p>
            <a:pPr marL="0" indent="0" algn="just">
              <a:lnSpc>
                <a:spcPct val="108000"/>
              </a:lnSpc>
              <a:buNone/>
            </a:pPr>
            <a:r>
              <a:rPr lang="en-US" sz="970" dirty="0">
                <a:solidFill>
                  <a:srgbClr val="3A3A4A"/>
                </a:solidFill>
                <a:latin typeface="Calibri" pitchFamily="34" charset="0"/>
                <a:ea typeface="Calibri" pitchFamily="34" charset="-122"/>
                <a:cs typeface="Calibri" pitchFamily="34" charset="-120"/>
              </a:rPr>
              <a:t>This rank reflects more of </a:t>
            </a:r>
            <a:r>
              <a:rPr lang="en-US" sz="970" b="1" dirty="0">
                <a:solidFill>
                  <a:srgbClr val="3A3A4A"/>
                </a:solidFill>
                <a:latin typeface="Calibri" pitchFamily="34" charset="0"/>
                <a:ea typeface="Calibri" pitchFamily="34" charset="-122"/>
                <a:cs typeface="Calibri" pitchFamily="34" charset="-120"/>
              </a:rPr>
              <a:t>pricing gaps across commodities</a:t>
            </a:r>
            <a:r>
              <a:rPr lang="en-US" sz="970" dirty="0">
                <a:solidFill>
                  <a:srgbClr val="3A3A4A"/>
                </a:solidFill>
                <a:latin typeface="Calibri" pitchFamily="34" charset="0"/>
                <a:ea typeface="Calibri" pitchFamily="34" charset="-122"/>
                <a:cs typeface="Calibri" pitchFamily="34" charset="-120"/>
              </a:rPr>
              <a:t> in Indonesia where Beef sits in a tier of its own, priced over 2.5x higher than the next commodity (Chili at $3.26).</a:t>
            </a:r>
          </a:p>
        </p:txBody>
      </p:sp>
      <p:pic>
        <p:nvPicPr>
          <p:cNvPr id="22" name="Picture 21">
            <a:extLst>
              <a:ext uri="{FF2B5EF4-FFF2-40B4-BE49-F238E27FC236}">
                <a16:creationId xmlns:a16="http://schemas.microsoft.com/office/drawing/2014/main" id="{0BEA988B-8EBF-9729-F52D-99B5694DA4BE}"/>
              </a:ext>
            </a:extLst>
          </p:cNvPr>
          <p:cNvPicPr>
            <a:picLocks noChangeAspect="1"/>
          </p:cNvPicPr>
          <p:nvPr/>
        </p:nvPicPr>
        <p:blipFill>
          <a:blip r:embed="rId5"/>
          <a:stretch>
            <a:fillRect/>
          </a:stretch>
        </p:blipFill>
        <p:spPr>
          <a:xfrm>
            <a:off x="687557" y="1468248"/>
            <a:ext cx="3480703" cy="1709524"/>
          </a:xfrm>
          <a:prstGeom prst="rect">
            <a:avLst/>
          </a:prstGeom>
        </p:spPr>
      </p:pic>
    </p:spTree>
    <p:extLst>
      <p:ext uri="{BB962C8B-B14F-4D97-AF65-F5344CB8AC3E}">
        <p14:creationId xmlns:p14="http://schemas.microsoft.com/office/powerpoint/2010/main" val="32464850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a:extLst>
            <a:ext uri="{FF2B5EF4-FFF2-40B4-BE49-F238E27FC236}">
              <a16:creationId xmlns:a16="http://schemas.microsoft.com/office/drawing/2014/main" id="{A7133063-2FDD-4E65-8D27-C5E39F5A819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74A3943-C777-9251-55B2-AE28AC545081}"/>
              </a:ext>
            </a:extLst>
          </p:cNvPr>
          <p:cNvSpPr/>
          <p:nvPr/>
        </p:nvSpPr>
        <p:spPr>
          <a:xfrm>
            <a:off x="457198" y="23259"/>
            <a:ext cx="82296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Indonesia’s Commodity Overview</a:t>
            </a:r>
            <a:endParaRPr lang="en-US" sz="3000" dirty="0"/>
          </a:p>
        </p:txBody>
      </p:sp>
      <p:sp>
        <p:nvSpPr>
          <p:cNvPr id="5" name="Shape 3">
            <a:extLst>
              <a:ext uri="{FF2B5EF4-FFF2-40B4-BE49-F238E27FC236}">
                <a16:creationId xmlns:a16="http://schemas.microsoft.com/office/drawing/2014/main" id="{4B0791A2-E96F-891C-267D-255876571DC9}"/>
              </a:ext>
            </a:extLst>
          </p:cNvPr>
          <p:cNvSpPr/>
          <p:nvPr/>
        </p:nvSpPr>
        <p:spPr>
          <a:xfrm>
            <a:off x="457198" y="1242714"/>
            <a:ext cx="3794760" cy="2936120"/>
          </a:xfrm>
          <a:prstGeom prst="roundRect">
            <a:avLst>
              <a:gd name="adj" fmla="val 3448"/>
            </a:avLst>
          </a:prstGeom>
          <a:solidFill>
            <a:srgbClr val="FFFFFF"/>
          </a:solidFill>
          <a:ln/>
          <a:effectLst>
            <a:outerShdw blurRad="88900" dist="38100" dir="5400000" algn="bl" rotWithShape="0">
              <a:srgbClr val="1A0F40">
                <a:alpha val="35000"/>
              </a:srgbClr>
            </a:outerShdw>
          </a:effectLst>
        </p:spPr>
        <p:txBody>
          <a:bodyPr/>
          <a:lstStyle/>
          <a:p>
            <a:endParaRPr lang="en-US"/>
          </a:p>
        </p:txBody>
      </p:sp>
      <p:pic>
        <p:nvPicPr>
          <p:cNvPr id="8" name="Copied Picture 8">
            <a:extLst>
              <a:ext uri="{FF2B5EF4-FFF2-40B4-BE49-F238E27FC236}">
                <a16:creationId xmlns:a16="http://schemas.microsoft.com/office/drawing/2014/main" id="{0D056FCD-5F17-C0DC-124B-DA1F3A85EFF3}"/>
              </a:ext>
            </a:extLst>
          </p:cNvPr>
          <p:cNvPicPr>
            <a:picLocks noChangeAspect="1"/>
          </p:cNvPicPr>
          <p:nvPr/>
        </p:nvPicPr>
        <p:blipFill>
          <a:blip r:embed="rId3"/>
          <a:stretch/>
        </p:blipFill>
        <p:spPr>
          <a:xfrm>
            <a:off x="7901259" y="101600"/>
            <a:ext cx="1141141" cy="753153"/>
          </a:xfrm>
          <a:prstGeom prst="rect">
            <a:avLst/>
          </a:prstGeom>
        </p:spPr>
      </p:pic>
      <p:pic>
        <p:nvPicPr>
          <p:cNvPr id="15" name="Picture 14">
            <a:extLst>
              <a:ext uri="{FF2B5EF4-FFF2-40B4-BE49-F238E27FC236}">
                <a16:creationId xmlns:a16="http://schemas.microsoft.com/office/drawing/2014/main" id="{481C7B19-ADF4-E835-358D-7225F0828478}"/>
              </a:ext>
            </a:extLst>
          </p:cNvPr>
          <p:cNvPicPr>
            <a:picLocks noChangeAspect="1"/>
          </p:cNvPicPr>
          <p:nvPr/>
        </p:nvPicPr>
        <p:blipFill>
          <a:blip r:embed="rId4"/>
          <a:stretch>
            <a:fillRect/>
          </a:stretch>
        </p:blipFill>
        <p:spPr>
          <a:xfrm>
            <a:off x="4491440" y="1528880"/>
            <a:ext cx="4500160" cy="2297335"/>
          </a:xfrm>
          <a:prstGeom prst="rect">
            <a:avLst/>
          </a:prstGeom>
        </p:spPr>
      </p:pic>
      <p:sp>
        <p:nvSpPr>
          <p:cNvPr id="16" name="Text 4">
            <a:extLst>
              <a:ext uri="{FF2B5EF4-FFF2-40B4-BE49-F238E27FC236}">
                <a16:creationId xmlns:a16="http://schemas.microsoft.com/office/drawing/2014/main" id="{E4D63FF7-14D0-0AB6-4F05-01BDB156CB1C}"/>
              </a:ext>
            </a:extLst>
          </p:cNvPr>
          <p:cNvSpPr/>
          <p:nvPr/>
        </p:nvSpPr>
        <p:spPr>
          <a:xfrm>
            <a:off x="533945" y="1357584"/>
            <a:ext cx="3641265" cy="2936120"/>
          </a:xfrm>
          <a:prstGeom prst="rect">
            <a:avLst/>
          </a:prstGeom>
          <a:noFill/>
          <a:ln/>
        </p:spPr>
        <p:txBody>
          <a:bodyPr wrap="square" lIns="0" tIns="0" rIns="0" bIns="0" rtlCol="0" anchor="t"/>
          <a:lstStyle/>
          <a:p>
            <a:pPr>
              <a:lnSpc>
                <a:spcPct val="108000"/>
              </a:lnSpc>
            </a:pPr>
            <a:r>
              <a:rPr lang="en-US" sz="970" b="1" dirty="0">
                <a:solidFill>
                  <a:srgbClr val="2D1B69"/>
                </a:solidFill>
                <a:latin typeface="Calibri" pitchFamily="34" charset="0"/>
                <a:ea typeface="Calibri" pitchFamily="34" charset="-122"/>
                <a:cs typeface="Calibri" pitchFamily="34" charset="-120"/>
              </a:rPr>
              <a:t>Commodity Price Volatility</a:t>
            </a:r>
            <a:endParaRPr lang="en-US" sz="970" dirty="0"/>
          </a:p>
          <a:p>
            <a:pPr algn="just">
              <a:lnSpc>
                <a:spcPct val="108000"/>
              </a:lnSpc>
            </a:pPr>
            <a:r>
              <a:rPr lang="en-US" sz="970" dirty="0">
                <a:solidFill>
                  <a:srgbClr val="3A3A4A"/>
                </a:solidFill>
                <a:latin typeface="Calibri" pitchFamily="34" charset="0"/>
                <a:ea typeface="Calibri" pitchFamily="34" charset="-122"/>
                <a:cs typeface="Calibri" pitchFamily="34" charset="-120"/>
              </a:rPr>
              <a:t>Volatility (Coefficient of Variation) </a:t>
            </a:r>
            <a:r>
              <a:rPr lang="en-US" sz="970" b="1" dirty="0">
                <a:solidFill>
                  <a:srgbClr val="3A3A4A"/>
                </a:solidFill>
                <a:latin typeface="Calibri" pitchFamily="34" charset="0"/>
                <a:ea typeface="Calibri" pitchFamily="34" charset="-122"/>
                <a:cs typeface="Calibri" pitchFamily="34" charset="-120"/>
              </a:rPr>
              <a:t>varies dramatically </a:t>
            </a:r>
            <a:r>
              <a:rPr lang="en-US" sz="970" dirty="0">
                <a:solidFill>
                  <a:srgbClr val="3A3A4A"/>
                </a:solidFill>
                <a:latin typeface="Calibri" pitchFamily="34" charset="0"/>
                <a:ea typeface="Calibri" pitchFamily="34" charset="-122"/>
                <a:cs typeface="Calibri" pitchFamily="34" charset="-120"/>
              </a:rPr>
              <a:t>across Indonesia's commodity basket. Eggs sit at a notably low CV (~14%, less than 20%) among market-driven commodities, positioned </a:t>
            </a:r>
            <a:r>
              <a:rPr lang="en-US" sz="970" b="1" dirty="0">
                <a:solidFill>
                  <a:srgbClr val="3A3A4A"/>
                </a:solidFill>
                <a:latin typeface="Calibri" pitchFamily="34" charset="0"/>
                <a:ea typeface="Calibri" pitchFamily="34" charset="-122"/>
                <a:cs typeface="Calibri" pitchFamily="34" charset="-120"/>
              </a:rPr>
              <a:t>close to the regulated cluster despite having no government price intervention</a:t>
            </a:r>
            <a:r>
              <a:rPr lang="en-US" sz="970" dirty="0">
                <a:solidFill>
                  <a:srgbClr val="3A3A4A"/>
                </a:solidFill>
                <a:latin typeface="Calibri" pitchFamily="34" charset="0"/>
                <a:ea typeface="Calibri" pitchFamily="34" charset="-122"/>
                <a:cs typeface="Calibri" pitchFamily="34" charset="-120"/>
              </a:rPr>
              <a:t>.</a:t>
            </a:r>
          </a:p>
          <a:p>
            <a:pPr algn="just">
              <a:lnSpc>
                <a:spcPct val="108000"/>
              </a:lnSpc>
            </a:pPr>
            <a:endParaRPr lang="en-US" sz="970" dirty="0"/>
          </a:p>
          <a:p>
            <a:pPr>
              <a:lnSpc>
                <a:spcPct val="108000"/>
              </a:lnSpc>
            </a:pPr>
            <a:r>
              <a:rPr lang="en-US" sz="970" b="1" dirty="0">
                <a:solidFill>
                  <a:srgbClr val="2D1B69"/>
                </a:solidFill>
                <a:latin typeface="Calibri" pitchFamily="34" charset="0"/>
                <a:ea typeface="Calibri" pitchFamily="34" charset="-122"/>
                <a:cs typeface="Calibri" pitchFamily="34" charset="-120"/>
              </a:rPr>
              <a:t>Why this matters</a:t>
            </a:r>
            <a:endParaRPr lang="en-US" sz="970" dirty="0"/>
          </a:p>
          <a:p>
            <a:pPr marL="0" indent="0" algn="just">
              <a:lnSpc>
                <a:spcPct val="108000"/>
              </a:lnSpc>
              <a:buNone/>
            </a:pPr>
            <a:r>
              <a:rPr lang="en-US" sz="970" dirty="0">
                <a:solidFill>
                  <a:srgbClr val="3A3A4A"/>
                </a:solidFill>
                <a:latin typeface="Calibri" pitchFamily="34" charset="0"/>
                <a:ea typeface="Calibri" pitchFamily="34" charset="-122"/>
                <a:cs typeface="Calibri" pitchFamily="34" charset="-120"/>
              </a:rPr>
              <a:t>Regulated commodities (Sugar, Rice, Oil) show artificially suppressed volatility due to price controls, not genuine market stability.</a:t>
            </a:r>
          </a:p>
          <a:p>
            <a:pPr marL="0" indent="0" algn="just">
              <a:lnSpc>
                <a:spcPct val="108000"/>
              </a:lnSpc>
              <a:buNone/>
            </a:pPr>
            <a:endParaRPr lang="en-US" sz="970" dirty="0">
              <a:solidFill>
                <a:srgbClr val="3A3A4A"/>
              </a:solidFill>
              <a:latin typeface="Calibri" pitchFamily="34" charset="0"/>
              <a:ea typeface="Calibri" pitchFamily="34" charset="-122"/>
              <a:cs typeface="Calibri" pitchFamily="34" charset="-120"/>
            </a:endParaRPr>
          </a:p>
          <a:p>
            <a:pPr marL="0" indent="0" algn="just">
              <a:lnSpc>
                <a:spcPct val="108000"/>
              </a:lnSpc>
              <a:buNone/>
            </a:pPr>
            <a:r>
              <a:rPr lang="en-US" sz="970" dirty="0">
                <a:solidFill>
                  <a:srgbClr val="3A3A4A"/>
                </a:solidFill>
                <a:latin typeface="Calibri" pitchFamily="34" charset="0"/>
                <a:ea typeface="Calibri" pitchFamily="34" charset="-122"/>
                <a:cs typeface="Calibri" pitchFamily="34" charset="-120"/>
              </a:rPr>
              <a:t>Among the unregulated market-driven commodities (blue), eggs are the most stable. Meat (beef) is generally seen as a premium commodity due to its high price.</a:t>
            </a:r>
          </a:p>
          <a:p>
            <a:pPr marL="0" indent="0" algn="just">
              <a:lnSpc>
                <a:spcPct val="108000"/>
              </a:lnSpc>
              <a:buNone/>
            </a:pPr>
            <a:endParaRPr lang="en-US" sz="970" dirty="0">
              <a:solidFill>
                <a:srgbClr val="3A3A4A"/>
              </a:solidFill>
              <a:latin typeface="Calibri" pitchFamily="34" charset="0"/>
              <a:ea typeface="Calibri" pitchFamily="34" charset="-122"/>
              <a:cs typeface="Calibri" pitchFamily="34" charset="-120"/>
            </a:endParaRPr>
          </a:p>
          <a:p>
            <a:pPr marL="0" indent="0" algn="just">
              <a:lnSpc>
                <a:spcPct val="108000"/>
              </a:lnSpc>
              <a:buNone/>
            </a:pPr>
            <a:r>
              <a:rPr lang="en-US" sz="970" dirty="0">
                <a:solidFill>
                  <a:srgbClr val="3A3A4A"/>
                </a:solidFill>
                <a:latin typeface="Calibri" pitchFamily="34" charset="0"/>
                <a:ea typeface="Calibri" pitchFamily="34" charset="-122"/>
                <a:cs typeface="Calibri" pitchFamily="34" charset="-120"/>
              </a:rPr>
              <a:t>Therefore, this combination (low volatility without price regulation) makes eggs the cleanest available signal for further analysis in this dataset.</a:t>
            </a:r>
          </a:p>
          <a:p>
            <a:pPr marL="0" indent="0" algn="just">
              <a:lnSpc>
                <a:spcPct val="108000"/>
              </a:lnSpc>
              <a:buNone/>
            </a:pPr>
            <a:endParaRPr lang="en-US" sz="970" dirty="0">
              <a:solidFill>
                <a:srgbClr val="3A3A4A"/>
              </a:solidFill>
              <a:latin typeface="Calibri" pitchFamily="34" charset="0"/>
              <a:ea typeface="Calibri" pitchFamily="34" charset="-122"/>
              <a:cs typeface="Calibri" pitchFamily="34" charset="-120"/>
            </a:endParaRPr>
          </a:p>
          <a:p>
            <a:pPr algn="just">
              <a:lnSpc>
                <a:spcPct val="108000"/>
              </a:lnSpc>
            </a:pPr>
            <a:endParaRPr lang="en-US" sz="970" dirty="0">
              <a:solidFill>
                <a:srgbClr val="3A3A4A"/>
              </a:solidFill>
              <a:latin typeface="Calibri" pitchFamily="34" charset="0"/>
              <a:ea typeface="Calibri" pitchFamily="34" charset="-122"/>
              <a:cs typeface="Calibri" pitchFamily="34" charset="-120"/>
            </a:endParaRPr>
          </a:p>
        </p:txBody>
      </p:sp>
      <p:cxnSp>
        <p:nvCxnSpPr>
          <p:cNvPr id="4" name="Straight Arrow Connector 3">
            <a:extLst>
              <a:ext uri="{FF2B5EF4-FFF2-40B4-BE49-F238E27FC236}">
                <a16:creationId xmlns:a16="http://schemas.microsoft.com/office/drawing/2014/main" id="{04F008FD-4D43-E10B-1561-04D2494258FF}"/>
              </a:ext>
            </a:extLst>
          </p:cNvPr>
          <p:cNvCxnSpPr>
            <a:cxnSpLocks/>
          </p:cNvCxnSpPr>
          <p:nvPr/>
        </p:nvCxnSpPr>
        <p:spPr>
          <a:xfrm>
            <a:off x="5928360" y="2710774"/>
            <a:ext cx="396240" cy="3048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77420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a:extLst>
            <a:ext uri="{FF2B5EF4-FFF2-40B4-BE49-F238E27FC236}">
              <a16:creationId xmlns:a16="http://schemas.microsoft.com/office/drawing/2014/main" id="{38D4814E-D8B8-7969-BA8C-D93A1201867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05083E6-1091-3904-8CB7-CC77F43E1A91}"/>
              </a:ext>
            </a:extLst>
          </p:cNvPr>
          <p:cNvSpPr/>
          <p:nvPr/>
        </p:nvSpPr>
        <p:spPr>
          <a:xfrm>
            <a:off x="457198" y="23259"/>
            <a:ext cx="82296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Variable Selection</a:t>
            </a:r>
            <a:endParaRPr lang="en-US" sz="3000" dirty="0"/>
          </a:p>
        </p:txBody>
      </p:sp>
      <p:pic>
        <p:nvPicPr>
          <p:cNvPr id="8" name="Copied Picture 8">
            <a:extLst>
              <a:ext uri="{FF2B5EF4-FFF2-40B4-BE49-F238E27FC236}">
                <a16:creationId xmlns:a16="http://schemas.microsoft.com/office/drawing/2014/main" id="{CA9C93E9-9EA9-BBBF-A25B-1A6453BF66EE}"/>
              </a:ext>
            </a:extLst>
          </p:cNvPr>
          <p:cNvPicPr>
            <a:picLocks noChangeAspect="1"/>
          </p:cNvPicPr>
          <p:nvPr/>
        </p:nvPicPr>
        <p:blipFill>
          <a:blip r:embed="rId3"/>
          <a:stretch/>
        </p:blipFill>
        <p:spPr>
          <a:xfrm>
            <a:off x="7901259" y="101600"/>
            <a:ext cx="1141141" cy="753153"/>
          </a:xfrm>
          <a:prstGeom prst="rect">
            <a:avLst/>
          </a:prstGeom>
        </p:spPr>
      </p:pic>
      <p:graphicFrame>
        <p:nvGraphicFramePr>
          <p:cNvPr id="3" name="Table 2">
            <a:extLst>
              <a:ext uri="{FF2B5EF4-FFF2-40B4-BE49-F238E27FC236}">
                <a16:creationId xmlns:a16="http://schemas.microsoft.com/office/drawing/2014/main" id="{9350DD89-8C72-0D35-ED93-17BEB1FFCBA4}"/>
              </a:ext>
            </a:extLst>
          </p:cNvPr>
          <p:cNvGraphicFramePr>
            <a:graphicFrameLocks noGrp="1"/>
          </p:cNvGraphicFramePr>
          <p:nvPr>
            <p:extLst>
              <p:ext uri="{D42A27DB-BD31-4B8C-83A1-F6EECF244321}">
                <p14:modId xmlns:p14="http://schemas.microsoft.com/office/powerpoint/2010/main" val="3934541745"/>
              </p:ext>
            </p:extLst>
          </p:nvPr>
        </p:nvGraphicFramePr>
        <p:xfrm>
          <a:off x="1524001" y="861780"/>
          <a:ext cx="6331888" cy="1910080"/>
        </p:xfrm>
        <a:graphic>
          <a:graphicData uri="http://schemas.openxmlformats.org/drawingml/2006/table">
            <a:tbl>
              <a:tblPr firstRow="1" bandRow="1">
                <a:tableStyleId>{5C22544A-7EE6-4342-B048-85BDC9FD1C3A}</a:tableStyleId>
              </a:tblPr>
              <a:tblGrid>
                <a:gridCol w="1298712">
                  <a:extLst>
                    <a:ext uri="{9D8B030D-6E8A-4147-A177-3AD203B41FA5}">
                      <a16:colId xmlns:a16="http://schemas.microsoft.com/office/drawing/2014/main" val="2856354769"/>
                    </a:ext>
                  </a:extLst>
                </a:gridCol>
                <a:gridCol w="461176">
                  <a:extLst>
                    <a:ext uri="{9D8B030D-6E8A-4147-A177-3AD203B41FA5}">
                      <a16:colId xmlns:a16="http://schemas.microsoft.com/office/drawing/2014/main" val="2754141554"/>
                    </a:ext>
                  </a:extLst>
                </a:gridCol>
                <a:gridCol w="580445">
                  <a:extLst>
                    <a:ext uri="{9D8B030D-6E8A-4147-A177-3AD203B41FA5}">
                      <a16:colId xmlns:a16="http://schemas.microsoft.com/office/drawing/2014/main" val="875182322"/>
                    </a:ext>
                  </a:extLst>
                </a:gridCol>
                <a:gridCol w="476622">
                  <a:extLst>
                    <a:ext uri="{9D8B030D-6E8A-4147-A177-3AD203B41FA5}">
                      <a16:colId xmlns:a16="http://schemas.microsoft.com/office/drawing/2014/main" val="1549643773"/>
                    </a:ext>
                  </a:extLst>
                </a:gridCol>
                <a:gridCol w="596804">
                  <a:extLst>
                    <a:ext uri="{9D8B030D-6E8A-4147-A177-3AD203B41FA5}">
                      <a16:colId xmlns:a16="http://schemas.microsoft.com/office/drawing/2014/main" val="1791335611"/>
                    </a:ext>
                  </a:extLst>
                </a:gridCol>
                <a:gridCol w="644056">
                  <a:extLst>
                    <a:ext uri="{9D8B030D-6E8A-4147-A177-3AD203B41FA5}">
                      <a16:colId xmlns:a16="http://schemas.microsoft.com/office/drawing/2014/main" val="483581386"/>
                    </a:ext>
                  </a:extLst>
                </a:gridCol>
                <a:gridCol w="516834">
                  <a:extLst>
                    <a:ext uri="{9D8B030D-6E8A-4147-A177-3AD203B41FA5}">
                      <a16:colId xmlns:a16="http://schemas.microsoft.com/office/drawing/2014/main" val="285251183"/>
                    </a:ext>
                  </a:extLst>
                </a:gridCol>
                <a:gridCol w="723569">
                  <a:extLst>
                    <a:ext uri="{9D8B030D-6E8A-4147-A177-3AD203B41FA5}">
                      <a16:colId xmlns:a16="http://schemas.microsoft.com/office/drawing/2014/main" val="1761231090"/>
                    </a:ext>
                  </a:extLst>
                </a:gridCol>
                <a:gridCol w="508884">
                  <a:extLst>
                    <a:ext uri="{9D8B030D-6E8A-4147-A177-3AD203B41FA5}">
                      <a16:colId xmlns:a16="http://schemas.microsoft.com/office/drawing/2014/main" val="2909010572"/>
                    </a:ext>
                  </a:extLst>
                </a:gridCol>
                <a:gridCol w="524786">
                  <a:extLst>
                    <a:ext uri="{9D8B030D-6E8A-4147-A177-3AD203B41FA5}">
                      <a16:colId xmlns:a16="http://schemas.microsoft.com/office/drawing/2014/main" val="1130149934"/>
                    </a:ext>
                  </a:extLst>
                </a:gridCol>
              </a:tblGrid>
              <a:tr h="370840">
                <a:tc>
                  <a:txBody>
                    <a:bodyPr/>
                    <a:lstStyle/>
                    <a:p>
                      <a:r>
                        <a:rPr lang="en-US" sz="1200" dirty="0"/>
                        <a:t>Criterion</a:t>
                      </a:r>
                    </a:p>
                  </a:txBody>
                  <a:tcPr>
                    <a:solidFill>
                      <a:srgbClr val="9986DE"/>
                    </a:solidFill>
                  </a:tcPr>
                </a:tc>
                <a:tc>
                  <a:txBody>
                    <a:bodyPr/>
                    <a:lstStyle/>
                    <a:p>
                      <a:r>
                        <a:rPr lang="en-US" sz="1200" dirty="0"/>
                        <a:t>Rice</a:t>
                      </a:r>
                    </a:p>
                  </a:txBody>
                  <a:tcPr>
                    <a:solidFill>
                      <a:srgbClr val="9986DE"/>
                    </a:solidFill>
                  </a:tcPr>
                </a:tc>
                <a:tc>
                  <a:txBody>
                    <a:bodyPr/>
                    <a:lstStyle/>
                    <a:p>
                      <a:r>
                        <a:rPr lang="en-US" sz="1200" dirty="0"/>
                        <a:t>Sugar</a:t>
                      </a:r>
                    </a:p>
                  </a:txBody>
                  <a:tcPr>
                    <a:solidFill>
                      <a:srgbClr val="9986DE"/>
                    </a:solidFill>
                  </a:tcPr>
                </a:tc>
                <a:tc>
                  <a:txBody>
                    <a:bodyPr/>
                    <a:lstStyle/>
                    <a:p>
                      <a:r>
                        <a:rPr lang="en-US" sz="1200" dirty="0"/>
                        <a:t>Oil</a:t>
                      </a:r>
                    </a:p>
                  </a:txBody>
                  <a:tcPr>
                    <a:solidFill>
                      <a:srgbClr val="9986DE"/>
                    </a:solidFill>
                  </a:tcPr>
                </a:tc>
                <a:tc>
                  <a:txBody>
                    <a:bodyPr/>
                    <a:lstStyle/>
                    <a:p>
                      <a:r>
                        <a:rPr lang="en-US" sz="1200" dirty="0"/>
                        <a:t>Garlic</a:t>
                      </a:r>
                    </a:p>
                  </a:txBody>
                  <a:tcPr>
                    <a:solidFill>
                      <a:srgbClr val="9986DE"/>
                    </a:solidFill>
                  </a:tcPr>
                </a:tc>
                <a:tc>
                  <a:txBody>
                    <a:bodyPr/>
                    <a:lstStyle/>
                    <a:p>
                      <a:r>
                        <a:rPr lang="en-US" sz="1200" dirty="0"/>
                        <a:t>Onions</a:t>
                      </a:r>
                    </a:p>
                  </a:txBody>
                  <a:tcPr>
                    <a:solidFill>
                      <a:srgbClr val="9986DE"/>
                    </a:solidFill>
                  </a:tcPr>
                </a:tc>
                <a:tc>
                  <a:txBody>
                    <a:bodyPr/>
                    <a:lstStyle/>
                    <a:p>
                      <a:r>
                        <a:rPr lang="en-US" sz="1200" dirty="0"/>
                        <a:t>Chilli</a:t>
                      </a:r>
                    </a:p>
                  </a:txBody>
                  <a:tcPr>
                    <a:solidFill>
                      <a:srgbClr val="9986DE"/>
                    </a:solidFill>
                  </a:tcPr>
                </a:tc>
                <a:tc>
                  <a:txBody>
                    <a:bodyPr/>
                    <a:lstStyle/>
                    <a:p>
                      <a:r>
                        <a:rPr lang="en-US" sz="1200" dirty="0"/>
                        <a:t>Chicken</a:t>
                      </a:r>
                    </a:p>
                  </a:txBody>
                  <a:tcPr>
                    <a:solidFill>
                      <a:srgbClr val="9986DE"/>
                    </a:solidFill>
                  </a:tcPr>
                </a:tc>
                <a:tc>
                  <a:txBody>
                    <a:bodyPr/>
                    <a:lstStyle/>
                    <a:p>
                      <a:r>
                        <a:rPr lang="en-US" sz="1200" dirty="0"/>
                        <a:t>Beef</a:t>
                      </a:r>
                    </a:p>
                  </a:txBody>
                  <a:tcPr>
                    <a:solidFill>
                      <a:srgbClr val="9986DE"/>
                    </a:solidFill>
                  </a:tcPr>
                </a:tc>
                <a:tc>
                  <a:txBody>
                    <a:bodyPr/>
                    <a:lstStyle/>
                    <a:p>
                      <a:r>
                        <a:rPr lang="en-US" sz="1200" dirty="0"/>
                        <a:t>Eggs</a:t>
                      </a:r>
                    </a:p>
                  </a:txBody>
                  <a:tcPr>
                    <a:solidFill>
                      <a:srgbClr val="9986DE"/>
                    </a:solidFill>
                  </a:tcPr>
                </a:tc>
                <a:extLst>
                  <a:ext uri="{0D108BD9-81ED-4DB2-BD59-A6C34878D82A}">
                    <a16:rowId xmlns:a16="http://schemas.microsoft.com/office/drawing/2014/main" val="11756904"/>
                  </a:ext>
                </a:extLst>
              </a:tr>
              <a:tr h="370840">
                <a:tc>
                  <a:txBody>
                    <a:bodyPr/>
                    <a:lstStyle/>
                    <a:p>
                      <a:r>
                        <a:rPr lang="en-US" sz="1100" dirty="0"/>
                        <a:t>No price regulation</a:t>
                      </a:r>
                    </a:p>
                  </a:txBody>
                  <a:tcPr/>
                </a:tc>
                <a:tc>
                  <a:txBody>
                    <a:bodyPr/>
                    <a:lstStyle/>
                    <a:p>
                      <a:endParaRPr lang="en-US" sz="1100" dirty="0"/>
                    </a:p>
                  </a:txBody>
                  <a:tcPr/>
                </a:tc>
                <a:tc>
                  <a:txBody>
                    <a:bodyPr/>
                    <a:lstStyle/>
                    <a:p>
                      <a:endParaRPr lang="en-US" sz="1100" dirty="0"/>
                    </a:p>
                  </a:txBody>
                  <a:tcPr/>
                </a:tc>
                <a:tc>
                  <a:txBody>
                    <a:bodyPr/>
                    <a:lstStyle/>
                    <a:p>
                      <a:endParaRPr lang="en-US" sz="1100" dirty="0"/>
                    </a:p>
                  </a:txBody>
                  <a:tcPr/>
                </a:tc>
                <a:tc>
                  <a:txBody>
                    <a:bodyPr/>
                    <a:lstStyle/>
                    <a:p>
                      <a:r>
                        <a:rPr lang="en-US" sz="1100" dirty="0"/>
                        <a:t>✔️</a:t>
                      </a:r>
                    </a:p>
                  </a:txBody>
                  <a:tcPr/>
                </a:tc>
                <a:tc>
                  <a:txBody>
                    <a:bodyPr/>
                    <a:lstStyle/>
                    <a:p>
                      <a:r>
                        <a:rPr lang="en-US" sz="1100" dirty="0"/>
                        <a:t>✔️</a:t>
                      </a:r>
                    </a:p>
                  </a:txBody>
                  <a:tcPr/>
                </a:tc>
                <a:tc>
                  <a:txBody>
                    <a:bodyPr/>
                    <a:lstStyle/>
                    <a:p>
                      <a:r>
                        <a:rPr lang="en-US" sz="1100" dirty="0"/>
                        <a:t>✔️</a:t>
                      </a:r>
                    </a:p>
                  </a:txBody>
                  <a:tcPr/>
                </a:tc>
                <a:tc>
                  <a:txBody>
                    <a:bodyPr/>
                    <a:lstStyle/>
                    <a:p>
                      <a:r>
                        <a:rPr lang="en-US" sz="1100" dirty="0"/>
                        <a:t>✔️</a:t>
                      </a:r>
                    </a:p>
                  </a:txBody>
                  <a:tcPr/>
                </a:tc>
                <a:tc>
                  <a:txBody>
                    <a:bodyPr/>
                    <a:lstStyle/>
                    <a:p>
                      <a:r>
                        <a:rPr lang="en-US" sz="1100" dirty="0"/>
                        <a:t>✔️</a:t>
                      </a:r>
                    </a:p>
                  </a:txBody>
                  <a:tcPr/>
                </a:tc>
                <a:tc>
                  <a:txBody>
                    <a:bodyPr/>
                    <a:lstStyle/>
                    <a:p>
                      <a:r>
                        <a:rPr lang="en-US" sz="1100" dirty="0"/>
                        <a:t>✔️</a:t>
                      </a:r>
                    </a:p>
                  </a:txBody>
                  <a:tcPr/>
                </a:tc>
                <a:extLst>
                  <a:ext uri="{0D108BD9-81ED-4DB2-BD59-A6C34878D82A}">
                    <a16:rowId xmlns:a16="http://schemas.microsoft.com/office/drawing/2014/main" val="1651441326"/>
                  </a:ext>
                </a:extLst>
              </a:tr>
              <a:tr h="370840">
                <a:tc>
                  <a:txBody>
                    <a:bodyPr/>
                    <a:lstStyle/>
                    <a:p>
                      <a:r>
                        <a:rPr lang="en-US" sz="1100" dirty="0"/>
                        <a:t>Low volatility</a:t>
                      </a:r>
                    </a:p>
                  </a:txBody>
                  <a:tcPr/>
                </a:tc>
                <a:tc>
                  <a:txBody>
                    <a:bodyPr/>
                    <a:lstStyle/>
                    <a:p>
                      <a:r>
                        <a:rPr lang="en-US" sz="1100" dirty="0"/>
                        <a:t>✔️</a:t>
                      </a:r>
                    </a:p>
                  </a:txBody>
                  <a:tcPr/>
                </a:tc>
                <a:tc>
                  <a:txBody>
                    <a:bodyPr/>
                    <a:lstStyle/>
                    <a:p>
                      <a:r>
                        <a:rPr lang="en-US" sz="1100" dirty="0"/>
                        <a:t>✔️</a:t>
                      </a:r>
                    </a:p>
                  </a:txBody>
                  <a:tcPr/>
                </a:tc>
                <a:tc>
                  <a:txBody>
                    <a:bodyPr/>
                    <a:lstStyle/>
                    <a:p>
                      <a:r>
                        <a:rPr lang="en-US" sz="1100" dirty="0"/>
                        <a:t>✔️</a:t>
                      </a:r>
                    </a:p>
                  </a:txBody>
                  <a:tcPr/>
                </a:tc>
                <a:tc>
                  <a:txBody>
                    <a:bodyPr/>
                    <a:lstStyle/>
                    <a:p>
                      <a:endParaRPr lang="en-US" sz="1100" dirty="0"/>
                    </a:p>
                  </a:txBody>
                  <a:tcPr/>
                </a:tc>
                <a:tc>
                  <a:txBody>
                    <a:bodyPr/>
                    <a:lstStyle/>
                    <a:p>
                      <a:endParaRPr lang="en-US" sz="1100" dirty="0"/>
                    </a:p>
                  </a:txBody>
                  <a:tcPr/>
                </a:tc>
                <a:tc>
                  <a:txBody>
                    <a:bodyPr/>
                    <a:lstStyle/>
                    <a:p>
                      <a:endParaRPr lang="en-US" sz="1100" dirty="0"/>
                    </a:p>
                  </a:txBody>
                  <a:tcPr/>
                </a:tc>
                <a:tc>
                  <a:txBody>
                    <a:bodyPr/>
                    <a:lstStyle/>
                    <a:p>
                      <a:r>
                        <a:rPr lang="en-US" sz="1100" dirty="0"/>
                        <a:t>✔️</a:t>
                      </a:r>
                    </a:p>
                  </a:txBody>
                  <a:tcPr/>
                </a:tc>
                <a:tc>
                  <a:txBody>
                    <a:bodyPr/>
                    <a:lstStyle/>
                    <a:p>
                      <a:r>
                        <a:rPr lang="en-US" sz="1100" dirty="0"/>
                        <a:t>✔️</a:t>
                      </a:r>
                    </a:p>
                  </a:txBody>
                  <a:tcPr/>
                </a:tc>
                <a:tc>
                  <a:txBody>
                    <a:bodyPr/>
                    <a:lstStyle/>
                    <a:p>
                      <a:r>
                        <a:rPr lang="en-US" sz="1100" dirty="0"/>
                        <a:t>✔️</a:t>
                      </a:r>
                    </a:p>
                  </a:txBody>
                  <a:tcPr/>
                </a:tc>
                <a:extLst>
                  <a:ext uri="{0D108BD9-81ED-4DB2-BD59-A6C34878D82A}">
                    <a16:rowId xmlns:a16="http://schemas.microsoft.com/office/drawing/2014/main" val="562317578"/>
                  </a:ext>
                </a:extLst>
              </a:tr>
              <a:tr h="370840">
                <a:tc>
                  <a:txBody>
                    <a:bodyPr/>
                    <a:lstStyle/>
                    <a:p>
                      <a:r>
                        <a:rPr lang="en-US" sz="1100" dirty="0"/>
                        <a:t>Broad consumption</a:t>
                      </a:r>
                    </a:p>
                  </a:txBody>
                  <a:tcPr/>
                </a:tc>
                <a:tc>
                  <a:txBody>
                    <a:bodyPr/>
                    <a:lstStyle/>
                    <a:p>
                      <a:r>
                        <a:rPr lang="en-US" sz="1100" dirty="0"/>
                        <a:t>✔️</a:t>
                      </a:r>
                    </a:p>
                  </a:txBody>
                  <a:tcPr/>
                </a:tc>
                <a:tc>
                  <a:txBody>
                    <a:bodyPr/>
                    <a:lstStyle/>
                    <a:p>
                      <a:r>
                        <a:rPr lang="en-US" sz="1100" dirty="0"/>
                        <a:t>✔️</a:t>
                      </a:r>
                    </a:p>
                  </a:txBody>
                  <a:tcPr/>
                </a:tc>
                <a:tc>
                  <a:txBody>
                    <a:bodyPr/>
                    <a:lstStyle/>
                    <a:p>
                      <a:r>
                        <a:rPr lang="en-US" sz="1100" dirty="0"/>
                        <a:t>✔️</a:t>
                      </a:r>
                    </a:p>
                  </a:txBody>
                  <a:tcPr/>
                </a:tc>
                <a:tc>
                  <a:txBody>
                    <a:bodyPr/>
                    <a:lstStyle/>
                    <a:p>
                      <a:r>
                        <a:rPr lang="en-US" sz="1100" dirty="0"/>
                        <a:t>✔️</a:t>
                      </a:r>
                    </a:p>
                  </a:txBody>
                  <a:tcPr/>
                </a:tc>
                <a:tc>
                  <a:txBody>
                    <a:bodyPr/>
                    <a:lstStyle/>
                    <a:p>
                      <a:r>
                        <a:rPr lang="en-US" sz="1100" dirty="0"/>
                        <a:t>✔️</a:t>
                      </a:r>
                    </a:p>
                  </a:txBody>
                  <a:tcPr/>
                </a:tc>
                <a:tc>
                  <a:txBody>
                    <a:bodyPr/>
                    <a:lstStyle/>
                    <a:p>
                      <a:r>
                        <a:rPr lang="en-US" sz="1100" dirty="0"/>
                        <a:t>✔️</a:t>
                      </a:r>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100" dirty="0"/>
                        <a:t>✔️</a:t>
                      </a:r>
                    </a:p>
                    <a:p>
                      <a:endParaRPr lang="en-US" sz="1100" dirty="0"/>
                    </a:p>
                  </a:txBody>
                  <a:tcPr/>
                </a:tc>
                <a:tc>
                  <a:txBody>
                    <a:bodyPr/>
                    <a:lstStyle/>
                    <a:p>
                      <a:endParaRPr lang="en-US" sz="1100"/>
                    </a:p>
                  </a:txBody>
                  <a:tcPr/>
                </a:tc>
                <a:tc>
                  <a:txBody>
                    <a:bodyPr/>
                    <a:lstStyle/>
                    <a:p>
                      <a:r>
                        <a:rPr lang="en-US" sz="1100" dirty="0"/>
                        <a:t>✔️</a:t>
                      </a:r>
                    </a:p>
                  </a:txBody>
                  <a:tcPr/>
                </a:tc>
                <a:extLst>
                  <a:ext uri="{0D108BD9-81ED-4DB2-BD59-A6C34878D82A}">
                    <a16:rowId xmlns:a16="http://schemas.microsoft.com/office/drawing/2014/main" val="2993086240"/>
                  </a:ext>
                </a:extLst>
              </a:tr>
              <a:tr h="370840">
                <a:tc>
                  <a:txBody>
                    <a:bodyPr/>
                    <a:lstStyle/>
                    <a:p>
                      <a:r>
                        <a:rPr lang="en-US" sz="1100" dirty="0"/>
                        <a:t>Selected</a:t>
                      </a:r>
                    </a:p>
                  </a:txBody>
                  <a:tcPr/>
                </a:tc>
                <a:tc>
                  <a:txBody>
                    <a:bodyPr/>
                    <a:lstStyle/>
                    <a:p>
                      <a:endParaRPr lang="en-US" sz="1100" dirty="0"/>
                    </a:p>
                  </a:txBody>
                  <a:tcPr/>
                </a:tc>
                <a:tc>
                  <a:txBody>
                    <a:bodyPr/>
                    <a:lstStyle/>
                    <a:p>
                      <a:endParaRPr lang="en-US" sz="1100" dirty="0"/>
                    </a:p>
                  </a:txBody>
                  <a:tcPr/>
                </a:tc>
                <a:tc>
                  <a:txBody>
                    <a:bodyPr/>
                    <a:lstStyle/>
                    <a:p>
                      <a:endParaRPr lang="en-US" sz="1100" dirty="0"/>
                    </a:p>
                  </a:txBody>
                  <a:tcPr/>
                </a:tc>
                <a:tc>
                  <a:txBody>
                    <a:bodyPr/>
                    <a:lstStyle/>
                    <a:p>
                      <a:endParaRPr lang="en-US" sz="1100" dirty="0"/>
                    </a:p>
                  </a:txBody>
                  <a:tcPr/>
                </a:tc>
                <a:tc>
                  <a:txBody>
                    <a:bodyPr/>
                    <a:lstStyle/>
                    <a:p>
                      <a:endParaRPr lang="en-US" sz="1100" dirty="0"/>
                    </a:p>
                  </a:txBody>
                  <a:tcPr/>
                </a:tc>
                <a:tc>
                  <a:txBody>
                    <a:bodyPr/>
                    <a:lstStyle/>
                    <a:p>
                      <a:endParaRPr lang="en-US" sz="1100" dirty="0"/>
                    </a:p>
                  </a:txBody>
                  <a:tcPr/>
                </a:tc>
                <a:tc>
                  <a:txBody>
                    <a:bodyPr/>
                    <a:lstStyle/>
                    <a:p>
                      <a:endParaRPr lang="en-US" sz="1100" dirty="0"/>
                    </a:p>
                  </a:txBody>
                  <a:tcPr/>
                </a:tc>
                <a:tc>
                  <a:txBody>
                    <a:bodyPr/>
                    <a:lstStyle/>
                    <a:p>
                      <a:endParaRPr lang="en-US" sz="1100"/>
                    </a:p>
                  </a:txBody>
                  <a:tcPr/>
                </a:tc>
                <a:tc>
                  <a:txBody>
                    <a:bodyPr/>
                    <a:lstStyle/>
                    <a:p>
                      <a:r>
                        <a:rPr lang="en-US" sz="1100" dirty="0"/>
                        <a:t>✅</a:t>
                      </a:r>
                    </a:p>
                  </a:txBody>
                  <a:tcPr/>
                </a:tc>
                <a:extLst>
                  <a:ext uri="{0D108BD9-81ED-4DB2-BD59-A6C34878D82A}">
                    <a16:rowId xmlns:a16="http://schemas.microsoft.com/office/drawing/2014/main" val="1645409404"/>
                  </a:ext>
                </a:extLst>
              </a:tr>
            </a:tbl>
          </a:graphicData>
        </a:graphic>
      </p:graphicFrame>
      <p:sp>
        <p:nvSpPr>
          <p:cNvPr id="9" name="Multiply 8">
            <a:extLst>
              <a:ext uri="{FF2B5EF4-FFF2-40B4-BE49-F238E27FC236}">
                <a16:creationId xmlns:a16="http://schemas.microsoft.com/office/drawing/2014/main" id="{C4411C38-AAB7-E80C-7E03-33FE6C49644B}"/>
              </a:ext>
            </a:extLst>
          </p:cNvPr>
          <p:cNvSpPr/>
          <p:nvPr/>
        </p:nvSpPr>
        <p:spPr>
          <a:xfrm>
            <a:off x="4447307" y="1666923"/>
            <a:ext cx="249382" cy="173812"/>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Multiply 9">
            <a:extLst>
              <a:ext uri="{FF2B5EF4-FFF2-40B4-BE49-F238E27FC236}">
                <a16:creationId xmlns:a16="http://schemas.microsoft.com/office/drawing/2014/main" id="{59867FA8-724B-52ED-D19A-7E657990DF0F}"/>
              </a:ext>
            </a:extLst>
          </p:cNvPr>
          <p:cNvSpPr/>
          <p:nvPr/>
        </p:nvSpPr>
        <p:spPr>
          <a:xfrm>
            <a:off x="5005953" y="1666923"/>
            <a:ext cx="249382" cy="173812"/>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Multiply 10">
            <a:extLst>
              <a:ext uri="{FF2B5EF4-FFF2-40B4-BE49-F238E27FC236}">
                <a16:creationId xmlns:a16="http://schemas.microsoft.com/office/drawing/2014/main" id="{FE79BBD5-FD02-4560-ADAC-0A189662CF83}"/>
              </a:ext>
            </a:extLst>
          </p:cNvPr>
          <p:cNvSpPr/>
          <p:nvPr/>
        </p:nvSpPr>
        <p:spPr>
          <a:xfrm>
            <a:off x="6911071" y="2028693"/>
            <a:ext cx="249382" cy="173812"/>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hape 3">
            <a:extLst>
              <a:ext uri="{FF2B5EF4-FFF2-40B4-BE49-F238E27FC236}">
                <a16:creationId xmlns:a16="http://schemas.microsoft.com/office/drawing/2014/main" id="{17E9729E-A76A-E4EF-54B7-9C9D04874A23}"/>
              </a:ext>
            </a:extLst>
          </p:cNvPr>
          <p:cNvSpPr/>
          <p:nvPr/>
        </p:nvSpPr>
        <p:spPr>
          <a:xfrm>
            <a:off x="457198" y="3000529"/>
            <a:ext cx="8229600" cy="1910080"/>
          </a:xfrm>
          <a:prstGeom prst="roundRect">
            <a:avLst>
              <a:gd name="adj" fmla="val 3279"/>
            </a:avLst>
          </a:prstGeom>
          <a:solidFill>
            <a:srgbClr val="FFFFFF"/>
          </a:solidFill>
          <a:ln/>
          <a:effectLst>
            <a:outerShdw blurRad="88900" dist="38100" dir="5400000" algn="bl" rotWithShape="0">
              <a:srgbClr val="1A0F40">
                <a:alpha val="35000"/>
              </a:srgbClr>
            </a:outerShdw>
          </a:effectLst>
        </p:spPr>
        <p:txBody>
          <a:bodyPr/>
          <a:lstStyle/>
          <a:p>
            <a:endParaRPr lang="en-US" dirty="0"/>
          </a:p>
        </p:txBody>
      </p:sp>
      <p:sp>
        <p:nvSpPr>
          <p:cNvPr id="13" name="Text 4">
            <a:extLst>
              <a:ext uri="{FF2B5EF4-FFF2-40B4-BE49-F238E27FC236}">
                <a16:creationId xmlns:a16="http://schemas.microsoft.com/office/drawing/2014/main" id="{267E8930-D000-6FF4-A196-8AE780E05948}"/>
              </a:ext>
            </a:extLst>
          </p:cNvPr>
          <p:cNvSpPr/>
          <p:nvPr/>
        </p:nvSpPr>
        <p:spPr>
          <a:xfrm>
            <a:off x="524585" y="3045871"/>
            <a:ext cx="8026822" cy="1955800"/>
          </a:xfrm>
          <a:prstGeom prst="rect">
            <a:avLst/>
          </a:prstGeom>
          <a:noFill/>
          <a:ln/>
        </p:spPr>
        <p:txBody>
          <a:bodyPr wrap="square" lIns="0" tIns="0" rIns="0" bIns="0" rtlCol="0" anchor="t"/>
          <a:lstStyle/>
          <a:p>
            <a:pPr marL="0" indent="0">
              <a:lnSpc>
                <a:spcPct val="108000"/>
              </a:lnSpc>
              <a:buNone/>
            </a:pPr>
            <a:r>
              <a:rPr lang="en-US" sz="970" b="1" dirty="0">
                <a:solidFill>
                  <a:srgbClr val="2D1B69"/>
                </a:solidFill>
                <a:latin typeface="Calibri" pitchFamily="34" charset="0"/>
                <a:ea typeface="Calibri" pitchFamily="34" charset="-122"/>
                <a:cs typeface="Calibri" pitchFamily="34" charset="-120"/>
              </a:rPr>
              <a:t>Selection Summary</a:t>
            </a:r>
            <a:endParaRPr lang="en-US" sz="970" dirty="0"/>
          </a:p>
          <a:p>
            <a:pPr algn="just">
              <a:lnSpc>
                <a:spcPct val="108000"/>
              </a:lnSpc>
            </a:pPr>
            <a:r>
              <a:rPr lang="en-US" sz="970" b="1" dirty="0">
                <a:solidFill>
                  <a:srgbClr val="3A3A4A"/>
                </a:solidFill>
                <a:latin typeface="Calibri" pitchFamily="34" charset="0"/>
                <a:ea typeface="Calibri" pitchFamily="34" charset="-122"/>
                <a:cs typeface="Calibri" pitchFamily="34" charset="-120"/>
              </a:rPr>
              <a:t>Indonesia is selected</a:t>
            </a:r>
            <a:r>
              <a:rPr lang="en-US" sz="970" dirty="0">
                <a:solidFill>
                  <a:srgbClr val="3A3A4A"/>
                </a:solidFill>
                <a:latin typeface="Calibri" pitchFamily="34" charset="0"/>
                <a:ea typeface="Calibri" pitchFamily="34" charset="-122"/>
                <a:cs typeface="Calibri" pitchFamily="34" charset="-120"/>
              </a:rPr>
              <a:t> as the country of focus with 220 markets across 34 provinces, and clear </a:t>
            </a:r>
            <a:r>
              <a:rPr lang="en-US" sz="970" b="1" dirty="0">
                <a:solidFill>
                  <a:srgbClr val="3A3A4A"/>
                </a:solidFill>
                <a:latin typeface="Calibri" pitchFamily="34" charset="0"/>
                <a:ea typeface="Calibri" pitchFamily="34" charset="-122"/>
                <a:cs typeface="Calibri" pitchFamily="34" charset="-120"/>
              </a:rPr>
              <a:t>food security relevance </a:t>
            </a:r>
            <a:r>
              <a:rPr lang="en-US" sz="970" dirty="0">
                <a:solidFill>
                  <a:srgbClr val="3A3A4A"/>
                </a:solidFill>
                <a:latin typeface="Calibri" pitchFamily="34" charset="0"/>
                <a:ea typeface="Calibri" pitchFamily="34" charset="-122"/>
                <a:cs typeface="Calibri" pitchFamily="34" charset="-120"/>
              </a:rPr>
              <a:t>with a notably </a:t>
            </a:r>
            <a:r>
              <a:rPr lang="en-US" sz="970" b="1" dirty="0">
                <a:solidFill>
                  <a:srgbClr val="3A3A4A"/>
                </a:solidFill>
                <a:latin typeface="Calibri" pitchFamily="34" charset="0"/>
                <a:ea typeface="Calibri" pitchFamily="34" charset="-122"/>
                <a:cs typeface="Calibri" pitchFamily="34" charset="-120"/>
              </a:rPr>
              <a:t>high global outlier </a:t>
            </a:r>
            <a:r>
              <a:rPr lang="en-US" sz="970" dirty="0">
                <a:solidFill>
                  <a:srgbClr val="3A3A4A"/>
                </a:solidFill>
                <a:latin typeface="Calibri" pitchFamily="34" charset="0"/>
                <a:ea typeface="Calibri" pitchFamily="34" charset="-122"/>
                <a:cs typeface="Calibri" pitchFamily="34" charset="-120"/>
              </a:rPr>
              <a:t>count (the highest of any country) further signaling a </a:t>
            </a:r>
            <a:r>
              <a:rPr lang="en-US" sz="970" b="1" dirty="0">
                <a:solidFill>
                  <a:srgbClr val="3A3A4A"/>
                </a:solidFill>
                <a:latin typeface="Calibri" pitchFamily="34" charset="0"/>
                <a:ea typeface="Calibri" pitchFamily="34" charset="-122"/>
                <a:cs typeface="Calibri" pitchFamily="34" charset="-120"/>
              </a:rPr>
              <a:t>market with frequent, genuine price volatility worth investigating in depth</a:t>
            </a:r>
            <a:r>
              <a:rPr lang="en-US" sz="970" dirty="0">
                <a:solidFill>
                  <a:srgbClr val="3A3A4A"/>
                </a:solidFill>
                <a:latin typeface="Calibri" pitchFamily="34" charset="0"/>
                <a:ea typeface="Calibri" pitchFamily="34" charset="-122"/>
                <a:cs typeface="Calibri" pitchFamily="34" charset="-120"/>
              </a:rPr>
              <a:t>.</a:t>
            </a:r>
          </a:p>
          <a:p>
            <a:pPr algn="just">
              <a:lnSpc>
                <a:spcPct val="108000"/>
              </a:lnSpc>
            </a:pPr>
            <a:endParaRPr lang="en-US" sz="970" dirty="0">
              <a:solidFill>
                <a:srgbClr val="3A3A4A"/>
              </a:solidFill>
              <a:latin typeface="Calibri" pitchFamily="34" charset="0"/>
              <a:ea typeface="Calibri" pitchFamily="34" charset="-122"/>
              <a:cs typeface="Calibri" pitchFamily="34" charset="-120"/>
            </a:endParaRPr>
          </a:p>
          <a:p>
            <a:pPr algn="just">
              <a:lnSpc>
                <a:spcPct val="108000"/>
              </a:lnSpc>
            </a:pPr>
            <a:r>
              <a:rPr lang="en-US" sz="970" b="1" dirty="0">
                <a:solidFill>
                  <a:srgbClr val="3A3A4A"/>
                </a:solidFill>
                <a:latin typeface="Calibri" pitchFamily="34" charset="0"/>
                <a:ea typeface="Calibri" pitchFamily="34" charset="-122"/>
                <a:cs typeface="Calibri" pitchFamily="34" charset="-120"/>
              </a:rPr>
              <a:t>Eggs</a:t>
            </a:r>
            <a:r>
              <a:rPr lang="en-US" sz="970" dirty="0">
                <a:solidFill>
                  <a:srgbClr val="3A3A4A"/>
                </a:solidFill>
                <a:latin typeface="Calibri" pitchFamily="34" charset="0"/>
                <a:ea typeface="Calibri" pitchFamily="34" charset="-122"/>
                <a:cs typeface="Calibri" pitchFamily="34" charset="-120"/>
              </a:rPr>
              <a:t> are the only commodity </a:t>
            </a:r>
            <a:r>
              <a:rPr lang="en-US" sz="970" b="1" dirty="0">
                <a:solidFill>
                  <a:srgbClr val="3A3A4A"/>
                </a:solidFill>
                <a:latin typeface="Calibri" pitchFamily="34" charset="0"/>
                <a:ea typeface="Calibri" pitchFamily="34" charset="-122"/>
                <a:cs typeface="Calibri" pitchFamily="34" charset="-120"/>
              </a:rPr>
              <a:t>passing all three selection criteria simultaneously</a:t>
            </a:r>
            <a:r>
              <a:rPr lang="en-US" sz="970" dirty="0">
                <a:solidFill>
                  <a:srgbClr val="3A3A4A"/>
                </a:solidFill>
                <a:latin typeface="Calibri" pitchFamily="34" charset="0"/>
                <a:ea typeface="Calibri" pitchFamily="34" charset="-122"/>
                <a:cs typeface="Calibri" pitchFamily="34" charset="-120"/>
              </a:rPr>
              <a:t>: no government price intervention, low volatility, and broad consumption across income levels. This combination makes eggs the most methodologically sound choice for further analysis.</a:t>
            </a:r>
          </a:p>
          <a:p>
            <a:pPr algn="just">
              <a:lnSpc>
                <a:spcPct val="108000"/>
              </a:lnSpc>
            </a:pPr>
            <a:endParaRPr lang="en-US" sz="970" dirty="0">
              <a:solidFill>
                <a:srgbClr val="3A3A4A"/>
              </a:solidFill>
              <a:latin typeface="Calibri" pitchFamily="34" charset="0"/>
              <a:ea typeface="Calibri" pitchFamily="34" charset="-122"/>
              <a:cs typeface="Calibri" pitchFamily="34" charset="-120"/>
            </a:endParaRPr>
          </a:p>
          <a:p>
            <a:pPr algn="just">
              <a:lnSpc>
                <a:spcPct val="108000"/>
              </a:lnSpc>
            </a:pPr>
            <a:r>
              <a:rPr lang="en-US" sz="970" dirty="0">
                <a:solidFill>
                  <a:srgbClr val="3A3A4A"/>
                </a:solidFill>
                <a:latin typeface="Calibri" pitchFamily="34" charset="0"/>
                <a:ea typeface="Calibri" pitchFamily="34" charset="-122"/>
                <a:cs typeface="Calibri" pitchFamily="34" charset="-120"/>
              </a:rPr>
              <a:t>Chicken meets similar criteria and was a close second candidate. Eggs were ultimately selected for their marginally lower volatility and broader relevance, relatively affordable and widely consumed protein but chicken would be a reasonable extension for future analysis.</a:t>
            </a:r>
          </a:p>
          <a:p>
            <a:pPr algn="just">
              <a:lnSpc>
                <a:spcPct val="108000"/>
              </a:lnSpc>
            </a:pPr>
            <a:endParaRPr lang="en-US" sz="970" dirty="0">
              <a:solidFill>
                <a:srgbClr val="3A3A4A"/>
              </a:solidFill>
              <a:latin typeface="Calibri" pitchFamily="34" charset="0"/>
              <a:ea typeface="Calibri" pitchFamily="34" charset="-122"/>
              <a:cs typeface="Calibri" pitchFamily="34" charset="-120"/>
            </a:endParaRPr>
          </a:p>
          <a:p>
            <a:pPr algn="just">
              <a:lnSpc>
                <a:spcPct val="108000"/>
              </a:lnSpc>
            </a:pPr>
            <a:r>
              <a:rPr lang="en-US" sz="970" dirty="0">
                <a:solidFill>
                  <a:srgbClr val="3A3A4A"/>
                </a:solidFill>
                <a:latin typeface="Calibri" pitchFamily="34" charset="0"/>
                <a:ea typeface="Calibri" pitchFamily="34" charset="-122"/>
                <a:cs typeface="Calibri" pitchFamily="34" charset="-120"/>
              </a:rPr>
              <a:t>With both country and commodity formally selected, </a:t>
            </a:r>
            <a:r>
              <a:rPr lang="en-US" sz="970" b="1" dirty="0">
                <a:solidFill>
                  <a:srgbClr val="3A3A4A"/>
                </a:solidFill>
                <a:latin typeface="Calibri" pitchFamily="34" charset="0"/>
                <a:ea typeface="Calibri" pitchFamily="34" charset="-122"/>
                <a:cs typeface="Calibri" pitchFamily="34" charset="-120"/>
              </a:rPr>
              <a:t>the remainder of this analysis focuses exclusively on Indonesia's egg market.</a:t>
            </a:r>
          </a:p>
          <a:p>
            <a:pPr algn="just">
              <a:lnSpc>
                <a:spcPct val="108000"/>
              </a:lnSpc>
            </a:pPr>
            <a:endParaRPr lang="en-US" sz="970" dirty="0">
              <a:solidFill>
                <a:srgbClr val="3A3A4A"/>
              </a:solidFill>
              <a:latin typeface="Calibri" pitchFamily="34" charset="0"/>
              <a:ea typeface="Calibri" pitchFamily="34" charset="-122"/>
              <a:cs typeface="Calibri" pitchFamily="34" charset="-120"/>
            </a:endParaRPr>
          </a:p>
        </p:txBody>
      </p:sp>
      <p:sp>
        <p:nvSpPr>
          <p:cNvPr id="5" name="Multiply 4">
            <a:extLst>
              <a:ext uri="{FF2B5EF4-FFF2-40B4-BE49-F238E27FC236}">
                <a16:creationId xmlns:a16="http://schemas.microsoft.com/office/drawing/2014/main" id="{5EEB155E-953B-C964-E353-7D025A194717}"/>
              </a:ext>
            </a:extLst>
          </p:cNvPr>
          <p:cNvSpPr/>
          <p:nvPr/>
        </p:nvSpPr>
        <p:spPr>
          <a:xfrm>
            <a:off x="2889820" y="1380533"/>
            <a:ext cx="249382" cy="173812"/>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Multiply 13">
            <a:extLst>
              <a:ext uri="{FF2B5EF4-FFF2-40B4-BE49-F238E27FC236}">
                <a16:creationId xmlns:a16="http://schemas.microsoft.com/office/drawing/2014/main" id="{A8A10052-D905-B7C4-3B07-C264BAE06813}"/>
              </a:ext>
            </a:extLst>
          </p:cNvPr>
          <p:cNvSpPr/>
          <p:nvPr/>
        </p:nvSpPr>
        <p:spPr>
          <a:xfrm>
            <a:off x="3405746" y="1380533"/>
            <a:ext cx="249382" cy="173812"/>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Multiply 14">
            <a:extLst>
              <a:ext uri="{FF2B5EF4-FFF2-40B4-BE49-F238E27FC236}">
                <a16:creationId xmlns:a16="http://schemas.microsoft.com/office/drawing/2014/main" id="{D1657CBF-22B2-FEC6-7210-C37E0D1F8A8E}"/>
              </a:ext>
            </a:extLst>
          </p:cNvPr>
          <p:cNvSpPr/>
          <p:nvPr/>
        </p:nvSpPr>
        <p:spPr>
          <a:xfrm>
            <a:off x="3922636" y="1380533"/>
            <a:ext cx="249382" cy="173812"/>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Multiply 15">
            <a:extLst>
              <a:ext uri="{FF2B5EF4-FFF2-40B4-BE49-F238E27FC236}">
                <a16:creationId xmlns:a16="http://schemas.microsoft.com/office/drawing/2014/main" id="{0E1E6507-4879-C524-58E2-6E29101BC73F}"/>
              </a:ext>
            </a:extLst>
          </p:cNvPr>
          <p:cNvSpPr/>
          <p:nvPr/>
        </p:nvSpPr>
        <p:spPr>
          <a:xfrm>
            <a:off x="5630367" y="1658122"/>
            <a:ext cx="249382" cy="173812"/>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225131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a:extLst>
            <a:ext uri="{FF2B5EF4-FFF2-40B4-BE49-F238E27FC236}">
              <a16:creationId xmlns:a16="http://schemas.microsoft.com/office/drawing/2014/main" id="{AE58A3A7-1728-1D54-9304-0EF3E95D948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9E7A9D7-158C-4DF0-A50A-7C1D8246275E}"/>
              </a:ext>
            </a:extLst>
          </p:cNvPr>
          <p:cNvSpPr/>
          <p:nvPr/>
        </p:nvSpPr>
        <p:spPr>
          <a:xfrm>
            <a:off x="457200" y="1846580"/>
            <a:ext cx="8229600" cy="822960"/>
          </a:xfrm>
          <a:prstGeom prst="rect">
            <a:avLst/>
          </a:prstGeom>
          <a:noFill/>
          <a:ln/>
        </p:spPr>
        <p:txBody>
          <a:bodyPr wrap="square" lIns="0" tIns="0" rIns="0" bIns="0" rtlCol="0" anchor="ctr"/>
          <a:lstStyle/>
          <a:p>
            <a:pPr marL="0" indent="0" algn="ctr">
              <a:buNone/>
            </a:pPr>
            <a:r>
              <a:rPr lang="en-US" sz="4200" b="1" dirty="0">
                <a:solidFill>
                  <a:srgbClr val="FFFFFF"/>
                </a:solidFill>
                <a:latin typeface="Cambria" pitchFamily="34" charset="0"/>
                <a:ea typeface="Cambria" pitchFamily="34" charset="-122"/>
                <a:cs typeface="Cambria" pitchFamily="34" charset="-120"/>
              </a:rPr>
              <a:t>Analysis Phase</a:t>
            </a:r>
            <a:endParaRPr lang="en-US" sz="4200" dirty="0"/>
          </a:p>
        </p:txBody>
      </p:sp>
      <p:pic>
        <p:nvPicPr>
          <p:cNvPr id="12" name="Copied Picture 12">
            <a:extLst>
              <a:ext uri="{FF2B5EF4-FFF2-40B4-BE49-F238E27FC236}">
                <a16:creationId xmlns:a16="http://schemas.microsoft.com/office/drawing/2014/main" id="{B111C074-C8AE-F443-6044-4E0B589A3FBF}"/>
              </a:ext>
            </a:extLst>
          </p:cNvPr>
          <p:cNvPicPr>
            <a:picLocks noChangeAspect="1"/>
          </p:cNvPicPr>
          <p:nvPr/>
        </p:nvPicPr>
        <p:blipFill>
          <a:blip r:embed="rId3"/>
          <a:stretch/>
        </p:blipFill>
        <p:spPr>
          <a:xfrm>
            <a:off x="7901259" y="101600"/>
            <a:ext cx="1141141" cy="753153"/>
          </a:xfrm>
          <a:prstGeom prst="rect">
            <a:avLst/>
          </a:prstGeom>
        </p:spPr>
      </p:pic>
      <p:sp>
        <p:nvSpPr>
          <p:cNvPr id="6" name="Shape 4">
            <a:extLst>
              <a:ext uri="{FF2B5EF4-FFF2-40B4-BE49-F238E27FC236}">
                <a16:creationId xmlns:a16="http://schemas.microsoft.com/office/drawing/2014/main" id="{DD05D3A1-40E3-D1ED-0FE4-A52D55E19875}"/>
              </a:ext>
            </a:extLst>
          </p:cNvPr>
          <p:cNvSpPr/>
          <p:nvPr/>
        </p:nvSpPr>
        <p:spPr>
          <a:xfrm>
            <a:off x="3372147" y="2799443"/>
            <a:ext cx="2399705" cy="502920"/>
          </a:xfrm>
          <a:prstGeom prst="roundRect">
            <a:avLst>
              <a:gd name="adj" fmla="val 21818"/>
            </a:avLst>
          </a:prstGeom>
          <a:solidFill>
            <a:srgbClr val="473A77"/>
          </a:solidFill>
          <a:ln/>
        </p:spPr>
        <p:txBody>
          <a:bodyPr/>
          <a:lstStyle/>
          <a:p>
            <a:endParaRPr lang="en-US" dirty="0"/>
          </a:p>
        </p:txBody>
      </p:sp>
      <p:sp>
        <p:nvSpPr>
          <p:cNvPr id="7" name="Text 5">
            <a:extLst>
              <a:ext uri="{FF2B5EF4-FFF2-40B4-BE49-F238E27FC236}">
                <a16:creationId xmlns:a16="http://schemas.microsoft.com/office/drawing/2014/main" id="{6BABEC88-7F03-9BE4-DAD2-8D7FBE7D3F5A}"/>
              </a:ext>
            </a:extLst>
          </p:cNvPr>
          <p:cNvSpPr/>
          <p:nvPr/>
        </p:nvSpPr>
        <p:spPr>
          <a:xfrm>
            <a:off x="3401780" y="2799443"/>
            <a:ext cx="2340438"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Indonesia’s Egg Commodity</a:t>
            </a:r>
            <a:endParaRPr lang="en-US" sz="1300" dirty="0"/>
          </a:p>
        </p:txBody>
      </p:sp>
    </p:spTree>
    <p:extLst>
      <p:ext uri="{BB962C8B-B14F-4D97-AF65-F5344CB8AC3E}">
        <p14:creationId xmlns:p14="http://schemas.microsoft.com/office/powerpoint/2010/main" val="10804353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0">
    <p:bg>
      <p:bgPr>
        <a:solidFill>
          <a:srgbClr val="2D1B69"/>
        </a:solidFill>
        <a:effectLst/>
      </p:bgPr>
    </p:bg>
    <p:spTree>
      <p:nvGrpSpPr>
        <p:cNvPr id="1" name=""/>
        <p:cNvGrpSpPr/>
        <p:nvPr/>
      </p:nvGrpSpPr>
      <p:grpSpPr>
        <a:xfrm>
          <a:off x="0" y="0"/>
          <a:ext cx="0" cy="0"/>
          <a:chOff x="0" y="0"/>
          <a:chExt cx="0" cy="0"/>
        </a:xfrm>
      </p:grpSpPr>
      <p:sp>
        <p:nvSpPr>
          <p:cNvPr id="2" name="Text 0"/>
          <p:cNvSpPr/>
          <p:nvPr/>
        </p:nvSpPr>
        <p:spPr>
          <a:xfrm>
            <a:off x="502920" y="274320"/>
            <a:ext cx="8412480" cy="73152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Objectives</a:t>
            </a:r>
            <a:endParaRPr lang="en-US" sz="3200" dirty="0"/>
          </a:p>
        </p:txBody>
      </p:sp>
      <p:sp>
        <p:nvSpPr>
          <p:cNvPr id="3" name="Shape 1"/>
          <p:cNvSpPr/>
          <p:nvPr/>
        </p:nvSpPr>
        <p:spPr>
          <a:xfrm>
            <a:off x="502920" y="1343173"/>
            <a:ext cx="4023360" cy="1078992"/>
          </a:xfrm>
          <a:prstGeom prst="roundRect">
            <a:avLst>
              <a:gd name="adj" fmla="val 8475"/>
            </a:avLst>
          </a:prstGeom>
          <a:solidFill>
            <a:srgbClr val="3B2C6E"/>
          </a:solidFill>
          <a:ln/>
          <a:effectLst>
            <a:outerShdw blurRad="88900" dist="38100" dir="5400000" algn="bl" rotWithShape="0">
              <a:srgbClr val="1A0F40">
                <a:alpha val="35000"/>
              </a:srgbClr>
            </a:outerShdw>
          </a:effectLst>
        </p:spPr>
        <p:txBody>
          <a:bodyPr/>
          <a:lstStyle/>
          <a:p>
            <a:endParaRPr lang="en-US"/>
          </a:p>
        </p:txBody>
      </p:sp>
      <p:sp>
        <p:nvSpPr>
          <p:cNvPr id="4" name="Shape 2"/>
          <p:cNvSpPr/>
          <p:nvPr/>
        </p:nvSpPr>
        <p:spPr>
          <a:xfrm>
            <a:off x="704088" y="1544341"/>
            <a:ext cx="566928" cy="566928"/>
          </a:xfrm>
          <a:prstGeom prst="ellipse">
            <a:avLst/>
          </a:prstGeom>
          <a:solidFill>
            <a:srgbClr val="473A77"/>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841248" y="1681501"/>
            <a:ext cx="292608" cy="292608"/>
          </a:xfrm>
          <a:prstGeom prst="rect">
            <a:avLst/>
          </a:prstGeom>
        </p:spPr>
      </p:pic>
      <p:sp>
        <p:nvSpPr>
          <p:cNvPr id="6" name="Text 3"/>
          <p:cNvSpPr/>
          <p:nvPr/>
        </p:nvSpPr>
        <p:spPr>
          <a:xfrm>
            <a:off x="1417320" y="1507765"/>
            <a:ext cx="2971800" cy="457200"/>
          </a:xfrm>
          <a:prstGeom prst="rect">
            <a:avLst/>
          </a:prstGeom>
          <a:noFill/>
          <a:ln/>
        </p:spPr>
        <p:txBody>
          <a:bodyPr wrap="square" lIns="0" tIns="0" rIns="0" bIns="0" rtlCol="0" anchor="ctr"/>
          <a:lstStyle/>
          <a:p>
            <a:r>
              <a:rPr lang="en-US" sz="1300" b="1">
                <a:solidFill>
                  <a:srgbClr val="FFFFFF"/>
                </a:solidFill>
                <a:latin typeface="Calibri" pitchFamily="34" charset="0"/>
                <a:ea typeface="Calibri" pitchFamily="34" charset="-122"/>
                <a:cs typeface="Calibri" pitchFamily="34" charset="-120"/>
              </a:rPr>
              <a:t>Understand Price Behavior</a:t>
            </a:r>
            <a:endParaRPr lang="en-US" sz="1300" dirty="0"/>
          </a:p>
        </p:txBody>
      </p:sp>
      <p:sp>
        <p:nvSpPr>
          <p:cNvPr id="7" name="Text 4"/>
          <p:cNvSpPr/>
          <p:nvPr/>
        </p:nvSpPr>
        <p:spPr>
          <a:xfrm>
            <a:off x="1408176" y="1827805"/>
            <a:ext cx="2926080" cy="457200"/>
          </a:xfrm>
          <a:prstGeom prst="rect">
            <a:avLst/>
          </a:prstGeom>
          <a:noFill/>
          <a:ln/>
        </p:spPr>
        <p:txBody>
          <a:bodyPr wrap="square" lIns="0" tIns="0" rIns="0" bIns="0" rtlCol="0" anchor="t"/>
          <a:lstStyle/>
          <a:p>
            <a:pPr marL="0" indent="0" algn="just">
              <a:buNone/>
            </a:pPr>
            <a:r>
              <a:rPr lang="en-US" sz="1000" dirty="0">
                <a:solidFill>
                  <a:srgbClr val="C9BCE8"/>
                </a:solidFill>
                <a:latin typeface="Calibri" pitchFamily="34" charset="0"/>
                <a:ea typeface="Calibri" pitchFamily="34" charset="-122"/>
                <a:cs typeface="Calibri" pitchFamily="34" charset="-120"/>
              </a:rPr>
              <a:t>Identify any price patterns in Indonesia's egg market from the WFP dataset.</a:t>
            </a:r>
          </a:p>
        </p:txBody>
      </p:sp>
      <p:sp>
        <p:nvSpPr>
          <p:cNvPr id="8" name="Shape 5"/>
          <p:cNvSpPr/>
          <p:nvPr/>
        </p:nvSpPr>
        <p:spPr>
          <a:xfrm>
            <a:off x="4709160" y="1343173"/>
            <a:ext cx="4023360" cy="1078992"/>
          </a:xfrm>
          <a:prstGeom prst="roundRect">
            <a:avLst>
              <a:gd name="adj" fmla="val 8475"/>
            </a:avLst>
          </a:prstGeom>
          <a:solidFill>
            <a:srgbClr val="3B2C6E"/>
          </a:solidFill>
          <a:ln/>
          <a:effectLst>
            <a:outerShdw blurRad="88900" dist="38100" dir="5400000" algn="bl" rotWithShape="0">
              <a:srgbClr val="1A0F40">
                <a:alpha val="35000"/>
              </a:srgbClr>
            </a:outerShdw>
          </a:effectLst>
        </p:spPr>
        <p:txBody>
          <a:bodyPr/>
          <a:lstStyle/>
          <a:p>
            <a:endParaRPr lang="en-US"/>
          </a:p>
        </p:txBody>
      </p:sp>
      <p:sp>
        <p:nvSpPr>
          <p:cNvPr id="9" name="Shape 6"/>
          <p:cNvSpPr/>
          <p:nvPr/>
        </p:nvSpPr>
        <p:spPr>
          <a:xfrm>
            <a:off x="4910328" y="1544341"/>
            <a:ext cx="566928" cy="566928"/>
          </a:xfrm>
          <a:prstGeom prst="ellipse">
            <a:avLst/>
          </a:prstGeom>
          <a:solidFill>
            <a:srgbClr val="473A77"/>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5047488" y="1681501"/>
            <a:ext cx="292608" cy="292608"/>
          </a:xfrm>
          <a:prstGeom prst="rect">
            <a:avLst/>
          </a:prstGeom>
        </p:spPr>
      </p:pic>
      <p:sp>
        <p:nvSpPr>
          <p:cNvPr id="12" name="Text 8"/>
          <p:cNvSpPr/>
          <p:nvPr/>
        </p:nvSpPr>
        <p:spPr>
          <a:xfrm>
            <a:off x="5577840" y="1745509"/>
            <a:ext cx="3063240" cy="457200"/>
          </a:xfrm>
          <a:prstGeom prst="rect">
            <a:avLst/>
          </a:prstGeom>
          <a:noFill/>
          <a:ln/>
        </p:spPr>
        <p:txBody>
          <a:bodyPr wrap="square" lIns="0" tIns="0" rIns="0" bIns="0" rtlCol="0" anchor="t"/>
          <a:lstStyle/>
          <a:p>
            <a:pPr marL="0" indent="0" algn="just">
              <a:buNone/>
            </a:pPr>
            <a:r>
              <a:rPr lang="en-US" sz="1000" dirty="0">
                <a:solidFill>
                  <a:srgbClr val="C9BCE8"/>
                </a:solidFill>
                <a:latin typeface="Calibri" pitchFamily="34" charset="0"/>
                <a:ea typeface="Calibri" pitchFamily="34" charset="-122"/>
                <a:cs typeface="Calibri" pitchFamily="34" charset="-120"/>
              </a:rPr>
              <a:t>Build and compare forecasting models to find the most reliable one for egg prices.</a:t>
            </a:r>
          </a:p>
        </p:txBody>
      </p:sp>
      <p:sp>
        <p:nvSpPr>
          <p:cNvPr id="18" name="Shape 13"/>
          <p:cNvSpPr/>
          <p:nvPr/>
        </p:nvSpPr>
        <p:spPr>
          <a:xfrm>
            <a:off x="2514600" y="2807210"/>
            <a:ext cx="4023360" cy="1005840"/>
          </a:xfrm>
          <a:prstGeom prst="roundRect">
            <a:avLst>
              <a:gd name="adj" fmla="val 8475"/>
            </a:avLst>
          </a:prstGeom>
          <a:solidFill>
            <a:srgbClr val="3B2C6E"/>
          </a:solidFill>
          <a:ln/>
          <a:effectLst>
            <a:outerShdw blurRad="88900" dist="38100" dir="5400000" algn="bl" rotWithShape="0">
              <a:srgbClr val="1A0F40">
                <a:alpha val="35000"/>
              </a:srgbClr>
            </a:outerShdw>
          </a:effectLst>
        </p:spPr>
        <p:txBody>
          <a:bodyPr/>
          <a:lstStyle/>
          <a:p>
            <a:endParaRPr lang="en-US"/>
          </a:p>
        </p:txBody>
      </p:sp>
      <p:sp>
        <p:nvSpPr>
          <p:cNvPr id="19" name="Shape 14"/>
          <p:cNvSpPr/>
          <p:nvPr/>
        </p:nvSpPr>
        <p:spPr>
          <a:xfrm>
            <a:off x="2715768" y="3008378"/>
            <a:ext cx="566928" cy="566928"/>
          </a:xfrm>
          <a:prstGeom prst="ellipse">
            <a:avLst/>
          </a:prstGeom>
          <a:solidFill>
            <a:srgbClr val="473A77"/>
          </a:solidFill>
          <a:ln/>
        </p:spPr>
        <p:txBody>
          <a:bodyPr/>
          <a:lstStyle/>
          <a:p>
            <a:endParaRPr lang="en-US"/>
          </a:p>
        </p:txBody>
      </p:sp>
      <p:pic>
        <p:nvPicPr>
          <p:cNvPr id="20" name="Image 3" descr="preencoded.png"/>
          <p:cNvPicPr>
            <a:picLocks noChangeAspect="1"/>
          </p:cNvPicPr>
          <p:nvPr/>
        </p:nvPicPr>
        <p:blipFill>
          <a:blip r:embed="rId5"/>
          <a:stretch>
            <a:fillRect/>
          </a:stretch>
        </p:blipFill>
        <p:spPr>
          <a:xfrm>
            <a:off x="2852928" y="3145538"/>
            <a:ext cx="292608" cy="292608"/>
          </a:xfrm>
          <a:prstGeom prst="rect">
            <a:avLst/>
          </a:prstGeom>
        </p:spPr>
      </p:pic>
      <p:sp>
        <p:nvSpPr>
          <p:cNvPr id="21" name="Text 15"/>
          <p:cNvSpPr/>
          <p:nvPr/>
        </p:nvSpPr>
        <p:spPr>
          <a:xfrm>
            <a:off x="3429000" y="2971802"/>
            <a:ext cx="2971800" cy="4572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Deliver Data-Driven Recommendations</a:t>
            </a:r>
            <a:endParaRPr lang="en-US" sz="1300" dirty="0"/>
          </a:p>
        </p:txBody>
      </p:sp>
      <p:sp>
        <p:nvSpPr>
          <p:cNvPr id="22" name="Text 16"/>
          <p:cNvSpPr/>
          <p:nvPr/>
        </p:nvSpPr>
        <p:spPr>
          <a:xfrm>
            <a:off x="3429000" y="3332991"/>
            <a:ext cx="2926080" cy="457200"/>
          </a:xfrm>
          <a:prstGeom prst="rect">
            <a:avLst/>
          </a:prstGeom>
          <a:noFill/>
          <a:ln/>
        </p:spPr>
        <p:txBody>
          <a:bodyPr wrap="square" lIns="0" tIns="0" rIns="0" bIns="0" rtlCol="0" anchor="t"/>
          <a:lstStyle/>
          <a:p>
            <a:pPr marL="0" indent="0" algn="just">
              <a:buNone/>
            </a:pPr>
            <a:r>
              <a:rPr lang="en-US" sz="1000" dirty="0">
                <a:solidFill>
                  <a:srgbClr val="C9BCE8"/>
                </a:solidFill>
                <a:latin typeface="Calibri" pitchFamily="34" charset="0"/>
                <a:ea typeface="Calibri" pitchFamily="34" charset="-122"/>
                <a:cs typeface="Calibri" pitchFamily="34" charset="-120"/>
              </a:rPr>
              <a:t>Translate price patterns and regime shifts into recommendations for commercial and policy use.</a:t>
            </a:r>
          </a:p>
        </p:txBody>
      </p:sp>
      <p:sp>
        <p:nvSpPr>
          <p:cNvPr id="13" name="Text 3">
            <a:extLst>
              <a:ext uri="{FF2B5EF4-FFF2-40B4-BE49-F238E27FC236}">
                <a16:creationId xmlns:a16="http://schemas.microsoft.com/office/drawing/2014/main" id="{4DCF72B4-266F-181C-C209-54F3593A76C3}"/>
              </a:ext>
            </a:extLst>
          </p:cNvPr>
          <p:cNvSpPr/>
          <p:nvPr/>
        </p:nvSpPr>
        <p:spPr>
          <a:xfrm>
            <a:off x="5577840" y="1343173"/>
            <a:ext cx="2971800" cy="457200"/>
          </a:xfrm>
          <a:prstGeom prst="rect">
            <a:avLst/>
          </a:prstGeom>
          <a:noFill/>
          <a:ln/>
        </p:spPr>
        <p:txBody>
          <a:bodyPr wrap="square" lIns="0" tIns="0" rIns="0" bIns="0" rtlCol="0" anchor="ctr"/>
          <a:lstStyle/>
          <a:p>
            <a:r>
              <a:rPr lang="en-US" sz="1200" b="1" dirty="0">
                <a:solidFill>
                  <a:schemeClr val="bg1"/>
                </a:solidFill>
              </a:rPr>
              <a:t>Forecasting</a:t>
            </a:r>
            <a:endParaRPr lang="en-US" sz="1200" dirty="0">
              <a:solidFill>
                <a:schemeClr val="bg1"/>
              </a:solidFill>
            </a:endParaRPr>
          </a:p>
        </p:txBody>
      </p:sp>
      <p:pic>
        <p:nvPicPr>
          <p:cNvPr id="27" name="Copied Picture 27">
            <a:extLst>
              <a:ext uri="{FF2B5EF4-FFF2-40B4-BE49-F238E27FC236}">
                <a16:creationId xmlns:a16="http://schemas.microsoft.com/office/drawing/2014/main" id="{098C5A1E-651C-798D-5D81-541A1CCCDFF3}"/>
              </a:ext>
            </a:extLst>
          </p:cNvPr>
          <p:cNvPicPr>
            <a:picLocks noChangeAspect="1"/>
          </p:cNvPicPr>
          <p:nvPr/>
        </p:nvPicPr>
        <p:blipFill>
          <a:blip r:embed="rId6"/>
          <a:stretch/>
        </p:blipFill>
        <p:spPr>
          <a:xfrm>
            <a:off x="7901259" y="101600"/>
            <a:ext cx="1141141" cy="753153"/>
          </a:xfrm>
          <a:prstGeom prst="rect">
            <a:avLst/>
          </a:prstGeom>
        </p:spPr>
      </p:pic>
    </p:spTree>
    <p:extLst>
      <p:ext uri="{BB962C8B-B14F-4D97-AF65-F5344CB8AC3E}">
        <p14:creationId xmlns:p14="http://schemas.microsoft.com/office/powerpoint/2010/main" val="256606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a:extLst>
            <a:ext uri="{FF2B5EF4-FFF2-40B4-BE49-F238E27FC236}">
              <a16:creationId xmlns:a16="http://schemas.microsoft.com/office/drawing/2014/main" id="{9087A5FA-C725-CD7D-6DD3-3FB3248665A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D8B51F1-7879-BF02-5B85-647CA3E12FB3}"/>
              </a:ext>
            </a:extLst>
          </p:cNvPr>
          <p:cNvSpPr/>
          <p:nvPr/>
        </p:nvSpPr>
        <p:spPr>
          <a:xfrm>
            <a:off x="502920" y="256032"/>
            <a:ext cx="82296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Key Feature Engineering</a:t>
            </a:r>
            <a:endParaRPr lang="en-US" sz="3000" dirty="0"/>
          </a:p>
        </p:txBody>
      </p:sp>
      <p:graphicFrame>
        <p:nvGraphicFramePr>
          <p:cNvPr id="45" name="Table 44">
            <a:extLst>
              <a:ext uri="{FF2B5EF4-FFF2-40B4-BE49-F238E27FC236}">
                <a16:creationId xmlns:a16="http://schemas.microsoft.com/office/drawing/2014/main" id="{125D7068-47C8-62CB-3194-0D44F13CE9A5}"/>
              </a:ext>
            </a:extLst>
          </p:cNvPr>
          <p:cNvGraphicFramePr>
            <a:graphicFrameLocks noGrp="1"/>
          </p:cNvGraphicFramePr>
          <p:nvPr>
            <p:extLst>
              <p:ext uri="{D42A27DB-BD31-4B8C-83A1-F6EECF244321}">
                <p14:modId xmlns:p14="http://schemas.microsoft.com/office/powerpoint/2010/main" val="2872554043"/>
              </p:ext>
            </p:extLst>
          </p:nvPr>
        </p:nvGraphicFramePr>
        <p:xfrm>
          <a:off x="305427" y="1602709"/>
          <a:ext cx="8533146" cy="1938081"/>
        </p:xfrm>
        <a:graphic>
          <a:graphicData uri="http://schemas.openxmlformats.org/drawingml/2006/table">
            <a:tbl>
              <a:tblPr firstRow="1" bandRow="1">
                <a:tableStyleId>{5C22544A-7EE6-4342-B048-85BDC9FD1C3A}</a:tableStyleId>
              </a:tblPr>
              <a:tblGrid>
                <a:gridCol w="2844382">
                  <a:extLst>
                    <a:ext uri="{9D8B030D-6E8A-4147-A177-3AD203B41FA5}">
                      <a16:colId xmlns:a16="http://schemas.microsoft.com/office/drawing/2014/main" val="433491110"/>
                    </a:ext>
                  </a:extLst>
                </a:gridCol>
                <a:gridCol w="2844382">
                  <a:extLst>
                    <a:ext uri="{9D8B030D-6E8A-4147-A177-3AD203B41FA5}">
                      <a16:colId xmlns:a16="http://schemas.microsoft.com/office/drawing/2014/main" val="2750863187"/>
                    </a:ext>
                  </a:extLst>
                </a:gridCol>
                <a:gridCol w="2844382">
                  <a:extLst>
                    <a:ext uri="{9D8B030D-6E8A-4147-A177-3AD203B41FA5}">
                      <a16:colId xmlns:a16="http://schemas.microsoft.com/office/drawing/2014/main" val="1659422454"/>
                    </a:ext>
                  </a:extLst>
                </a:gridCol>
              </a:tblGrid>
              <a:tr h="387323">
                <a:tc>
                  <a:txBody>
                    <a:bodyPr/>
                    <a:lstStyle/>
                    <a:p>
                      <a:pPr algn="ctr"/>
                      <a:r>
                        <a:rPr lang="en-US" sz="1200" dirty="0">
                          <a:solidFill>
                            <a:schemeClr val="bg1"/>
                          </a:solidFill>
                        </a:rPr>
                        <a:t>Feature Name</a:t>
                      </a:r>
                    </a:p>
                  </a:txBody>
                  <a:tcPr>
                    <a:solidFill>
                      <a:srgbClr val="9986DE"/>
                    </a:solidFill>
                  </a:tcPr>
                </a:tc>
                <a:tc>
                  <a:txBody>
                    <a:bodyPr/>
                    <a:lstStyle/>
                    <a:p>
                      <a:pPr algn="ctr"/>
                      <a:r>
                        <a:rPr lang="en-US" sz="1200" dirty="0">
                          <a:solidFill>
                            <a:schemeClr val="bg1"/>
                          </a:solidFill>
                        </a:rPr>
                        <a:t>Formula</a:t>
                      </a:r>
                    </a:p>
                  </a:txBody>
                  <a:tcPr>
                    <a:solidFill>
                      <a:srgbClr val="9986DE"/>
                    </a:solidFill>
                  </a:tcPr>
                </a:tc>
                <a:tc>
                  <a:txBody>
                    <a:bodyPr/>
                    <a:lstStyle/>
                    <a:p>
                      <a:pPr algn="ctr"/>
                      <a:r>
                        <a:rPr lang="en-US" sz="1200" dirty="0">
                          <a:solidFill>
                            <a:schemeClr val="bg1"/>
                          </a:solidFill>
                        </a:rPr>
                        <a:t>Notes</a:t>
                      </a:r>
                    </a:p>
                  </a:txBody>
                  <a:tcPr>
                    <a:solidFill>
                      <a:srgbClr val="9986DE"/>
                    </a:solidFill>
                  </a:tcPr>
                </a:tc>
                <a:extLst>
                  <a:ext uri="{0D108BD9-81ED-4DB2-BD59-A6C34878D82A}">
                    <a16:rowId xmlns:a16="http://schemas.microsoft.com/office/drawing/2014/main" val="2161613585"/>
                  </a:ext>
                </a:extLst>
              </a:tr>
              <a:tr h="56213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tx1">
                              <a:lumMod val="50000"/>
                              <a:lumOff val="50000"/>
                            </a:schemeClr>
                          </a:solidFill>
                        </a:rPr>
                        <a:t>year, month</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err="1">
                          <a:solidFill>
                            <a:schemeClr val="tx1">
                              <a:lumMod val="50000"/>
                              <a:lumOff val="50000"/>
                            </a:schemeClr>
                          </a:solidFill>
                        </a:rPr>
                        <a:t>df['date'].dt.year / .month</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50000"/>
                              <a:lumOff val="50000"/>
                            </a:schemeClr>
                          </a:solidFill>
                        </a:rPr>
                        <a:t>Time components for trend and seasonal analysis</a:t>
                      </a:r>
                    </a:p>
                  </a:txBody>
                  <a:tcPr/>
                </a:tc>
                <a:extLst>
                  <a:ext uri="{0D108BD9-81ED-4DB2-BD59-A6C34878D82A}">
                    <a16:rowId xmlns:a16="http://schemas.microsoft.com/office/drawing/2014/main" val="3183978414"/>
                  </a:ext>
                </a:extLst>
              </a:tr>
              <a:tr h="426486">
                <a:tc>
                  <a:txBody>
                    <a:bodyPr/>
                    <a:lstStyle/>
                    <a:p>
                      <a:r>
                        <a:rPr lang="en-US" sz="1200" b="1" dirty="0" err="1">
                          <a:solidFill>
                            <a:schemeClr val="tx1">
                              <a:lumMod val="50000"/>
                              <a:lumOff val="50000"/>
                            </a:schemeClr>
                          </a:solidFill>
                        </a:rPr>
                        <a:t>is_outlier</a:t>
                      </a:r>
                      <a:endParaRPr lang="en-US" sz="1200" b="1" dirty="0">
                        <a:solidFill>
                          <a:schemeClr val="tx1">
                            <a:lumMod val="50000"/>
                            <a:lumOff val="50000"/>
                          </a:schemeClr>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50000"/>
                              <a:lumOff val="50000"/>
                            </a:schemeClr>
                          </a:solidFill>
                        </a:rPr>
                        <a:t>Per-country IQR method on </a:t>
                      </a:r>
                      <a:r>
                        <a:rPr lang="en-US" sz="1200" dirty="0" err="1">
                          <a:solidFill>
                            <a:schemeClr val="tx1">
                              <a:lumMod val="50000"/>
                              <a:lumOff val="50000"/>
                            </a:schemeClr>
                          </a:solidFill>
                        </a:rPr>
                        <a:t>usdprice</a:t>
                      </a:r>
                      <a:endParaRPr lang="en-US" sz="1200" dirty="0">
                        <a:solidFill>
                          <a:schemeClr val="tx1">
                            <a:lumMod val="50000"/>
                            <a:lumOff val="50000"/>
                          </a:schemeClr>
                        </a:solidFill>
                      </a:endParaRPr>
                    </a:p>
                  </a:txBody>
                  <a:tcPr/>
                </a:tc>
                <a:tc>
                  <a:txBody>
                    <a:bodyPr/>
                    <a:lstStyle/>
                    <a:p>
                      <a:r>
                        <a:rPr lang="en-US" sz="1200" dirty="0">
                          <a:solidFill>
                            <a:schemeClr val="tx1">
                              <a:lumMod val="50000"/>
                              <a:lumOff val="50000"/>
                            </a:schemeClr>
                          </a:solidFill>
                        </a:rPr>
                        <a:t>Flags statistical outliers</a:t>
                      </a:r>
                    </a:p>
                  </a:txBody>
                  <a:tcPr/>
                </a:tc>
                <a:extLst>
                  <a:ext uri="{0D108BD9-81ED-4DB2-BD59-A6C34878D82A}">
                    <a16:rowId xmlns:a16="http://schemas.microsoft.com/office/drawing/2014/main" val="1010902385"/>
                  </a:ext>
                </a:extLst>
              </a:tr>
              <a:tr h="562136">
                <a:tc>
                  <a:txBody>
                    <a:bodyPr/>
                    <a:lstStyle/>
                    <a:p>
                      <a:r>
                        <a:rPr lang="en-US" sz="1200" b="1" dirty="0" err="1">
                          <a:solidFill>
                            <a:schemeClr val="tx1">
                              <a:lumMod val="50000"/>
                              <a:lumOff val="50000"/>
                            </a:schemeClr>
                          </a:solidFill>
                        </a:rPr>
                        <a:t>region_tier</a:t>
                      </a:r>
                      <a:endParaRPr lang="en-US" sz="1200" b="1" dirty="0">
                        <a:solidFill>
                          <a:schemeClr val="tx1">
                            <a:lumMod val="50000"/>
                            <a:lumOff val="50000"/>
                          </a:schemeClr>
                        </a:solidFill>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50000"/>
                              <a:lumOff val="50000"/>
                            </a:schemeClr>
                          </a:solidFill>
                        </a:rPr>
                        <a:t>Province mapped to Eastern/Western Indonesia</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50000"/>
                              <a:lumOff val="50000"/>
                            </a:schemeClr>
                          </a:solidFill>
                        </a:rPr>
                        <a:t>Enables regional price comparison</a:t>
                      </a:r>
                    </a:p>
                  </a:txBody>
                  <a:tcPr/>
                </a:tc>
                <a:extLst>
                  <a:ext uri="{0D108BD9-81ED-4DB2-BD59-A6C34878D82A}">
                    <a16:rowId xmlns:a16="http://schemas.microsoft.com/office/drawing/2014/main" val="862754012"/>
                  </a:ext>
                </a:extLst>
              </a:tr>
            </a:tbl>
          </a:graphicData>
        </a:graphic>
      </p:graphicFrame>
      <p:pic>
        <p:nvPicPr>
          <p:cNvPr id="46" name="Copied Picture 46">
            <a:extLst>
              <a:ext uri="{FF2B5EF4-FFF2-40B4-BE49-F238E27FC236}">
                <a16:creationId xmlns:a16="http://schemas.microsoft.com/office/drawing/2014/main" id="{098C5A1E-651C-798D-5D81-541A1CCCDFF3}"/>
              </a:ext>
            </a:extLst>
          </p:cNvPr>
          <p:cNvPicPr>
            <a:picLocks noChangeAspect="1"/>
          </p:cNvPicPr>
          <p:nvPr/>
        </p:nvPicPr>
        <p:blipFill>
          <a:blip r:embed="rId3"/>
          <a:stretch/>
        </p:blipFill>
        <p:spPr>
          <a:xfrm>
            <a:off x="7901259" y="101600"/>
            <a:ext cx="1141141" cy="753153"/>
          </a:xfrm>
          <a:prstGeom prst="rect">
            <a:avLst/>
          </a:prstGeom>
        </p:spPr>
      </p:pic>
    </p:spTree>
    <p:extLst>
      <p:ext uri="{BB962C8B-B14F-4D97-AF65-F5344CB8AC3E}">
        <p14:creationId xmlns:p14="http://schemas.microsoft.com/office/powerpoint/2010/main" val="18726115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a:extLst>
            <a:ext uri="{FF2B5EF4-FFF2-40B4-BE49-F238E27FC236}">
              <a16:creationId xmlns:a16="http://schemas.microsoft.com/office/drawing/2014/main" id="{2209FC24-7D0D-0408-077F-EED50C5B871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4611223-06D8-53F3-8F02-59795CC025F5}"/>
              </a:ext>
            </a:extLst>
          </p:cNvPr>
          <p:cNvSpPr/>
          <p:nvPr/>
        </p:nvSpPr>
        <p:spPr>
          <a:xfrm>
            <a:off x="502920" y="209295"/>
            <a:ext cx="82296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rPr>
              <a:t>Indonesia’s Egg Price Distribution</a:t>
            </a:r>
            <a:endParaRPr lang="en-US" sz="3000" dirty="0"/>
          </a:p>
        </p:txBody>
      </p:sp>
      <p:sp>
        <p:nvSpPr>
          <p:cNvPr id="5" name="Shape 3">
            <a:extLst>
              <a:ext uri="{FF2B5EF4-FFF2-40B4-BE49-F238E27FC236}">
                <a16:creationId xmlns:a16="http://schemas.microsoft.com/office/drawing/2014/main" id="{E43D6DA1-7923-F0D8-0275-5461A9AABD70}"/>
              </a:ext>
            </a:extLst>
          </p:cNvPr>
          <p:cNvSpPr/>
          <p:nvPr/>
        </p:nvSpPr>
        <p:spPr>
          <a:xfrm>
            <a:off x="4846320" y="849376"/>
            <a:ext cx="3794760" cy="4012184"/>
          </a:xfrm>
          <a:prstGeom prst="roundRect">
            <a:avLst>
              <a:gd name="adj" fmla="val 3448"/>
            </a:avLst>
          </a:prstGeom>
          <a:solidFill>
            <a:srgbClr val="FFFFFF"/>
          </a:solidFill>
          <a:ln/>
          <a:effectLst>
            <a:outerShdw blurRad="88900" dist="38100" dir="5400000" algn="bl" rotWithShape="0">
              <a:srgbClr val="1A0F40">
                <a:alpha val="35000"/>
              </a:srgbClr>
            </a:outerShdw>
          </a:effectLst>
        </p:spPr>
        <p:txBody>
          <a:bodyPr/>
          <a:lstStyle/>
          <a:p>
            <a:endParaRPr lang="en-US"/>
          </a:p>
        </p:txBody>
      </p:sp>
      <p:sp>
        <p:nvSpPr>
          <p:cNvPr id="6" name="Text 4">
            <a:extLst>
              <a:ext uri="{FF2B5EF4-FFF2-40B4-BE49-F238E27FC236}">
                <a16:creationId xmlns:a16="http://schemas.microsoft.com/office/drawing/2014/main" id="{D7E08B6E-4EC2-0AE4-52C3-6AF4C0C7B405}"/>
              </a:ext>
            </a:extLst>
          </p:cNvPr>
          <p:cNvSpPr/>
          <p:nvPr/>
        </p:nvSpPr>
        <p:spPr>
          <a:xfrm>
            <a:off x="5074920" y="1050544"/>
            <a:ext cx="3337560" cy="3711956"/>
          </a:xfrm>
          <a:prstGeom prst="rect">
            <a:avLst/>
          </a:prstGeom>
          <a:noFill/>
          <a:ln/>
        </p:spPr>
        <p:txBody>
          <a:bodyPr wrap="square" lIns="0" tIns="0" rIns="0" bIns="0" rtlCol="0" anchor="t"/>
          <a:lstStyle/>
          <a:p>
            <a:pPr marL="0" indent="0" algn="l">
              <a:lnSpc>
                <a:spcPct val="108000"/>
              </a:lnSpc>
              <a:buNone/>
            </a:pPr>
            <a:r>
              <a:rPr lang="en-US" sz="970" b="1" dirty="0">
                <a:solidFill>
                  <a:srgbClr val="2D1B69"/>
                </a:solidFill>
                <a:latin typeface="Calibri" pitchFamily="34" charset="0"/>
                <a:ea typeface="Calibri" pitchFamily="34" charset="-122"/>
                <a:cs typeface="Calibri" pitchFamily="34" charset="-120"/>
              </a:rPr>
              <a:t>Price Distribution</a:t>
            </a:r>
            <a:endParaRPr lang="en-US" sz="970" dirty="0"/>
          </a:p>
          <a:p>
            <a:pPr algn="just">
              <a:lnSpc>
                <a:spcPct val="108000"/>
              </a:lnSpc>
            </a:pPr>
            <a:r>
              <a:rPr lang="en-US" sz="970" dirty="0">
                <a:solidFill>
                  <a:srgbClr val="3A3A4A"/>
                </a:solidFill>
                <a:latin typeface="Calibri" pitchFamily="34" charset="0"/>
                <a:ea typeface="Calibri" pitchFamily="34" charset="-122"/>
                <a:cs typeface="Calibri" pitchFamily="34" charset="-120"/>
              </a:rPr>
              <a:t>Egg prices are </a:t>
            </a:r>
            <a:r>
              <a:rPr lang="en-US" sz="970" b="1" dirty="0">
                <a:solidFill>
                  <a:srgbClr val="3A3A4A"/>
                </a:solidFill>
                <a:latin typeface="Calibri" pitchFamily="34" charset="0"/>
                <a:ea typeface="Calibri" pitchFamily="34" charset="-122"/>
                <a:cs typeface="Calibri" pitchFamily="34" charset="-120"/>
              </a:rPr>
              <a:t>right-skewed</a:t>
            </a:r>
            <a:r>
              <a:rPr lang="en-US" sz="970" dirty="0">
                <a:solidFill>
                  <a:srgbClr val="3A3A4A"/>
                </a:solidFill>
                <a:latin typeface="Calibri" pitchFamily="34" charset="0"/>
                <a:ea typeface="Calibri" pitchFamily="34" charset="-122"/>
                <a:cs typeface="Calibri" pitchFamily="34" charset="-120"/>
              </a:rPr>
              <a:t>, signals </a:t>
            </a:r>
            <a:r>
              <a:rPr lang="en-US" sz="970" b="1" dirty="0">
                <a:solidFill>
                  <a:srgbClr val="3A3A4A"/>
                </a:solidFill>
                <a:latin typeface="Calibri" pitchFamily="34" charset="0"/>
                <a:ea typeface="Calibri" pitchFamily="34" charset="-122"/>
                <a:cs typeface="Calibri" pitchFamily="34" charset="-120"/>
              </a:rPr>
              <a:t>occasional sharp price spikes </a:t>
            </a:r>
            <a:r>
              <a:rPr lang="en-US" sz="970" dirty="0">
                <a:solidFill>
                  <a:srgbClr val="3A3A4A"/>
                </a:solidFill>
                <a:latin typeface="Calibri" pitchFamily="34" charset="0"/>
                <a:ea typeface="Calibri" pitchFamily="34" charset="-122"/>
                <a:cs typeface="Calibri" pitchFamily="34" charset="-120"/>
              </a:rPr>
              <a:t>rather than a normal spread. A first hint that the </a:t>
            </a:r>
            <a:r>
              <a:rPr lang="en-US" sz="970" b="1" dirty="0">
                <a:solidFill>
                  <a:srgbClr val="3A3A4A"/>
                </a:solidFill>
                <a:latin typeface="Calibri" pitchFamily="34" charset="0"/>
                <a:ea typeface="Calibri" pitchFamily="34" charset="-122"/>
                <a:cs typeface="Calibri" pitchFamily="34" charset="-120"/>
              </a:rPr>
              <a:t>market has periodic shocks layered on a stable baseline.</a:t>
            </a:r>
          </a:p>
          <a:p>
            <a:pPr algn="just">
              <a:lnSpc>
                <a:spcPct val="108000"/>
              </a:lnSpc>
            </a:pPr>
            <a:endParaRPr lang="en-US" sz="970" dirty="0"/>
          </a:p>
          <a:p>
            <a:pPr marL="0" indent="0" algn="l">
              <a:lnSpc>
                <a:spcPct val="108000"/>
              </a:lnSpc>
              <a:buNone/>
            </a:pPr>
            <a:r>
              <a:rPr lang="en-US" sz="970" b="1" dirty="0">
                <a:solidFill>
                  <a:srgbClr val="2D1B69"/>
                </a:solidFill>
                <a:latin typeface="Calibri" pitchFamily="34" charset="0"/>
                <a:ea typeface="Calibri" pitchFamily="34" charset="-122"/>
                <a:cs typeface="Calibri" pitchFamily="34" charset="-120"/>
              </a:rPr>
              <a:t>Outliers</a:t>
            </a:r>
            <a:endParaRPr lang="en-US" sz="970" dirty="0"/>
          </a:p>
          <a:p>
            <a:pPr algn="just">
              <a:lnSpc>
                <a:spcPct val="108000"/>
              </a:lnSpc>
            </a:pPr>
            <a:r>
              <a:rPr lang="en-US" sz="970" dirty="0">
                <a:solidFill>
                  <a:srgbClr val="3A3A4A"/>
                </a:solidFill>
                <a:latin typeface="Calibri" pitchFamily="34" charset="0"/>
                <a:ea typeface="Calibri" pitchFamily="34" charset="-122"/>
                <a:cs typeface="Calibri" pitchFamily="34" charset="-120"/>
              </a:rPr>
              <a:t>The typical price stayed steady from 2022 to 2025, but every single year had a few of unusually high spikes. 2022 saw the most extreme jumps, with prices reaching as high as $5.5/kg in some markets. </a:t>
            </a:r>
          </a:p>
          <a:p>
            <a:pPr algn="just">
              <a:lnSpc>
                <a:spcPct val="108000"/>
              </a:lnSpc>
            </a:pPr>
            <a:endParaRPr lang="en-US" sz="970" dirty="0">
              <a:solidFill>
                <a:srgbClr val="3A3A4A"/>
              </a:solidFill>
              <a:latin typeface="Calibri" pitchFamily="34" charset="0"/>
              <a:ea typeface="Calibri" pitchFamily="34" charset="-122"/>
              <a:cs typeface="Calibri" pitchFamily="34" charset="-120"/>
            </a:endParaRPr>
          </a:p>
          <a:p>
            <a:pPr algn="just">
              <a:lnSpc>
                <a:spcPct val="108000"/>
              </a:lnSpc>
            </a:pPr>
            <a:r>
              <a:rPr lang="en-US" sz="970" dirty="0">
                <a:solidFill>
                  <a:srgbClr val="3A3A4A"/>
                </a:solidFill>
                <a:latin typeface="Calibri" pitchFamily="34" charset="0"/>
                <a:ea typeface="Calibri" pitchFamily="34" charset="-122"/>
                <a:cs typeface="Calibri" pitchFamily="34" charset="-120"/>
              </a:rPr>
              <a:t>By 2024–2025, those spikes were still happening, but they weren't nearly as dramatic. It’s a sign that the market's price shocks have been calming down.</a:t>
            </a:r>
          </a:p>
          <a:p>
            <a:pPr algn="just">
              <a:lnSpc>
                <a:spcPct val="108000"/>
              </a:lnSpc>
            </a:pPr>
            <a:endParaRPr lang="en-US" sz="970" dirty="0"/>
          </a:p>
          <a:p>
            <a:pPr marL="0" indent="0" algn="l">
              <a:lnSpc>
                <a:spcPct val="108000"/>
              </a:lnSpc>
              <a:buNone/>
            </a:pPr>
            <a:r>
              <a:rPr lang="en-US" sz="970" b="1" dirty="0">
                <a:solidFill>
                  <a:srgbClr val="2D1B69"/>
                </a:solidFill>
                <a:latin typeface="Calibri" pitchFamily="34" charset="0"/>
                <a:ea typeface="Calibri" pitchFamily="34" charset="-122"/>
                <a:cs typeface="Calibri" pitchFamily="34" charset="-120"/>
              </a:rPr>
              <a:t>Why it matters</a:t>
            </a:r>
            <a:endParaRPr lang="en-US" sz="970" dirty="0"/>
          </a:p>
          <a:p>
            <a:pPr algn="just">
              <a:lnSpc>
                <a:spcPct val="108000"/>
              </a:lnSpc>
            </a:pPr>
            <a:r>
              <a:rPr lang="en-US" sz="970" dirty="0">
                <a:solidFill>
                  <a:srgbClr val="3A3A4A"/>
                </a:solidFill>
                <a:latin typeface="Calibri" pitchFamily="34" charset="0"/>
                <a:ea typeface="Calibri" pitchFamily="34" charset="-122"/>
                <a:cs typeface="Calibri" pitchFamily="34" charset="-120"/>
              </a:rPr>
              <a:t>This uneven pattern matters for how the forecast is built. Treating egg prices as if they follow a simple, even curve would underestimate how sharp a price spike can get. And a plain trend line wouldn't pick up on something important: each year's shocks have been getting a little less extreme than the last. It </a:t>
            </a:r>
            <a:r>
              <a:rPr lang="en-US" sz="970" b="1" dirty="0">
                <a:solidFill>
                  <a:srgbClr val="3A3A4A"/>
                </a:solidFill>
                <a:latin typeface="Calibri" pitchFamily="34" charset="0"/>
                <a:ea typeface="Calibri" pitchFamily="34" charset="-122"/>
                <a:cs typeface="Calibri" pitchFamily="34" charset="-120"/>
              </a:rPr>
              <a:t>reinforces the case for a regime-aware model that separates the stable baseline from transient shocks.</a:t>
            </a:r>
          </a:p>
        </p:txBody>
      </p:sp>
      <p:pic>
        <p:nvPicPr>
          <p:cNvPr id="8" name="Copied Picture 8">
            <a:extLst>
              <a:ext uri="{FF2B5EF4-FFF2-40B4-BE49-F238E27FC236}">
                <a16:creationId xmlns:a16="http://schemas.microsoft.com/office/drawing/2014/main" id="{76459A9D-A0E3-8802-088C-E946AB0095F1}"/>
              </a:ext>
            </a:extLst>
          </p:cNvPr>
          <p:cNvPicPr>
            <a:picLocks noChangeAspect="1"/>
          </p:cNvPicPr>
          <p:nvPr/>
        </p:nvPicPr>
        <p:blipFill>
          <a:blip r:embed="rId3"/>
          <a:stretch/>
        </p:blipFill>
        <p:spPr>
          <a:xfrm>
            <a:off x="7901259" y="101600"/>
            <a:ext cx="1141141" cy="753153"/>
          </a:xfrm>
          <a:prstGeom prst="rect">
            <a:avLst/>
          </a:prstGeom>
        </p:spPr>
      </p:pic>
      <p:pic>
        <p:nvPicPr>
          <p:cNvPr id="9" name="Picture 8">
            <a:extLst>
              <a:ext uri="{FF2B5EF4-FFF2-40B4-BE49-F238E27FC236}">
                <a16:creationId xmlns:a16="http://schemas.microsoft.com/office/drawing/2014/main" id="{5483CEF0-5CAC-046D-3873-1BA2E2C71A52}"/>
              </a:ext>
            </a:extLst>
          </p:cNvPr>
          <p:cNvPicPr>
            <a:picLocks noChangeAspect="1"/>
          </p:cNvPicPr>
          <p:nvPr/>
        </p:nvPicPr>
        <p:blipFill>
          <a:blip r:embed="rId4"/>
          <a:stretch>
            <a:fillRect/>
          </a:stretch>
        </p:blipFill>
        <p:spPr>
          <a:xfrm>
            <a:off x="787283" y="3055376"/>
            <a:ext cx="2790207" cy="1981737"/>
          </a:xfrm>
          <a:prstGeom prst="rect">
            <a:avLst/>
          </a:prstGeom>
        </p:spPr>
      </p:pic>
      <p:pic>
        <p:nvPicPr>
          <p:cNvPr id="13" name="Picture 12">
            <a:extLst>
              <a:ext uri="{FF2B5EF4-FFF2-40B4-BE49-F238E27FC236}">
                <a16:creationId xmlns:a16="http://schemas.microsoft.com/office/drawing/2014/main" id="{4B3BB6B6-E126-CEE7-4C3C-9C4648F411FE}"/>
              </a:ext>
            </a:extLst>
          </p:cNvPr>
          <p:cNvPicPr>
            <a:picLocks noChangeAspect="1"/>
          </p:cNvPicPr>
          <p:nvPr/>
        </p:nvPicPr>
        <p:blipFill>
          <a:blip r:embed="rId5"/>
          <a:stretch>
            <a:fillRect/>
          </a:stretch>
        </p:blipFill>
        <p:spPr>
          <a:xfrm>
            <a:off x="787283" y="896112"/>
            <a:ext cx="2790207" cy="1995842"/>
          </a:xfrm>
          <a:prstGeom prst="rect">
            <a:avLst/>
          </a:prstGeom>
        </p:spPr>
      </p:pic>
    </p:spTree>
    <p:extLst>
      <p:ext uri="{BB962C8B-B14F-4D97-AF65-F5344CB8AC3E}">
        <p14:creationId xmlns:p14="http://schemas.microsoft.com/office/powerpoint/2010/main" val="17895855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a:extLst>
            <a:ext uri="{FF2B5EF4-FFF2-40B4-BE49-F238E27FC236}">
              <a16:creationId xmlns:a16="http://schemas.microsoft.com/office/drawing/2014/main" id="{5E70D7B9-C8B1-148E-AFB6-C7C10B3F4BA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0C929B4-9C8B-D333-E933-66BFF6463D6F}"/>
              </a:ext>
            </a:extLst>
          </p:cNvPr>
          <p:cNvSpPr/>
          <p:nvPr/>
        </p:nvSpPr>
        <p:spPr>
          <a:xfrm>
            <a:off x="502920" y="256032"/>
            <a:ext cx="8229600"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Indonesia’s Egg Market Overview</a:t>
            </a:r>
            <a:endParaRPr lang="en-US" sz="3000" dirty="0"/>
          </a:p>
        </p:txBody>
      </p:sp>
      <p:sp>
        <p:nvSpPr>
          <p:cNvPr id="5" name="Shape 3">
            <a:extLst>
              <a:ext uri="{FF2B5EF4-FFF2-40B4-BE49-F238E27FC236}">
                <a16:creationId xmlns:a16="http://schemas.microsoft.com/office/drawing/2014/main" id="{9E63E89C-69EB-71F4-7157-C7338ABC8341}"/>
              </a:ext>
            </a:extLst>
          </p:cNvPr>
          <p:cNvSpPr/>
          <p:nvPr/>
        </p:nvSpPr>
        <p:spPr>
          <a:xfrm>
            <a:off x="5107940" y="1121646"/>
            <a:ext cx="3794760" cy="3328434"/>
          </a:xfrm>
          <a:prstGeom prst="roundRect">
            <a:avLst>
              <a:gd name="adj" fmla="val 3448"/>
            </a:avLst>
          </a:prstGeom>
          <a:solidFill>
            <a:srgbClr val="FFFFFF"/>
          </a:solidFill>
          <a:ln/>
          <a:effectLst>
            <a:outerShdw blurRad="88900" dist="38100" dir="5400000" algn="bl" rotWithShape="0">
              <a:srgbClr val="1A0F40">
                <a:alpha val="35000"/>
              </a:srgbClr>
            </a:outerShdw>
          </a:effectLst>
        </p:spPr>
        <p:txBody>
          <a:bodyPr/>
          <a:lstStyle/>
          <a:p>
            <a:endParaRPr lang="en-US"/>
          </a:p>
        </p:txBody>
      </p:sp>
      <p:sp>
        <p:nvSpPr>
          <p:cNvPr id="6" name="Text 4">
            <a:extLst>
              <a:ext uri="{FF2B5EF4-FFF2-40B4-BE49-F238E27FC236}">
                <a16:creationId xmlns:a16="http://schemas.microsoft.com/office/drawing/2014/main" id="{F5D3AC76-C6D1-DBBD-8E05-1CFC7A77FF9E}"/>
              </a:ext>
            </a:extLst>
          </p:cNvPr>
          <p:cNvSpPr/>
          <p:nvPr/>
        </p:nvSpPr>
        <p:spPr>
          <a:xfrm>
            <a:off x="5336540" y="1322814"/>
            <a:ext cx="3337560" cy="3025158"/>
          </a:xfrm>
          <a:prstGeom prst="rect">
            <a:avLst/>
          </a:prstGeom>
          <a:noFill/>
          <a:ln/>
        </p:spPr>
        <p:txBody>
          <a:bodyPr wrap="square" lIns="0" tIns="0" rIns="0" bIns="0" rtlCol="0" anchor="t"/>
          <a:lstStyle/>
          <a:p>
            <a:pPr marL="0" indent="0" algn="l">
              <a:lnSpc>
                <a:spcPct val="108000"/>
              </a:lnSpc>
              <a:buNone/>
            </a:pPr>
            <a:r>
              <a:rPr lang="en-US" sz="970" b="1" dirty="0">
                <a:solidFill>
                  <a:srgbClr val="2D1B69"/>
                </a:solidFill>
                <a:latin typeface="Calibri" pitchFamily="34" charset="0"/>
              </a:rPr>
              <a:t>Regional distribution</a:t>
            </a:r>
          </a:p>
          <a:p>
            <a:pPr algn="just">
              <a:lnSpc>
                <a:spcPct val="108000"/>
              </a:lnSpc>
            </a:pPr>
            <a:r>
              <a:rPr lang="en-US" sz="970" dirty="0">
                <a:solidFill>
                  <a:srgbClr val="3A3A4A"/>
                </a:solidFill>
                <a:latin typeface="Calibri" pitchFamily="34" charset="0"/>
              </a:rPr>
              <a:t>Average prices vary meaningfully across Indonesia's markets, Coverage spans Sumatra, Java, Kalimantan, Sulawesi, and Papua, with </a:t>
            </a:r>
            <a:r>
              <a:rPr lang="en-US" sz="970" b="1" dirty="0">
                <a:solidFill>
                  <a:srgbClr val="3A3A4A"/>
                </a:solidFill>
                <a:latin typeface="Calibri" pitchFamily="34" charset="0"/>
              </a:rPr>
              <a:t>denser clusters in western Indonesia</a:t>
            </a:r>
            <a:r>
              <a:rPr lang="en-US" sz="970" dirty="0">
                <a:solidFill>
                  <a:srgbClr val="3A3A4A"/>
                </a:solidFill>
                <a:latin typeface="Calibri" pitchFamily="34" charset="0"/>
              </a:rPr>
              <a:t> and a sparser, comparatively </a:t>
            </a:r>
            <a:r>
              <a:rPr lang="en-US" sz="970" b="1" dirty="0">
                <a:solidFill>
                  <a:srgbClr val="3A3A4A"/>
                </a:solidFill>
                <a:latin typeface="Calibri" pitchFamily="34" charset="0"/>
              </a:rPr>
              <a:t>higher-priced set of markets further east</a:t>
            </a:r>
            <a:r>
              <a:rPr lang="en-US" sz="970" dirty="0">
                <a:solidFill>
                  <a:srgbClr val="3A3A4A"/>
                </a:solidFill>
                <a:latin typeface="Calibri" pitchFamily="34" charset="0"/>
              </a:rPr>
              <a:t>. This may be reflected by different local production levels, market concentration and infrastructure in this eastern region.</a:t>
            </a:r>
          </a:p>
          <a:p>
            <a:pPr algn="just">
              <a:lnSpc>
                <a:spcPct val="108000"/>
              </a:lnSpc>
            </a:pPr>
            <a:endParaRPr lang="en-US" sz="970" dirty="0"/>
          </a:p>
          <a:p>
            <a:pPr marL="0" indent="0" algn="l">
              <a:lnSpc>
                <a:spcPct val="108000"/>
              </a:lnSpc>
              <a:buNone/>
            </a:pPr>
            <a:r>
              <a:rPr lang="en-US" sz="970" b="1" dirty="0">
                <a:solidFill>
                  <a:srgbClr val="2D1B69"/>
                </a:solidFill>
                <a:latin typeface="Calibri" pitchFamily="34" charset="0"/>
              </a:rPr>
              <a:t>Why it matters</a:t>
            </a:r>
          </a:p>
          <a:p>
            <a:pPr algn="just">
              <a:lnSpc>
                <a:spcPct val="108000"/>
              </a:lnSpc>
            </a:pPr>
            <a:r>
              <a:rPr lang="en-US" sz="970" dirty="0">
                <a:solidFill>
                  <a:srgbClr val="3A3A4A"/>
                </a:solidFill>
                <a:latin typeface="Calibri" pitchFamily="34" charset="0"/>
              </a:rPr>
              <a:t>A market in Java and a market in Papua might be </a:t>
            </a:r>
            <a:r>
              <a:rPr lang="en-US" sz="970" b="1" dirty="0">
                <a:solidFill>
                  <a:srgbClr val="3A3A4A"/>
                </a:solidFill>
                <a:latin typeface="Calibri" pitchFamily="34" charset="0"/>
              </a:rPr>
              <a:t>paying very different prices for eggs on the exact same day</a:t>
            </a:r>
            <a:r>
              <a:rPr lang="en-US" sz="970" dirty="0">
                <a:solidFill>
                  <a:srgbClr val="3A3A4A"/>
                </a:solidFill>
                <a:latin typeface="Calibri" pitchFamily="34" charset="0"/>
              </a:rPr>
              <a:t>. For a business, that means relying on the national average alone could mean paying too much or too little, depending on where the eggs come from.</a:t>
            </a:r>
          </a:p>
          <a:p>
            <a:pPr algn="just">
              <a:lnSpc>
                <a:spcPct val="108000"/>
              </a:lnSpc>
            </a:pPr>
            <a:endParaRPr lang="en-US" sz="970" dirty="0">
              <a:solidFill>
                <a:srgbClr val="3A3A4A"/>
              </a:solidFill>
              <a:latin typeface="Calibri" pitchFamily="34" charset="0"/>
            </a:endParaRPr>
          </a:p>
          <a:p>
            <a:pPr algn="just">
              <a:lnSpc>
                <a:spcPct val="108000"/>
              </a:lnSpc>
            </a:pPr>
            <a:r>
              <a:rPr lang="en-US" sz="970" dirty="0">
                <a:solidFill>
                  <a:srgbClr val="3A3A4A"/>
                </a:solidFill>
                <a:latin typeface="Calibri" pitchFamily="34" charset="0"/>
              </a:rPr>
              <a:t>For food security, the places paying the most for eggs (mostly in eastern Indonesia) are also the farthest from the supply routes that could bring prices down. </a:t>
            </a:r>
          </a:p>
          <a:p>
            <a:pPr algn="just">
              <a:lnSpc>
                <a:spcPct val="108000"/>
              </a:lnSpc>
            </a:pPr>
            <a:endParaRPr lang="en-US" sz="970" dirty="0">
              <a:solidFill>
                <a:srgbClr val="3A3A4A"/>
              </a:solidFill>
              <a:latin typeface="Calibri" pitchFamily="34" charset="0"/>
            </a:endParaRPr>
          </a:p>
          <a:p>
            <a:pPr algn="just">
              <a:lnSpc>
                <a:spcPct val="108000"/>
              </a:lnSpc>
            </a:pPr>
            <a:endParaRPr lang="en-US" sz="970" dirty="0">
              <a:solidFill>
                <a:srgbClr val="3A3A4A"/>
              </a:solidFill>
              <a:latin typeface="Calibri" pitchFamily="34" charset="0"/>
            </a:endParaRPr>
          </a:p>
        </p:txBody>
      </p:sp>
      <p:pic>
        <p:nvPicPr>
          <p:cNvPr id="8" name="Copied Picture 8">
            <a:extLst>
              <a:ext uri="{FF2B5EF4-FFF2-40B4-BE49-F238E27FC236}">
                <a16:creationId xmlns:a16="http://schemas.microsoft.com/office/drawing/2014/main" id="{0395AFAE-4260-39F2-C1B4-5CD983B12531}"/>
              </a:ext>
            </a:extLst>
          </p:cNvPr>
          <p:cNvPicPr>
            <a:picLocks noChangeAspect="1"/>
          </p:cNvPicPr>
          <p:nvPr/>
        </p:nvPicPr>
        <p:blipFill>
          <a:blip r:embed="rId3"/>
          <a:stretch/>
        </p:blipFill>
        <p:spPr>
          <a:xfrm>
            <a:off x="7901259" y="101600"/>
            <a:ext cx="1141141" cy="753153"/>
          </a:xfrm>
          <a:prstGeom prst="rect">
            <a:avLst/>
          </a:prstGeom>
        </p:spPr>
      </p:pic>
      <p:pic>
        <p:nvPicPr>
          <p:cNvPr id="4" name="Picture 3">
            <a:extLst>
              <a:ext uri="{FF2B5EF4-FFF2-40B4-BE49-F238E27FC236}">
                <a16:creationId xmlns:a16="http://schemas.microsoft.com/office/drawing/2014/main" id="{AD42882B-3D07-8BC4-EF36-F10DF5D6A6F0}"/>
              </a:ext>
            </a:extLst>
          </p:cNvPr>
          <p:cNvPicPr>
            <a:picLocks noChangeAspect="1"/>
          </p:cNvPicPr>
          <p:nvPr/>
        </p:nvPicPr>
        <p:blipFill>
          <a:blip r:embed="rId4"/>
          <a:stretch>
            <a:fillRect/>
          </a:stretch>
        </p:blipFill>
        <p:spPr>
          <a:xfrm>
            <a:off x="369583" y="1413764"/>
            <a:ext cx="4509757" cy="2315971"/>
          </a:xfrm>
          <a:prstGeom prst="rect">
            <a:avLst/>
          </a:prstGeom>
        </p:spPr>
      </p:pic>
    </p:spTree>
    <p:extLst>
      <p:ext uri="{BB962C8B-B14F-4D97-AF65-F5344CB8AC3E}">
        <p14:creationId xmlns:p14="http://schemas.microsoft.com/office/powerpoint/2010/main" val="15395104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a:extLst>
            <a:ext uri="{FF2B5EF4-FFF2-40B4-BE49-F238E27FC236}">
              <a16:creationId xmlns:a16="http://schemas.microsoft.com/office/drawing/2014/main" id="{EC6FB4C5-7685-9CC7-9615-C65A11E3F15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3C10854-40E9-0B4C-1E76-C7652ADC7AA6}"/>
              </a:ext>
            </a:extLst>
          </p:cNvPr>
          <p:cNvSpPr/>
          <p:nvPr/>
        </p:nvSpPr>
        <p:spPr>
          <a:xfrm>
            <a:off x="334585" y="46695"/>
            <a:ext cx="8474825"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rPr>
              <a:t>Egg’s Price Trend</a:t>
            </a:r>
            <a:endParaRPr lang="en-US" sz="3000" dirty="0"/>
          </a:p>
        </p:txBody>
      </p:sp>
      <p:sp>
        <p:nvSpPr>
          <p:cNvPr id="11" name="Text 19">
            <a:extLst>
              <a:ext uri="{FF2B5EF4-FFF2-40B4-BE49-F238E27FC236}">
                <a16:creationId xmlns:a16="http://schemas.microsoft.com/office/drawing/2014/main" id="{3C7F7702-1457-8215-0E2A-81A7E606395E}"/>
              </a:ext>
            </a:extLst>
          </p:cNvPr>
          <p:cNvSpPr/>
          <p:nvPr/>
        </p:nvSpPr>
        <p:spPr>
          <a:xfrm>
            <a:off x="781342" y="4869234"/>
            <a:ext cx="5654911" cy="251133"/>
          </a:xfrm>
          <a:prstGeom prst="rect">
            <a:avLst/>
          </a:prstGeom>
          <a:noFill/>
          <a:ln/>
        </p:spPr>
        <p:txBody>
          <a:bodyPr wrap="square" lIns="0" tIns="0" rIns="0" bIns="0" rtlCol="0" anchor="t"/>
          <a:lstStyle/>
          <a:p>
            <a:pPr algn="just">
              <a:lnSpc>
                <a:spcPct val="108000"/>
              </a:lnSpc>
            </a:pPr>
            <a:endParaRPr lang="en-US" sz="1100" i="1" dirty="0">
              <a:solidFill>
                <a:schemeClr val="bg2"/>
              </a:solidFill>
              <a:latin typeface="Calibri" pitchFamily="34" charset="0"/>
              <a:ea typeface="Calibri" pitchFamily="34" charset="-122"/>
              <a:cs typeface="Calibri" pitchFamily="34" charset="-120"/>
            </a:endParaRPr>
          </a:p>
        </p:txBody>
      </p:sp>
      <p:pic>
        <p:nvPicPr>
          <p:cNvPr id="21" name="Copied Picture 21">
            <a:extLst>
              <a:ext uri="{FF2B5EF4-FFF2-40B4-BE49-F238E27FC236}">
                <a16:creationId xmlns:a16="http://schemas.microsoft.com/office/drawing/2014/main" id="{098C5A1E-651C-798D-5D81-541A1CCCDFF3}"/>
              </a:ext>
            </a:extLst>
          </p:cNvPr>
          <p:cNvPicPr>
            <a:picLocks noChangeAspect="1"/>
          </p:cNvPicPr>
          <p:nvPr/>
        </p:nvPicPr>
        <p:blipFill>
          <a:blip r:embed="rId3"/>
          <a:stretch/>
        </p:blipFill>
        <p:spPr>
          <a:xfrm>
            <a:off x="7901259" y="101600"/>
            <a:ext cx="1141141" cy="753153"/>
          </a:xfrm>
          <a:prstGeom prst="rect">
            <a:avLst/>
          </a:prstGeom>
        </p:spPr>
      </p:pic>
      <p:sp>
        <p:nvSpPr>
          <p:cNvPr id="8" name="Shape 3">
            <a:extLst>
              <a:ext uri="{FF2B5EF4-FFF2-40B4-BE49-F238E27FC236}">
                <a16:creationId xmlns:a16="http://schemas.microsoft.com/office/drawing/2014/main" id="{6EEB3932-FC59-C8E0-C80A-E81EEFB75DAE}"/>
              </a:ext>
            </a:extLst>
          </p:cNvPr>
          <p:cNvSpPr/>
          <p:nvPr/>
        </p:nvSpPr>
        <p:spPr>
          <a:xfrm>
            <a:off x="672203" y="2781693"/>
            <a:ext cx="6437257" cy="2201787"/>
          </a:xfrm>
          <a:prstGeom prst="roundRect">
            <a:avLst>
              <a:gd name="adj" fmla="val 3279"/>
            </a:avLst>
          </a:prstGeom>
          <a:solidFill>
            <a:srgbClr val="FFFFFF"/>
          </a:solidFill>
          <a:ln/>
          <a:effectLst>
            <a:outerShdw blurRad="88900" dist="38100" dir="5400000" algn="bl" rotWithShape="0">
              <a:srgbClr val="1A0F40">
                <a:alpha val="35000"/>
              </a:srgbClr>
            </a:outerShdw>
          </a:effectLst>
        </p:spPr>
        <p:txBody>
          <a:bodyPr/>
          <a:lstStyle/>
          <a:p>
            <a:endParaRPr lang="en-US"/>
          </a:p>
        </p:txBody>
      </p:sp>
      <p:sp>
        <p:nvSpPr>
          <p:cNvPr id="9" name="Text 4">
            <a:extLst>
              <a:ext uri="{FF2B5EF4-FFF2-40B4-BE49-F238E27FC236}">
                <a16:creationId xmlns:a16="http://schemas.microsoft.com/office/drawing/2014/main" id="{3C368666-FB51-A2FA-7227-CBFF8ED50624}"/>
              </a:ext>
            </a:extLst>
          </p:cNvPr>
          <p:cNvSpPr/>
          <p:nvPr/>
        </p:nvSpPr>
        <p:spPr>
          <a:xfrm>
            <a:off x="753412" y="2865270"/>
            <a:ext cx="5677016" cy="234457"/>
          </a:xfrm>
          <a:prstGeom prst="rect">
            <a:avLst/>
          </a:prstGeom>
          <a:noFill/>
          <a:ln/>
        </p:spPr>
        <p:txBody>
          <a:bodyPr wrap="square" lIns="0" tIns="0" rIns="0" bIns="0" rtlCol="0" anchor="ctr"/>
          <a:lstStyle/>
          <a:p>
            <a:r>
              <a:rPr lang="en-US" sz="1100" b="1" dirty="0">
                <a:solidFill>
                  <a:srgbClr val="2D1B69"/>
                </a:solidFill>
                <a:latin typeface="Calibri" pitchFamily="34" charset="0"/>
                <a:cs typeface="Calibri" pitchFamily="34" charset="-120"/>
              </a:rPr>
              <a:t>Overview</a:t>
            </a:r>
            <a:endParaRPr lang="en-US" sz="1350" dirty="0"/>
          </a:p>
        </p:txBody>
      </p:sp>
      <p:sp>
        <p:nvSpPr>
          <p:cNvPr id="10" name="Text 5">
            <a:extLst>
              <a:ext uri="{FF2B5EF4-FFF2-40B4-BE49-F238E27FC236}">
                <a16:creationId xmlns:a16="http://schemas.microsoft.com/office/drawing/2014/main" id="{396B928C-AEC3-550B-4DDC-4C6DEF741250}"/>
              </a:ext>
            </a:extLst>
          </p:cNvPr>
          <p:cNvSpPr/>
          <p:nvPr/>
        </p:nvSpPr>
        <p:spPr>
          <a:xfrm>
            <a:off x="753412" y="3108072"/>
            <a:ext cx="6208621" cy="1761161"/>
          </a:xfrm>
          <a:prstGeom prst="rect">
            <a:avLst/>
          </a:prstGeom>
          <a:noFill/>
          <a:ln/>
        </p:spPr>
        <p:txBody>
          <a:bodyPr wrap="square" lIns="0" tIns="0" rIns="0" bIns="0" rtlCol="0" anchor="t"/>
          <a:lstStyle/>
          <a:p>
            <a:pPr marL="0" indent="0" algn="just">
              <a:lnSpc>
                <a:spcPct val="110000"/>
              </a:lnSpc>
              <a:spcAft>
                <a:spcPts val="400"/>
              </a:spcAft>
              <a:buNone/>
            </a:pPr>
            <a:r>
              <a:rPr lang="en-US" sz="1000" dirty="0">
                <a:solidFill>
                  <a:srgbClr val="3A3A4A"/>
                </a:solidFill>
                <a:latin typeface="Calibri" pitchFamily="34" charset="0"/>
                <a:ea typeface="Calibri" pitchFamily="34" charset="-122"/>
                <a:cs typeface="Calibri" pitchFamily="34" charset="-120"/>
              </a:rPr>
              <a:t>Egg prices in Indonesia followed phases between 2022 and 2025:</a:t>
            </a:r>
          </a:p>
          <a:p>
            <a:pPr marL="171450" indent="-171450" algn="just">
              <a:lnSpc>
                <a:spcPct val="110000"/>
              </a:lnSpc>
              <a:spcAft>
                <a:spcPts val="400"/>
              </a:spcAft>
              <a:buFont typeface="Arial" panose="020B0604020202020204" pitchFamily="34" charset="0"/>
              <a:buChar char="•"/>
            </a:pPr>
            <a:r>
              <a:rPr lang="en-US" sz="1000" b="1" dirty="0">
                <a:solidFill>
                  <a:srgbClr val="3A3A4A"/>
                </a:solidFill>
                <a:latin typeface="Calibri" pitchFamily="34" charset="0"/>
                <a:ea typeface="Calibri" pitchFamily="34" charset="-122"/>
                <a:cs typeface="Calibri" pitchFamily="34" charset="-120"/>
              </a:rPr>
              <a:t>Gradual rise</a:t>
            </a:r>
            <a:r>
              <a:rPr lang="en-US" sz="1000" dirty="0">
                <a:solidFill>
                  <a:srgbClr val="3A3A4A"/>
                </a:solidFill>
                <a:latin typeface="Calibri" pitchFamily="34" charset="0"/>
                <a:ea typeface="Calibri" pitchFamily="34" charset="-122"/>
                <a:cs typeface="Calibri" pitchFamily="34" charset="-120"/>
              </a:rPr>
              <a:t> (2022 - 2023): prices climbed steadily to a peak of $1.95/kg</a:t>
            </a:r>
          </a:p>
          <a:p>
            <a:pPr marL="171450" indent="-171450" algn="just">
              <a:lnSpc>
                <a:spcPct val="110000"/>
              </a:lnSpc>
              <a:spcAft>
                <a:spcPts val="400"/>
              </a:spcAft>
              <a:buFont typeface="Arial" panose="020B0604020202020204" pitchFamily="34" charset="0"/>
              <a:buChar char="•"/>
            </a:pPr>
            <a:r>
              <a:rPr lang="en-US" sz="1000" b="1" dirty="0">
                <a:solidFill>
                  <a:srgbClr val="3A3A4A"/>
                </a:solidFill>
                <a:latin typeface="Calibri" pitchFamily="34" charset="0"/>
                <a:ea typeface="Calibri" pitchFamily="34" charset="-122"/>
                <a:cs typeface="Calibri" pitchFamily="34" charset="-120"/>
              </a:rPr>
              <a:t>Sharp correction </a:t>
            </a:r>
            <a:r>
              <a:rPr lang="en-US" sz="1000" dirty="0">
                <a:solidFill>
                  <a:srgbClr val="3A3A4A"/>
                </a:solidFill>
                <a:latin typeface="Calibri" pitchFamily="34" charset="0"/>
                <a:ea typeface="Calibri" pitchFamily="34" charset="-122"/>
                <a:cs typeface="Calibri" pitchFamily="34" charset="-120"/>
              </a:rPr>
              <a:t>(2023 - 2024): prices fell back down as the market absorbed the shock</a:t>
            </a:r>
          </a:p>
          <a:p>
            <a:pPr marL="171450" indent="-171450" algn="just">
              <a:lnSpc>
                <a:spcPct val="110000"/>
              </a:lnSpc>
              <a:spcAft>
                <a:spcPts val="400"/>
              </a:spcAft>
              <a:buFont typeface="Arial" panose="020B0604020202020204" pitchFamily="34" charset="0"/>
              <a:buChar char="•"/>
            </a:pPr>
            <a:r>
              <a:rPr lang="en-US" sz="1000" b="1" dirty="0">
                <a:solidFill>
                  <a:srgbClr val="3A3A4A"/>
                </a:solidFill>
                <a:latin typeface="Calibri" pitchFamily="34" charset="0"/>
                <a:ea typeface="Calibri" pitchFamily="34" charset="-122"/>
                <a:cs typeface="Calibri" pitchFamily="34" charset="-120"/>
              </a:rPr>
              <a:t>Stabilization phase</a:t>
            </a:r>
            <a:r>
              <a:rPr lang="en-US" sz="1000" dirty="0">
                <a:solidFill>
                  <a:srgbClr val="3A3A4A"/>
                </a:solidFill>
                <a:latin typeface="Calibri" pitchFamily="34" charset="0"/>
                <a:ea typeface="Calibri" pitchFamily="34" charset="-122"/>
                <a:cs typeface="Calibri" pitchFamily="34" charset="-120"/>
              </a:rPr>
              <a:t> (2024 – 2025): prices stabilized post crisis</a:t>
            </a:r>
          </a:p>
          <a:p>
            <a:pPr algn="just">
              <a:lnSpc>
                <a:spcPct val="110000"/>
              </a:lnSpc>
              <a:spcAft>
                <a:spcPts val="400"/>
              </a:spcAft>
            </a:pPr>
            <a:r>
              <a:rPr lang="en-US" sz="1000" dirty="0">
                <a:solidFill>
                  <a:srgbClr val="3A3A4A"/>
                </a:solidFill>
                <a:latin typeface="Calibri" pitchFamily="34" charset="0"/>
                <a:ea typeface="Calibri" pitchFamily="34" charset="-122"/>
                <a:cs typeface="Calibri" pitchFamily="34" charset="-120"/>
              </a:rPr>
              <a:t>The </a:t>
            </a:r>
            <a:r>
              <a:rPr lang="en-US" sz="1000" b="1" dirty="0">
                <a:solidFill>
                  <a:srgbClr val="3A3A4A"/>
                </a:solidFill>
                <a:latin typeface="Calibri" pitchFamily="34" charset="0"/>
                <a:ea typeface="Calibri" pitchFamily="34" charset="-122"/>
                <a:cs typeface="Calibri" pitchFamily="34" charset="-120"/>
              </a:rPr>
              <a:t>2023 peak coincides with a corn feed cost crisis</a:t>
            </a:r>
            <a:r>
              <a:rPr lang="en-US" sz="1000" dirty="0">
                <a:solidFill>
                  <a:srgbClr val="3A3A4A"/>
                </a:solidFill>
                <a:latin typeface="Calibri" pitchFamily="34" charset="0"/>
                <a:ea typeface="Calibri" pitchFamily="34" charset="-122"/>
                <a:cs typeface="Calibri" pitchFamily="34" charset="-120"/>
              </a:rPr>
              <a:t>. Corn is the primary input for poultry feed in Indonesia, and elevated global corn prices </a:t>
            </a:r>
            <a:r>
              <a:rPr lang="en-US" sz="1000" b="1" dirty="0">
                <a:solidFill>
                  <a:srgbClr val="3A3A4A"/>
                </a:solidFill>
                <a:latin typeface="Calibri" pitchFamily="34" charset="0"/>
                <a:ea typeface="Calibri" pitchFamily="34" charset="-122"/>
                <a:cs typeface="Calibri" pitchFamily="34" charset="-120"/>
              </a:rPr>
              <a:t>combined with El Niño-driven supply pressure </a:t>
            </a:r>
            <a:r>
              <a:rPr lang="en-US" sz="1000" dirty="0">
                <a:solidFill>
                  <a:srgbClr val="3A3A4A"/>
                </a:solidFill>
                <a:latin typeface="Calibri" pitchFamily="34" charset="0"/>
                <a:ea typeface="Calibri" pitchFamily="34" charset="-122"/>
                <a:cs typeface="Calibri" pitchFamily="34" charset="-120"/>
              </a:rPr>
              <a:t>pushed egg production costs sharply upward.</a:t>
            </a:r>
          </a:p>
          <a:p>
            <a:pPr algn="just">
              <a:lnSpc>
                <a:spcPct val="110000"/>
              </a:lnSpc>
              <a:spcAft>
                <a:spcPts val="400"/>
              </a:spcAft>
            </a:pPr>
            <a:r>
              <a:rPr lang="en-US" sz="1000" dirty="0">
                <a:solidFill>
                  <a:srgbClr val="3A3A4A"/>
                </a:solidFill>
                <a:latin typeface="Calibri" pitchFamily="34" charset="0"/>
                <a:ea typeface="Calibri" pitchFamily="34" charset="-122"/>
                <a:cs typeface="Calibri" pitchFamily="34" charset="-120"/>
              </a:rPr>
              <a:t>This isn't random noise. It's a </a:t>
            </a:r>
            <a:r>
              <a:rPr lang="en-US" sz="1000" b="1" dirty="0">
                <a:solidFill>
                  <a:srgbClr val="3A3A4A"/>
                </a:solidFill>
                <a:latin typeface="Calibri" pitchFamily="34" charset="0"/>
                <a:ea typeface="Calibri" pitchFamily="34" charset="-122"/>
                <a:cs typeface="Calibri" pitchFamily="34" charset="-120"/>
              </a:rPr>
              <a:t>genuine structural break</a:t>
            </a:r>
            <a:r>
              <a:rPr lang="en-US" sz="1000" dirty="0">
                <a:solidFill>
                  <a:srgbClr val="3A3A4A"/>
                </a:solidFill>
                <a:latin typeface="Calibri" pitchFamily="34" charset="0"/>
                <a:ea typeface="Calibri" pitchFamily="34" charset="-122"/>
                <a:cs typeface="Calibri" pitchFamily="34" charset="-120"/>
              </a:rPr>
              <a:t>. A model that doesn't account for this shift risks either overreacting to the spike (assuming prices will keep rising) or underreacting to the new stable baseline. </a:t>
            </a:r>
            <a:r>
              <a:rPr lang="en-US" sz="1000" b="1" dirty="0">
                <a:solidFill>
                  <a:srgbClr val="3A3A4A"/>
                </a:solidFill>
                <a:latin typeface="Calibri" pitchFamily="34" charset="0"/>
                <a:ea typeface="Calibri" pitchFamily="34" charset="-122"/>
                <a:cs typeface="Calibri" pitchFamily="34" charset="-120"/>
              </a:rPr>
              <a:t>This motivates the regime-aware approach </a:t>
            </a:r>
            <a:r>
              <a:rPr lang="en-US" sz="1000" dirty="0">
                <a:solidFill>
                  <a:srgbClr val="3A3A4A"/>
                </a:solidFill>
                <a:latin typeface="Calibri" pitchFamily="34" charset="0"/>
                <a:ea typeface="Calibri" pitchFamily="34" charset="-122"/>
                <a:cs typeface="Calibri" pitchFamily="34" charset="-120"/>
              </a:rPr>
              <a:t>covered later.</a:t>
            </a:r>
          </a:p>
          <a:p>
            <a:pPr algn="just">
              <a:lnSpc>
                <a:spcPct val="110000"/>
              </a:lnSpc>
              <a:spcAft>
                <a:spcPts val="400"/>
              </a:spcAft>
            </a:pPr>
            <a:endParaRPr lang="en-US" sz="1000" dirty="0">
              <a:solidFill>
                <a:srgbClr val="3A3A4A"/>
              </a:solidFill>
              <a:latin typeface="Calibri" pitchFamily="34" charset="0"/>
              <a:ea typeface="Calibri" pitchFamily="34" charset="-122"/>
              <a:cs typeface="Calibri" pitchFamily="34" charset="-120"/>
            </a:endParaRPr>
          </a:p>
          <a:p>
            <a:pPr algn="just">
              <a:lnSpc>
                <a:spcPct val="110000"/>
              </a:lnSpc>
              <a:spcAft>
                <a:spcPts val="400"/>
              </a:spcAft>
            </a:pPr>
            <a:endParaRPr lang="en-US" sz="1000" dirty="0">
              <a:solidFill>
                <a:srgbClr val="3A3A4A"/>
              </a:solidFill>
              <a:latin typeface="Calibri" pitchFamily="34" charset="0"/>
              <a:ea typeface="Calibri" pitchFamily="34" charset="-122"/>
              <a:cs typeface="Calibri" pitchFamily="34" charset="-120"/>
            </a:endParaRPr>
          </a:p>
        </p:txBody>
      </p:sp>
      <p:sp>
        <p:nvSpPr>
          <p:cNvPr id="3" name="Shape 3">
            <a:extLst>
              <a:ext uri="{FF2B5EF4-FFF2-40B4-BE49-F238E27FC236}">
                <a16:creationId xmlns:a16="http://schemas.microsoft.com/office/drawing/2014/main" id="{EE81E3F6-6D59-F997-69A9-AB295A0D08C2}"/>
              </a:ext>
            </a:extLst>
          </p:cNvPr>
          <p:cNvSpPr/>
          <p:nvPr/>
        </p:nvSpPr>
        <p:spPr>
          <a:xfrm>
            <a:off x="7266869" y="3196873"/>
            <a:ext cx="1735717" cy="1306547"/>
          </a:xfrm>
          <a:prstGeom prst="roundRect">
            <a:avLst>
              <a:gd name="adj" fmla="val 3279"/>
            </a:avLst>
          </a:prstGeom>
          <a:solidFill>
            <a:srgbClr val="FFFFFF"/>
          </a:solidFill>
          <a:ln/>
          <a:effectLst>
            <a:outerShdw blurRad="88900" dist="38100" dir="5400000" algn="bl" rotWithShape="0">
              <a:srgbClr val="1A0F40">
                <a:alpha val="35000"/>
              </a:srgbClr>
            </a:outerShdw>
          </a:effectLst>
        </p:spPr>
        <p:txBody>
          <a:bodyPr/>
          <a:lstStyle/>
          <a:p>
            <a:endParaRPr lang="en-US"/>
          </a:p>
        </p:txBody>
      </p:sp>
      <p:sp>
        <p:nvSpPr>
          <p:cNvPr id="4" name="Text 5">
            <a:extLst>
              <a:ext uri="{FF2B5EF4-FFF2-40B4-BE49-F238E27FC236}">
                <a16:creationId xmlns:a16="http://schemas.microsoft.com/office/drawing/2014/main" id="{8F4E89A9-A940-C5B0-9494-E8EC63C11028}"/>
              </a:ext>
            </a:extLst>
          </p:cNvPr>
          <p:cNvSpPr/>
          <p:nvPr/>
        </p:nvSpPr>
        <p:spPr>
          <a:xfrm>
            <a:off x="7391155" y="3503587"/>
            <a:ext cx="1487143" cy="938873"/>
          </a:xfrm>
          <a:prstGeom prst="rect">
            <a:avLst/>
          </a:prstGeom>
          <a:noFill/>
          <a:ln/>
        </p:spPr>
        <p:txBody>
          <a:bodyPr wrap="square" lIns="0" tIns="0" rIns="0" bIns="0" rtlCol="0" anchor="t"/>
          <a:lstStyle/>
          <a:p>
            <a:pPr algn="just">
              <a:lnSpc>
                <a:spcPct val="110000"/>
              </a:lnSpc>
              <a:spcAft>
                <a:spcPts val="400"/>
              </a:spcAft>
            </a:pPr>
            <a:r>
              <a:rPr lang="en-US" sz="1000" dirty="0"/>
              <a:t>All About Feed (2024). </a:t>
            </a:r>
            <a:r>
              <a:rPr lang="en-US" sz="1000" i="1" dirty="0"/>
              <a:t>Indonesia: Poultry industry crisis triggers feed market turbulence. </a:t>
            </a:r>
            <a:r>
              <a:rPr lang="en-US" sz="1000" i="1" dirty="0">
                <a:solidFill>
                  <a:srgbClr val="3A3A4A"/>
                </a:solidFill>
                <a:latin typeface="Calibri" pitchFamily="34" charset="0"/>
                <a:ea typeface="Calibri" pitchFamily="34" charset="-122"/>
                <a:cs typeface="Calibri" pitchFamily="34" charset="-120"/>
                <a:hlinkClick r:id="rId4"/>
              </a:rPr>
              <a:t>LINK</a:t>
            </a:r>
            <a:endParaRPr lang="en-US" sz="1000" dirty="0">
              <a:solidFill>
                <a:srgbClr val="3A3A4A"/>
              </a:solidFill>
              <a:latin typeface="Calibri" pitchFamily="34" charset="0"/>
              <a:ea typeface="Calibri" pitchFamily="34" charset="-122"/>
              <a:cs typeface="Calibri" pitchFamily="34" charset="-120"/>
            </a:endParaRPr>
          </a:p>
        </p:txBody>
      </p:sp>
      <p:sp>
        <p:nvSpPr>
          <p:cNvPr id="5" name="Text 4">
            <a:extLst>
              <a:ext uri="{FF2B5EF4-FFF2-40B4-BE49-F238E27FC236}">
                <a16:creationId xmlns:a16="http://schemas.microsoft.com/office/drawing/2014/main" id="{4D7524D8-527B-F3B2-7472-857490A630DD}"/>
              </a:ext>
            </a:extLst>
          </p:cNvPr>
          <p:cNvSpPr/>
          <p:nvPr/>
        </p:nvSpPr>
        <p:spPr>
          <a:xfrm>
            <a:off x="7406364" y="3222040"/>
            <a:ext cx="1288056" cy="234457"/>
          </a:xfrm>
          <a:prstGeom prst="rect">
            <a:avLst/>
          </a:prstGeom>
          <a:noFill/>
          <a:ln/>
        </p:spPr>
        <p:txBody>
          <a:bodyPr wrap="square" lIns="0" tIns="0" rIns="0" bIns="0" rtlCol="0" anchor="ctr"/>
          <a:lstStyle/>
          <a:p>
            <a:r>
              <a:rPr lang="en-US" sz="1100" b="1" dirty="0">
                <a:solidFill>
                  <a:srgbClr val="2D1B69"/>
                </a:solidFill>
                <a:latin typeface="Calibri" pitchFamily="34" charset="0"/>
                <a:cs typeface="Calibri" pitchFamily="34" charset="-120"/>
              </a:rPr>
              <a:t>Source</a:t>
            </a:r>
            <a:endParaRPr lang="en-US" sz="1100" dirty="0"/>
          </a:p>
        </p:txBody>
      </p:sp>
      <p:pic>
        <p:nvPicPr>
          <p:cNvPr id="7" name="Picture 6">
            <a:extLst>
              <a:ext uri="{FF2B5EF4-FFF2-40B4-BE49-F238E27FC236}">
                <a16:creationId xmlns:a16="http://schemas.microsoft.com/office/drawing/2014/main" id="{96EA736C-2FC6-BE6D-FE1D-306B24D0DDA4}"/>
              </a:ext>
            </a:extLst>
          </p:cNvPr>
          <p:cNvPicPr>
            <a:picLocks noChangeAspect="1"/>
          </p:cNvPicPr>
          <p:nvPr/>
        </p:nvPicPr>
        <p:blipFill>
          <a:blip r:embed="rId5"/>
          <a:stretch>
            <a:fillRect/>
          </a:stretch>
        </p:blipFill>
        <p:spPr>
          <a:xfrm>
            <a:off x="3072078" y="605968"/>
            <a:ext cx="2999840" cy="2061478"/>
          </a:xfrm>
          <a:prstGeom prst="rect">
            <a:avLst/>
          </a:prstGeom>
        </p:spPr>
      </p:pic>
      <p:cxnSp>
        <p:nvCxnSpPr>
          <p:cNvPr id="12" name="Straight Arrow Connector 11">
            <a:extLst>
              <a:ext uri="{FF2B5EF4-FFF2-40B4-BE49-F238E27FC236}">
                <a16:creationId xmlns:a16="http://schemas.microsoft.com/office/drawing/2014/main" id="{A7DBC2CD-4371-8DE5-57B6-A78F8E7749C6}"/>
              </a:ext>
            </a:extLst>
          </p:cNvPr>
          <p:cNvCxnSpPr>
            <a:cxnSpLocks/>
          </p:cNvCxnSpPr>
          <p:nvPr/>
        </p:nvCxnSpPr>
        <p:spPr>
          <a:xfrm flipH="1">
            <a:off x="4571997" y="1013154"/>
            <a:ext cx="636104" cy="1749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50655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a:extLst>
            <a:ext uri="{FF2B5EF4-FFF2-40B4-BE49-F238E27FC236}">
              <a16:creationId xmlns:a16="http://schemas.microsoft.com/office/drawing/2014/main" id="{2C7C7FEB-772B-29BD-1A02-87DF86430A3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6C1B519-D8F4-59CD-9053-628E37F8EB2F}"/>
              </a:ext>
            </a:extLst>
          </p:cNvPr>
          <p:cNvSpPr/>
          <p:nvPr/>
        </p:nvSpPr>
        <p:spPr>
          <a:xfrm>
            <a:off x="334587" y="115538"/>
            <a:ext cx="8474825"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Split Ratio &amp; Stationarity Test</a:t>
            </a:r>
            <a:endParaRPr lang="en-US" sz="3000" dirty="0"/>
          </a:p>
        </p:txBody>
      </p:sp>
      <p:graphicFrame>
        <p:nvGraphicFramePr>
          <p:cNvPr id="3" name="Table 2">
            <a:extLst>
              <a:ext uri="{FF2B5EF4-FFF2-40B4-BE49-F238E27FC236}">
                <a16:creationId xmlns:a16="http://schemas.microsoft.com/office/drawing/2014/main" id="{141EEBCB-2E11-AEEA-88E7-C28D4A923B7A}"/>
              </a:ext>
            </a:extLst>
          </p:cNvPr>
          <p:cNvGraphicFramePr>
            <a:graphicFrameLocks noGrp="1"/>
          </p:cNvGraphicFramePr>
          <p:nvPr>
            <p:extLst>
              <p:ext uri="{D42A27DB-BD31-4B8C-83A1-F6EECF244321}">
                <p14:modId xmlns:p14="http://schemas.microsoft.com/office/powerpoint/2010/main" val="3998203842"/>
              </p:ext>
            </p:extLst>
          </p:nvPr>
        </p:nvGraphicFramePr>
        <p:xfrm>
          <a:off x="978633" y="812985"/>
          <a:ext cx="6465018" cy="2150799"/>
        </p:xfrm>
        <a:graphic>
          <a:graphicData uri="http://schemas.openxmlformats.org/drawingml/2006/table">
            <a:tbl>
              <a:tblPr firstRow="1" bandRow="1">
                <a:tableStyleId>{5C22544A-7EE6-4342-B048-85BDC9FD1C3A}</a:tableStyleId>
              </a:tblPr>
              <a:tblGrid>
                <a:gridCol w="667287">
                  <a:extLst>
                    <a:ext uri="{9D8B030D-6E8A-4147-A177-3AD203B41FA5}">
                      <a16:colId xmlns:a16="http://schemas.microsoft.com/office/drawing/2014/main" val="433491110"/>
                    </a:ext>
                  </a:extLst>
                </a:gridCol>
                <a:gridCol w="1127760">
                  <a:extLst>
                    <a:ext uri="{9D8B030D-6E8A-4147-A177-3AD203B41FA5}">
                      <a16:colId xmlns:a16="http://schemas.microsoft.com/office/drawing/2014/main" val="2750863187"/>
                    </a:ext>
                  </a:extLst>
                </a:gridCol>
                <a:gridCol w="975675">
                  <a:extLst>
                    <a:ext uri="{9D8B030D-6E8A-4147-A177-3AD203B41FA5}">
                      <a16:colId xmlns:a16="http://schemas.microsoft.com/office/drawing/2014/main" val="1659422454"/>
                    </a:ext>
                  </a:extLst>
                </a:gridCol>
                <a:gridCol w="923574">
                  <a:extLst>
                    <a:ext uri="{9D8B030D-6E8A-4147-A177-3AD203B41FA5}">
                      <a16:colId xmlns:a16="http://schemas.microsoft.com/office/drawing/2014/main" val="3361974314"/>
                    </a:ext>
                  </a:extLst>
                </a:gridCol>
                <a:gridCol w="923574">
                  <a:extLst>
                    <a:ext uri="{9D8B030D-6E8A-4147-A177-3AD203B41FA5}">
                      <a16:colId xmlns:a16="http://schemas.microsoft.com/office/drawing/2014/main" val="798899558"/>
                    </a:ext>
                  </a:extLst>
                </a:gridCol>
                <a:gridCol w="923574">
                  <a:extLst>
                    <a:ext uri="{9D8B030D-6E8A-4147-A177-3AD203B41FA5}">
                      <a16:colId xmlns:a16="http://schemas.microsoft.com/office/drawing/2014/main" val="3011737941"/>
                    </a:ext>
                  </a:extLst>
                </a:gridCol>
                <a:gridCol w="923574">
                  <a:extLst>
                    <a:ext uri="{9D8B030D-6E8A-4147-A177-3AD203B41FA5}">
                      <a16:colId xmlns:a16="http://schemas.microsoft.com/office/drawing/2014/main" val="3304310298"/>
                    </a:ext>
                  </a:extLst>
                </a:gridCol>
              </a:tblGrid>
              <a:tr h="271252">
                <a:tc>
                  <a:txBody>
                    <a:bodyPr/>
                    <a:lstStyle/>
                    <a:p>
                      <a:pPr algn="ctr"/>
                      <a:r>
                        <a:rPr lang="en-US" sz="1200" dirty="0">
                          <a:solidFill>
                            <a:schemeClr val="bg1"/>
                          </a:solidFill>
                        </a:rPr>
                        <a:t>Split</a:t>
                      </a:r>
                    </a:p>
                  </a:txBody>
                  <a:tcPr>
                    <a:solidFill>
                      <a:srgbClr val="9986DE"/>
                    </a:solidFill>
                  </a:tcPr>
                </a:tc>
                <a:tc>
                  <a:txBody>
                    <a:bodyPr/>
                    <a:lstStyle/>
                    <a:p>
                      <a:pPr algn="ctr"/>
                      <a:r>
                        <a:rPr lang="en-US" sz="1200" dirty="0">
                          <a:solidFill>
                            <a:schemeClr val="bg1"/>
                          </a:solidFill>
                        </a:rPr>
                        <a:t>Train Months</a:t>
                      </a:r>
                    </a:p>
                  </a:txBody>
                  <a:tcPr>
                    <a:solidFill>
                      <a:srgbClr val="9986DE"/>
                    </a:solidFill>
                  </a:tcPr>
                </a:tc>
                <a:tc>
                  <a:txBody>
                    <a:bodyPr/>
                    <a:lstStyle/>
                    <a:p>
                      <a:pPr algn="ctr"/>
                      <a:r>
                        <a:rPr lang="en-US" sz="1200" dirty="0">
                          <a:solidFill>
                            <a:schemeClr val="bg1"/>
                          </a:solidFill>
                        </a:rPr>
                        <a:t>Test Months</a:t>
                      </a:r>
                    </a:p>
                  </a:txBody>
                  <a:tcPr>
                    <a:solidFill>
                      <a:srgbClr val="9986DE"/>
                    </a:solidFill>
                  </a:tcPr>
                </a:tc>
                <a:tc>
                  <a:txBody>
                    <a:bodyPr/>
                    <a:lstStyle/>
                    <a:p>
                      <a:pPr algn="ctr"/>
                      <a:r>
                        <a:rPr lang="en-US" sz="1200" dirty="0">
                          <a:solidFill>
                            <a:schemeClr val="bg1"/>
                          </a:solidFill>
                        </a:rPr>
                        <a:t>Train End</a:t>
                      </a:r>
                    </a:p>
                  </a:txBody>
                  <a:tcPr>
                    <a:solidFill>
                      <a:srgbClr val="9986DE"/>
                    </a:solidFill>
                  </a:tcPr>
                </a:tc>
                <a:tc>
                  <a:txBody>
                    <a:bodyPr/>
                    <a:lstStyle/>
                    <a:p>
                      <a:pPr algn="ctr"/>
                      <a:r>
                        <a:rPr lang="en-US" sz="1200" dirty="0">
                          <a:solidFill>
                            <a:schemeClr val="bg1"/>
                          </a:solidFill>
                        </a:rPr>
                        <a:t>Test Start</a:t>
                      </a:r>
                    </a:p>
                  </a:txBody>
                  <a:tcPr>
                    <a:solidFill>
                      <a:srgbClr val="9986DE"/>
                    </a:solidFill>
                  </a:tcPr>
                </a:tc>
                <a:tc>
                  <a:txBody>
                    <a:bodyPr/>
                    <a:lstStyle/>
                    <a:p>
                      <a:pPr algn="ctr"/>
                      <a:r>
                        <a:rPr lang="en-US" sz="1200" dirty="0">
                          <a:solidFill>
                            <a:schemeClr val="bg1"/>
                          </a:solidFill>
                        </a:rPr>
                        <a:t>Seasonal </a:t>
                      </a:r>
                    </a:p>
                  </a:txBody>
                  <a:tcPr>
                    <a:solidFill>
                      <a:srgbClr val="9986DE"/>
                    </a:solidFill>
                  </a:tcPr>
                </a:tc>
                <a:tc>
                  <a:txBody>
                    <a:bodyPr/>
                    <a:lstStyle/>
                    <a:p>
                      <a:pPr algn="ctr"/>
                      <a:r>
                        <a:rPr lang="en-US" sz="1200" dirty="0">
                          <a:solidFill>
                            <a:schemeClr val="bg1"/>
                          </a:solidFill>
                        </a:rPr>
                        <a:t>MAPE</a:t>
                      </a:r>
                    </a:p>
                  </a:txBody>
                  <a:tcPr>
                    <a:solidFill>
                      <a:srgbClr val="9986DE"/>
                    </a:solidFill>
                  </a:tcPr>
                </a:tc>
                <a:extLst>
                  <a:ext uri="{0D108BD9-81ED-4DB2-BD59-A6C34878D82A}">
                    <a16:rowId xmlns:a16="http://schemas.microsoft.com/office/drawing/2014/main" val="2161613585"/>
                  </a:ext>
                </a:extLst>
              </a:tr>
              <a:tr h="39339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tx1">
                              <a:lumMod val="50000"/>
                              <a:lumOff val="50000"/>
                            </a:schemeClr>
                          </a:solidFill>
                        </a:rPr>
                        <a:t>70/30</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50000"/>
                              <a:lumOff val="50000"/>
                            </a:schemeClr>
                          </a:solidFill>
                        </a:rPr>
                        <a:t>33</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50000"/>
                              <a:lumOff val="50000"/>
                            </a:schemeClr>
                          </a:solidFill>
                        </a:rPr>
                        <a:t>15</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50000"/>
                              <a:lumOff val="50000"/>
                            </a:schemeClr>
                          </a:solidFill>
                        </a:rPr>
                        <a:t>2024-09</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50000"/>
                              <a:lumOff val="50000"/>
                            </a:schemeClr>
                          </a:solidFill>
                        </a:rPr>
                        <a:t>2024-10</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50000"/>
                              <a:lumOff val="50000"/>
                            </a:schemeClr>
                          </a:solidFill>
                        </a:rPr>
                        <a:t>(0, 0, 0, 12)</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50000"/>
                              <a:lumOff val="50000"/>
                            </a:schemeClr>
                          </a:solidFill>
                        </a:rPr>
                        <a:t>2,21%</a:t>
                      </a:r>
                    </a:p>
                  </a:txBody>
                  <a:tcPr/>
                </a:tc>
                <a:extLst>
                  <a:ext uri="{0D108BD9-81ED-4DB2-BD59-A6C34878D82A}">
                    <a16:rowId xmlns:a16="http://schemas.microsoft.com/office/drawing/2014/main" val="3183978414"/>
                  </a:ext>
                </a:extLst>
              </a:tr>
              <a:tr h="442471">
                <a:tc>
                  <a:txBody>
                    <a:bodyPr/>
                    <a:lstStyle/>
                    <a:p>
                      <a:r>
                        <a:rPr lang="en-US" sz="1200" b="1" dirty="0">
                          <a:solidFill>
                            <a:schemeClr val="tx1">
                              <a:lumMod val="50000"/>
                              <a:lumOff val="50000"/>
                            </a:schemeClr>
                          </a:solidFill>
                        </a:rPr>
                        <a:t>75/25</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50000"/>
                              <a:lumOff val="50000"/>
                            </a:schemeClr>
                          </a:solidFill>
                        </a:rPr>
                        <a:t>36</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50000"/>
                              <a:lumOff val="50000"/>
                            </a:schemeClr>
                          </a:solidFill>
                        </a:rPr>
                        <a:t>12</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50000"/>
                              <a:lumOff val="50000"/>
                            </a:schemeClr>
                          </a:solidFill>
                        </a:rPr>
                        <a:t>2024-12</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50000"/>
                              <a:lumOff val="50000"/>
                            </a:schemeClr>
                          </a:solidFill>
                        </a:rPr>
                        <a:t>2025-01</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50000"/>
                              <a:lumOff val="50000"/>
                            </a:schemeClr>
                          </a:solidFill>
                        </a:rPr>
                        <a:t>(0, 0, 0, 12)</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50000"/>
                              <a:lumOff val="50000"/>
                            </a:schemeClr>
                          </a:solidFill>
                        </a:rPr>
                        <a:t>5,53%</a:t>
                      </a:r>
                    </a:p>
                  </a:txBody>
                  <a:tcPr/>
                </a:tc>
                <a:extLst>
                  <a:ext uri="{0D108BD9-81ED-4DB2-BD59-A6C34878D82A}">
                    <a16:rowId xmlns:a16="http://schemas.microsoft.com/office/drawing/2014/main" val="1337289616"/>
                  </a:ext>
                </a:extLst>
              </a:tr>
              <a:tr h="346872">
                <a:tc>
                  <a:txBody>
                    <a:bodyPr/>
                    <a:lstStyle/>
                    <a:p>
                      <a:r>
                        <a:rPr lang="en-US" sz="1200" b="1" dirty="0">
                          <a:solidFill>
                            <a:schemeClr val="tx1">
                              <a:lumMod val="50000"/>
                              <a:lumOff val="50000"/>
                            </a:schemeClr>
                          </a:solidFill>
                        </a:rPr>
                        <a:t>80/20</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50000"/>
                              <a:lumOff val="50000"/>
                            </a:schemeClr>
                          </a:solidFill>
                        </a:rPr>
                        <a:t>38</a:t>
                      </a:r>
                    </a:p>
                  </a:txBody>
                  <a:tcPr/>
                </a:tc>
                <a:tc>
                  <a:txBody>
                    <a:bodyPr/>
                    <a:lstStyle/>
                    <a:p>
                      <a:r>
                        <a:rPr lang="en-US" sz="1200" dirty="0">
                          <a:solidFill>
                            <a:schemeClr val="tx1">
                              <a:lumMod val="50000"/>
                              <a:lumOff val="50000"/>
                            </a:schemeClr>
                          </a:solidFill>
                        </a:rPr>
                        <a:t>10</a:t>
                      </a:r>
                    </a:p>
                  </a:txBody>
                  <a:tcPr/>
                </a:tc>
                <a:tc>
                  <a:txBody>
                    <a:bodyPr/>
                    <a:lstStyle/>
                    <a:p>
                      <a:r>
                        <a:rPr lang="en-US" sz="1200" dirty="0">
                          <a:solidFill>
                            <a:schemeClr val="tx1">
                              <a:lumMod val="50000"/>
                              <a:lumOff val="50000"/>
                            </a:schemeClr>
                          </a:solidFill>
                        </a:rPr>
                        <a:t>2025-02</a:t>
                      </a:r>
                    </a:p>
                  </a:txBody>
                  <a:tcPr/>
                </a:tc>
                <a:tc>
                  <a:txBody>
                    <a:bodyPr/>
                    <a:lstStyle/>
                    <a:p>
                      <a:r>
                        <a:rPr lang="en-US" sz="1200" dirty="0">
                          <a:solidFill>
                            <a:schemeClr val="tx1">
                              <a:lumMod val="50000"/>
                              <a:lumOff val="50000"/>
                            </a:schemeClr>
                          </a:solidFill>
                        </a:rPr>
                        <a:t>2025-03</a:t>
                      </a:r>
                    </a:p>
                  </a:txBody>
                  <a:tcPr/>
                </a:tc>
                <a:tc>
                  <a:txBody>
                    <a:bodyPr/>
                    <a:lstStyle/>
                    <a:p>
                      <a:r>
                        <a:rPr lang="en-US" sz="1200" dirty="0">
                          <a:solidFill>
                            <a:schemeClr val="tx1">
                              <a:lumMod val="50000"/>
                              <a:lumOff val="50000"/>
                            </a:schemeClr>
                          </a:solidFill>
                        </a:rPr>
                        <a:t>(0, 0, 0, 12)</a:t>
                      </a:r>
                    </a:p>
                  </a:txBody>
                  <a:tcPr/>
                </a:tc>
                <a:tc>
                  <a:txBody>
                    <a:bodyPr/>
                    <a:lstStyle/>
                    <a:p>
                      <a:r>
                        <a:rPr lang="en-US" sz="1200" dirty="0">
                          <a:solidFill>
                            <a:schemeClr val="tx1">
                              <a:lumMod val="50000"/>
                              <a:lumOff val="50000"/>
                            </a:schemeClr>
                          </a:solidFill>
                        </a:rPr>
                        <a:t>2,64%</a:t>
                      </a:r>
                    </a:p>
                  </a:txBody>
                  <a:tcPr/>
                </a:tc>
                <a:extLst>
                  <a:ext uri="{0D108BD9-81ED-4DB2-BD59-A6C34878D82A}">
                    <a16:rowId xmlns:a16="http://schemas.microsoft.com/office/drawing/2014/main" val="1010902385"/>
                  </a:ext>
                </a:extLst>
              </a:tr>
              <a:tr h="346872">
                <a:tc>
                  <a:txBody>
                    <a:bodyPr/>
                    <a:lstStyle/>
                    <a:p>
                      <a:r>
                        <a:rPr lang="en-US" sz="1200" b="1" dirty="0">
                          <a:solidFill>
                            <a:srgbClr val="7F7F7F"/>
                          </a:solidFill>
                        </a:rPr>
                        <a:t>85/15</a:t>
                      </a:r>
                    </a:p>
                  </a:txBody>
                  <a:tcPr>
                    <a:solidFill>
                      <a:srgbClr val="C9BEEA"/>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7F7F7F"/>
                          </a:solidFill>
                        </a:rPr>
                        <a:t>40</a:t>
                      </a:r>
                    </a:p>
                  </a:txBody>
                  <a:tcPr>
                    <a:solidFill>
                      <a:srgbClr val="C9BEEA"/>
                    </a:solidFill>
                  </a:tcPr>
                </a:tc>
                <a:tc>
                  <a:txBody>
                    <a:bodyPr/>
                    <a:lstStyle/>
                    <a:p>
                      <a:r>
                        <a:rPr lang="en-US" sz="1200" b="1" dirty="0">
                          <a:solidFill>
                            <a:srgbClr val="7F7F7F"/>
                          </a:solidFill>
                        </a:rPr>
                        <a:t>8</a:t>
                      </a:r>
                    </a:p>
                  </a:txBody>
                  <a:tcPr>
                    <a:solidFill>
                      <a:srgbClr val="C9BEEA"/>
                    </a:solidFill>
                  </a:tcPr>
                </a:tc>
                <a:tc>
                  <a:txBody>
                    <a:bodyPr/>
                    <a:lstStyle/>
                    <a:p>
                      <a:r>
                        <a:rPr lang="en-US" sz="1200" b="1" dirty="0">
                          <a:solidFill>
                            <a:srgbClr val="7F7F7F"/>
                          </a:solidFill>
                        </a:rPr>
                        <a:t>2025-04</a:t>
                      </a:r>
                    </a:p>
                  </a:txBody>
                  <a:tcPr>
                    <a:solidFill>
                      <a:srgbClr val="C9BEEA"/>
                    </a:solidFill>
                  </a:tcPr>
                </a:tc>
                <a:tc>
                  <a:txBody>
                    <a:bodyPr/>
                    <a:lstStyle/>
                    <a:p>
                      <a:r>
                        <a:rPr lang="en-US" sz="1200" b="1" dirty="0">
                          <a:solidFill>
                            <a:srgbClr val="7F7F7F"/>
                          </a:solidFill>
                        </a:rPr>
                        <a:t>2025-05</a:t>
                      </a:r>
                    </a:p>
                  </a:txBody>
                  <a:tcPr>
                    <a:solidFill>
                      <a:srgbClr val="C9BEEA"/>
                    </a:solidFill>
                  </a:tcPr>
                </a:tc>
                <a:tc>
                  <a:txBody>
                    <a:bodyPr/>
                    <a:lstStyle/>
                    <a:p>
                      <a:r>
                        <a:rPr lang="en-US" sz="1200" b="1" dirty="0">
                          <a:solidFill>
                            <a:srgbClr val="7F7F7F"/>
                          </a:solidFill>
                        </a:rPr>
                        <a:t>(0, 0, 1, 12)</a:t>
                      </a:r>
                    </a:p>
                  </a:txBody>
                  <a:tcPr>
                    <a:solidFill>
                      <a:srgbClr val="C9BEEA"/>
                    </a:solidFill>
                  </a:tcPr>
                </a:tc>
                <a:tc>
                  <a:txBody>
                    <a:bodyPr/>
                    <a:lstStyle/>
                    <a:p>
                      <a:r>
                        <a:rPr lang="en-US" sz="1200" b="1" dirty="0">
                          <a:solidFill>
                            <a:srgbClr val="7F7F7F"/>
                          </a:solidFill>
                        </a:rPr>
                        <a:t>4,22%</a:t>
                      </a:r>
                    </a:p>
                  </a:txBody>
                  <a:tcPr>
                    <a:solidFill>
                      <a:srgbClr val="C9BEEA"/>
                    </a:solidFill>
                  </a:tcPr>
                </a:tc>
                <a:extLst>
                  <a:ext uri="{0D108BD9-81ED-4DB2-BD59-A6C34878D82A}">
                    <a16:rowId xmlns:a16="http://schemas.microsoft.com/office/drawing/2014/main" val="3616747884"/>
                  </a:ext>
                </a:extLst>
              </a:tr>
              <a:tr h="346872">
                <a:tc>
                  <a:txBody>
                    <a:bodyPr/>
                    <a:lstStyle/>
                    <a:p>
                      <a:r>
                        <a:rPr lang="en-US" sz="1200" b="1" dirty="0">
                          <a:solidFill>
                            <a:schemeClr val="tx1">
                              <a:lumMod val="50000"/>
                              <a:lumOff val="50000"/>
                            </a:schemeClr>
                          </a:solidFill>
                        </a:rPr>
                        <a:t>90/10</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50000"/>
                              <a:lumOff val="50000"/>
                            </a:schemeClr>
                          </a:solidFill>
                        </a:rPr>
                        <a:t>43</a:t>
                      </a:r>
                    </a:p>
                  </a:txBody>
                  <a:tcPr/>
                </a:tc>
                <a:tc>
                  <a:txBody>
                    <a:bodyPr/>
                    <a:lstStyle/>
                    <a:p>
                      <a:r>
                        <a:rPr lang="en-US" sz="1200" dirty="0">
                          <a:solidFill>
                            <a:schemeClr val="tx1">
                              <a:lumMod val="50000"/>
                              <a:lumOff val="50000"/>
                            </a:schemeClr>
                          </a:solidFill>
                        </a:rPr>
                        <a:t>5</a:t>
                      </a:r>
                    </a:p>
                  </a:txBody>
                  <a:tcPr/>
                </a:tc>
                <a:tc>
                  <a:txBody>
                    <a:bodyPr/>
                    <a:lstStyle/>
                    <a:p>
                      <a:r>
                        <a:rPr lang="en-US" sz="1200" dirty="0">
                          <a:solidFill>
                            <a:schemeClr val="tx1">
                              <a:lumMod val="50000"/>
                              <a:lumOff val="50000"/>
                            </a:schemeClr>
                          </a:solidFill>
                        </a:rPr>
                        <a:t>2025-07</a:t>
                      </a:r>
                    </a:p>
                  </a:txBody>
                  <a:tcPr/>
                </a:tc>
                <a:tc>
                  <a:txBody>
                    <a:bodyPr/>
                    <a:lstStyle/>
                    <a:p>
                      <a:r>
                        <a:rPr lang="en-US" sz="1200" dirty="0">
                          <a:solidFill>
                            <a:schemeClr val="tx1">
                              <a:lumMod val="50000"/>
                              <a:lumOff val="50000"/>
                            </a:schemeClr>
                          </a:solidFill>
                        </a:rPr>
                        <a:t>2025-08</a:t>
                      </a:r>
                    </a:p>
                  </a:txBody>
                  <a:tcPr/>
                </a:tc>
                <a:tc>
                  <a:txBody>
                    <a:bodyPr/>
                    <a:lstStyle/>
                    <a:p>
                      <a:r>
                        <a:rPr lang="en-US" sz="1200" dirty="0">
                          <a:solidFill>
                            <a:schemeClr val="tx1">
                              <a:lumMod val="50000"/>
                              <a:lumOff val="50000"/>
                            </a:schemeClr>
                          </a:solidFill>
                        </a:rPr>
                        <a:t>(0, 0, 1, 12)</a:t>
                      </a:r>
                    </a:p>
                  </a:txBody>
                  <a:tcPr/>
                </a:tc>
                <a:tc>
                  <a:txBody>
                    <a:bodyPr/>
                    <a:lstStyle/>
                    <a:p>
                      <a:r>
                        <a:rPr lang="en-US" sz="1200" dirty="0">
                          <a:solidFill>
                            <a:schemeClr val="tx1">
                              <a:lumMod val="50000"/>
                              <a:lumOff val="50000"/>
                            </a:schemeClr>
                          </a:solidFill>
                        </a:rPr>
                        <a:t>2,40%</a:t>
                      </a:r>
                    </a:p>
                  </a:txBody>
                  <a:tcPr/>
                </a:tc>
                <a:extLst>
                  <a:ext uri="{0D108BD9-81ED-4DB2-BD59-A6C34878D82A}">
                    <a16:rowId xmlns:a16="http://schemas.microsoft.com/office/drawing/2014/main" val="1792880980"/>
                  </a:ext>
                </a:extLst>
              </a:tr>
            </a:tbl>
          </a:graphicData>
        </a:graphic>
      </p:graphicFrame>
      <p:pic>
        <p:nvPicPr>
          <p:cNvPr id="13" name="Copied Picture 13">
            <a:extLst>
              <a:ext uri="{FF2B5EF4-FFF2-40B4-BE49-F238E27FC236}">
                <a16:creationId xmlns:a16="http://schemas.microsoft.com/office/drawing/2014/main" id="{098C5A1E-651C-798D-5D81-541A1CCCDFF3}"/>
              </a:ext>
            </a:extLst>
          </p:cNvPr>
          <p:cNvPicPr>
            <a:picLocks noChangeAspect="1"/>
          </p:cNvPicPr>
          <p:nvPr/>
        </p:nvPicPr>
        <p:blipFill>
          <a:blip r:embed="rId3"/>
          <a:stretch/>
        </p:blipFill>
        <p:spPr>
          <a:xfrm>
            <a:off x="7901259" y="101600"/>
            <a:ext cx="1141141" cy="753153"/>
          </a:xfrm>
          <a:prstGeom prst="rect">
            <a:avLst/>
          </a:prstGeom>
        </p:spPr>
      </p:pic>
      <p:sp>
        <p:nvSpPr>
          <p:cNvPr id="4" name="Shape 3">
            <a:extLst>
              <a:ext uri="{FF2B5EF4-FFF2-40B4-BE49-F238E27FC236}">
                <a16:creationId xmlns:a16="http://schemas.microsoft.com/office/drawing/2014/main" id="{8214CB30-6B80-A768-8759-5F7C611574F2}"/>
              </a:ext>
            </a:extLst>
          </p:cNvPr>
          <p:cNvSpPr/>
          <p:nvPr/>
        </p:nvSpPr>
        <p:spPr>
          <a:xfrm>
            <a:off x="188162" y="3092747"/>
            <a:ext cx="5464494" cy="1827233"/>
          </a:xfrm>
          <a:prstGeom prst="roundRect">
            <a:avLst>
              <a:gd name="adj" fmla="val 3279"/>
            </a:avLst>
          </a:prstGeom>
          <a:solidFill>
            <a:srgbClr val="FFFFFF"/>
          </a:solidFill>
          <a:ln/>
          <a:effectLst>
            <a:outerShdw blurRad="88900" dist="38100" dir="5400000" algn="bl" rotWithShape="0">
              <a:srgbClr val="1A0F40">
                <a:alpha val="35000"/>
              </a:srgbClr>
            </a:outerShdw>
          </a:effectLst>
        </p:spPr>
        <p:txBody>
          <a:bodyPr/>
          <a:lstStyle/>
          <a:p>
            <a:endParaRPr lang="en-US" dirty="0"/>
          </a:p>
        </p:txBody>
      </p:sp>
      <p:sp>
        <p:nvSpPr>
          <p:cNvPr id="5" name="Text 4">
            <a:extLst>
              <a:ext uri="{FF2B5EF4-FFF2-40B4-BE49-F238E27FC236}">
                <a16:creationId xmlns:a16="http://schemas.microsoft.com/office/drawing/2014/main" id="{28728FE7-5250-6FCB-4D5E-D9D4B613F83E}"/>
              </a:ext>
            </a:extLst>
          </p:cNvPr>
          <p:cNvSpPr/>
          <p:nvPr/>
        </p:nvSpPr>
        <p:spPr>
          <a:xfrm>
            <a:off x="334587" y="3138089"/>
            <a:ext cx="5219826" cy="1767953"/>
          </a:xfrm>
          <a:prstGeom prst="rect">
            <a:avLst/>
          </a:prstGeom>
          <a:noFill/>
          <a:ln/>
        </p:spPr>
        <p:txBody>
          <a:bodyPr wrap="square" lIns="0" tIns="0" rIns="0" bIns="0" rtlCol="0" anchor="t"/>
          <a:lstStyle/>
          <a:p>
            <a:pPr marL="0" indent="0">
              <a:lnSpc>
                <a:spcPct val="108000"/>
              </a:lnSpc>
              <a:spcAft>
                <a:spcPts val="400"/>
              </a:spcAft>
              <a:buNone/>
            </a:pPr>
            <a:r>
              <a:rPr lang="en-US" sz="970" b="1" dirty="0">
                <a:solidFill>
                  <a:srgbClr val="2D1B69"/>
                </a:solidFill>
                <a:latin typeface="Calibri" pitchFamily="34" charset="0"/>
                <a:ea typeface="Calibri" pitchFamily="34" charset="-122"/>
                <a:cs typeface="Calibri" pitchFamily="34" charset="-120"/>
              </a:rPr>
              <a:t>Split Ratio Selection Summary</a:t>
            </a:r>
            <a:endParaRPr lang="en-US" sz="970" dirty="0"/>
          </a:p>
          <a:p>
            <a:pPr algn="just">
              <a:lnSpc>
                <a:spcPct val="108000"/>
              </a:lnSpc>
              <a:spcAft>
                <a:spcPts val="400"/>
              </a:spcAft>
            </a:pPr>
            <a:r>
              <a:rPr lang="en-US" sz="970" dirty="0">
                <a:solidFill>
                  <a:srgbClr val="3A3A4A"/>
                </a:solidFill>
                <a:latin typeface="Calibri" pitchFamily="34" charset="0"/>
                <a:ea typeface="Calibri" pitchFamily="34" charset="-122"/>
                <a:cs typeface="Calibri" pitchFamily="34" charset="-120"/>
              </a:rPr>
              <a:t>70/30, 75/25, and 80/20 </a:t>
            </a:r>
            <a:r>
              <a:rPr lang="en-US" sz="970" b="1" dirty="0">
                <a:solidFill>
                  <a:srgbClr val="3A3A4A"/>
                </a:solidFill>
                <a:latin typeface="Calibri" pitchFamily="34" charset="0"/>
                <a:ea typeface="Calibri" pitchFamily="34" charset="-122"/>
                <a:cs typeface="Calibri" pitchFamily="34" charset="-120"/>
              </a:rPr>
              <a:t>all settled into a non-seasonal </a:t>
            </a:r>
            <a:r>
              <a:rPr lang="en-US" sz="970" dirty="0">
                <a:solidFill>
                  <a:srgbClr val="3A3A4A"/>
                </a:solidFill>
                <a:latin typeface="Calibri" pitchFamily="34" charset="0"/>
                <a:ea typeface="Calibri" pitchFamily="34" charset="-122"/>
                <a:cs typeface="Calibri" pitchFamily="34" charset="-120"/>
              </a:rPr>
              <a:t>(0,0,0,12) fit. Their MAPE looks competitive, but a model that dropped seasonality means it stopped trying to capture the yearly egg price cycle at all. Only two splits (85/15 and 90/10) kept the seasonal pattern in the model. 90/10 shows the lowest error (2.40%), but </a:t>
            </a:r>
            <a:r>
              <a:rPr lang="en-US" sz="970" b="1" dirty="0">
                <a:solidFill>
                  <a:srgbClr val="3A3A4A"/>
                </a:solidFill>
                <a:latin typeface="Calibri" pitchFamily="34" charset="0"/>
                <a:ea typeface="Calibri" pitchFamily="34" charset="-122"/>
                <a:cs typeface="Calibri" pitchFamily="34" charset="-120"/>
              </a:rPr>
              <a:t>its test window is only 5 months long.</a:t>
            </a:r>
            <a:r>
              <a:rPr lang="en-US" sz="970" dirty="0">
                <a:solidFill>
                  <a:srgbClr val="3A3A4A"/>
                </a:solidFill>
                <a:latin typeface="Calibri" pitchFamily="34" charset="0"/>
                <a:ea typeface="Calibri" pitchFamily="34" charset="-122"/>
                <a:cs typeface="Calibri" pitchFamily="34" charset="-120"/>
              </a:rPr>
              <a:t> 6 months is the minimum needed for a fair test, so that low number is more likely luck than a true reflection of how well the model performs.</a:t>
            </a:r>
          </a:p>
          <a:p>
            <a:pPr algn="just">
              <a:lnSpc>
                <a:spcPct val="108000"/>
              </a:lnSpc>
              <a:spcAft>
                <a:spcPts val="400"/>
              </a:spcAft>
            </a:pPr>
            <a:r>
              <a:rPr lang="en-US" sz="970" b="1" dirty="0">
                <a:solidFill>
                  <a:srgbClr val="2D1B69"/>
                </a:solidFill>
                <a:latin typeface="Calibri" pitchFamily="34" charset="0"/>
                <a:ea typeface="Calibri" pitchFamily="34" charset="-122"/>
                <a:cs typeface="Calibri" pitchFamily="34" charset="-120"/>
              </a:rPr>
              <a:t>Selected: 85/15</a:t>
            </a:r>
          </a:p>
          <a:p>
            <a:pPr algn="just">
              <a:lnSpc>
                <a:spcPct val="108000"/>
              </a:lnSpc>
            </a:pPr>
            <a:r>
              <a:rPr lang="en-US" sz="970" b="1" dirty="0">
                <a:solidFill>
                  <a:srgbClr val="3A3A4A"/>
                </a:solidFill>
                <a:latin typeface="Calibri" pitchFamily="34" charset="0"/>
                <a:ea typeface="Calibri" pitchFamily="34" charset="-122"/>
                <a:cs typeface="Calibri" pitchFamily="34" charset="-120"/>
              </a:rPr>
              <a:t>40 training months and an 8-month test window is long enough to hold up </a:t>
            </a:r>
            <a:r>
              <a:rPr lang="en-US" sz="970" dirty="0">
                <a:solidFill>
                  <a:srgbClr val="3A3A4A"/>
                </a:solidFill>
                <a:latin typeface="Calibri" pitchFamily="34" charset="0"/>
                <a:ea typeface="Calibri" pitchFamily="34" charset="-122"/>
                <a:cs typeface="Calibri" pitchFamily="34" charset="-120"/>
              </a:rPr>
              <a:t>and still confirms a genuine seasonal SARIMA fit. Its 4.22% MAPE is higher than 90/10’s, but it’s the honest number, earned by proving seasonality rather than by a lucky window.</a:t>
            </a:r>
          </a:p>
        </p:txBody>
      </p:sp>
      <p:sp>
        <p:nvSpPr>
          <p:cNvPr id="7" name="Shape 3">
            <a:extLst>
              <a:ext uri="{FF2B5EF4-FFF2-40B4-BE49-F238E27FC236}">
                <a16:creationId xmlns:a16="http://schemas.microsoft.com/office/drawing/2014/main" id="{488827BD-6336-9993-601D-BFF2469FEE35}"/>
              </a:ext>
            </a:extLst>
          </p:cNvPr>
          <p:cNvSpPr/>
          <p:nvPr/>
        </p:nvSpPr>
        <p:spPr>
          <a:xfrm>
            <a:off x="5756065" y="3554733"/>
            <a:ext cx="3235535" cy="1175964"/>
          </a:xfrm>
          <a:prstGeom prst="roundRect">
            <a:avLst>
              <a:gd name="adj" fmla="val 3279"/>
            </a:avLst>
          </a:prstGeom>
          <a:solidFill>
            <a:srgbClr val="FFFFFF"/>
          </a:solidFill>
          <a:ln/>
          <a:effectLst>
            <a:outerShdw blurRad="88900" dist="38100" dir="5400000" algn="bl" rotWithShape="0">
              <a:srgbClr val="1A0F40">
                <a:alpha val="35000"/>
              </a:srgbClr>
            </a:outerShdw>
          </a:effectLst>
        </p:spPr>
        <p:txBody>
          <a:bodyPr/>
          <a:lstStyle/>
          <a:p>
            <a:endParaRPr lang="en-US" dirty="0"/>
          </a:p>
        </p:txBody>
      </p:sp>
      <p:sp>
        <p:nvSpPr>
          <p:cNvPr id="8" name="Text 4">
            <a:extLst>
              <a:ext uri="{FF2B5EF4-FFF2-40B4-BE49-F238E27FC236}">
                <a16:creationId xmlns:a16="http://schemas.microsoft.com/office/drawing/2014/main" id="{0262D01A-2504-61B3-9D9A-5184BA820F5D}"/>
              </a:ext>
            </a:extLst>
          </p:cNvPr>
          <p:cNvSpPr/>
          <p:nvPr/>
        </p:nvSpPr>
        <p:spPr>
          <a:xfrm>
            <a:off x="5823452" y="3600075"/>
            <a:ext cx="3132387" cy="1070506"/>
          </a:xfrm>
          <a:prstGeom prst="rect">
            <a:avLst/>
          </a:prstGeom>
          <a:noFill/>
          <a:ln/>
        </p:spPr>
        <p:txBody>
          <a:bodyPr wrap="square" lIns="0" tIns="0" rIns="0" bIns="0" rtlCol="0" anchor="t"/>
          <a:lstStyle/>
          <a:p>
            <a:pPr marL="0" indent="0">
              <a:lnSpc>
                <a:spcPct val="108000"/>
              </a:lnSpc>
              <a:spcAft>
                <a:spcPts val="400"/>
              </a:spcAft>
              <a:buNone/>
            </a:pPr>
            <a:r>
              <a:rPr lang="en-US" sz="970" b="1" dirty="0">
                <a:solidFill>
                  <a:srgbClr val="2D1B69"/>
                </a:solidFill>
                <a:latin typeface="Calibri" pitchFamily="34" charset="0"/>
                <a:cs typeface="Calibri" pitchFamily="34" charset="-120"/>
              </a:rPr>
              <a:t>Stationarity Test</a:t>
            </a:r>
            <a:endParaRPr lang="en-US" sz="970" b="1" dirty="0">
              <a:solidFill>
                <a:srgbClr val="2D1B69"/>
              </a:solidFill>
              <a:latin typeface="Calibri" pitchFamily="34" charset="0"/>
              <a:ea typeface="Calibri" pitchFamily="34" charset="-122"/>
              <a:cs typeface="Calibri" pitchFamily="34" charset="-120"/>
            </a:endParaRPr>
          </a:p>
          <a:p>
            <a:pPr algn="just">
              <a:lnSpc>
                <a:spcPct val="108000"/>
              </a:lnSpc>
            </a:pPr>
            <a:r>
              <a:rPr lang="en-US" sz="970" dirty="0">
                <a:solidFill>
                  <a:srgbClr val="3A3A4A"/>
                </a:solidFill>
                <a:latin typeface="Calibri" pitchFamily="34" charset="0"/>
                <a:ea typeface="Calibri" pitchFamily="34" charset="-122"/>
                <a:cs typeface="Calibri" pitchFamily="34" charset="-120"/>
              </a:rPr>
              <a:t>ADF test on the training data: p = 0.0436 which shows borderline </a:t>
            </a:r>
            <a:r>
              <a:rPr lang="en-US" sz="970" b="1" dirty="0">
                <a:solidFill>
                  <a:srgbClr val="3A3A4A"/>
                </a:solidFill>
                <a:latin typeface="Calibri" pitchFamily="34" charset="0"/>
                <a:ea typeface="Calibri" pitchFamily="34" charset="-122"/>
                <a:cs typeface="Calibri" pitchFamily="34" charset="-120"/>
              </a:rPr>
              <a:t>stationary</a:t>
            </a:r>
            <a:r>
              <a:rPr lang="en-US" sz="970" dirty="0">
                <a:solidFill>
                  <a:srgbClr val="3A3A4A"/>
                </a:solidFill>
                <a:latin typeface="Calibri" pitchFamily="34" charset="0"/>
                <a:ea typeface="Calibri" pitchFamily="34" charset="-122"/>
                <a:cs typeface="Calibri" pitchFamily="34" charset="-120"/>
              </a:rPr>
              <a:t>.</a:t>
            </a:r>
          </a:p>
          <a:p>
            <a:pPr algn="just">
              <a:lnSpc>
                <a:spcPct val="108000"/>
              </a:lnSpc>
            </a:pPr>
            <a:endParaRPr lang="en-US" sz="970" dirty="0">
              <a:solidFill>
                <a:srgbClr val="3A3A4A"/>
              </a:solidFill>
              <a:latin typeface="Calibri" pitchFamily="34" charset="0"/>
              <a:ea typeface="Calibri" pitchFamily="34" charset="-122"/>
              <a:cs typeface="Calibri" pitchFamily="34" charset="-120"/>
            </a:endParaRPr>
          </a:p>
          <a:p>
            <a:pPr algn="just">
              <a:lnSpc>
                <a:spcPct val="108000"/>
              </a:lnSpc>
            </a:pPr>
            <a:r>
              <a:rPr lang="en-US" sz="970" dirty="0">
                <a:solidFill>
                  <a:srgbClr val="3A3A4A"/>
                </a:solidFill>
                <a:latin typeface="Calibri" pitchFamily="34" charset="0"/>
                <a:ea typeface="Calibri" pitchFamily="34" charset="-122"/>
                <a:cs typeface="Calibri" pitchFamily="34" charset="-120"/>
              </a:rPr>
              <a:t>2023 shock motivated regime-aware modeling over a single fixed-parameter approach.</a:t>
            </a:r>
          </a:p>
        </p:txBody>
      </p:sp>
    </p:spTree>
    <p:extLst>
      <p:ext uri="{BB962C8B-B14F-4D97-AF65-F5344CB8AC3E}">
        <p14:creationId xmlns:p14="http://schemas.microsoft.com/office/powerpoint/2010/main" val="40858147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a:extLst>
            <a:ext uri="{FF2B5EF4-FFF2-40B4-BE49-F238E27FC236}">
              <a16:creationId xmlns:a16="http://schemas.microsoft.com/office/drawing/2014/main" id="{2C7C7FEB-772B-29BD-1A02-87DF86430A3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6C1B519-D8F4-59CD-9053-628E37F8EB2F}"/>
              </a:ext>
            </a:extLst>
          </p:cNvPr>
          <p:cNvSpPr/>
          <p:nvPr/>
        </p:nvSpPr>
        <p:spPr>
          <a:xfrm>
            <a:off x="367608" y="27680"/>
            <a:ext cx="8474825" cy="64008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Model Comparison</a:t>
            </a:r>
            <a:endParaRPr lang="en-US" sz="3000" dirty="0"/>
          </a:p>
        </p:txBody>
      </p:sp>
      <p:graphicFrame>
        <p:nvGraphicFramePr>
          <p:cNvPr id="3" name="Table 2">
            <a:extLst>
              <a:ext uri="{FF2B5EF4-FFF2-40B4-BE49-F238E27FC236}">
                <a16:creationId xmlns:a16="http://schemas.microsoft.com/office/drawing/2014/main" id="{141EEBCB-2E11-AEEA-88E7-C28D4A923B7A}"/>
              </a:ext>
            </a:extLst>
          </p:cNvPr>
          <p:cNvGraphicFramePr>
            <a:graphicFrameLocks noGrp="1"/>
          </p:cNvGraphicFramePr>
          <p:nvPr>
            <p:extLst>
              <p:ext uri="{D42A27DB-BD31-4B8C-83A1-F6EECF244321}">
                <p14:modId xmlns:p14="http://schemas.microsoft.com/office/powerpoint/2010/main" val="4280394039"/>
              </p:ext>
            </p:extLst>
          </p:nvPr>
        </p:nvGraphicFramePr>
        <p:xfrm>
          <a:off x="1173023" y="736615"/>
          <a:ext cx="6923151" cy="2266665"/>
        </p:xfrm>
        <a:graphic>
          <a:graphicData uri="http://schemas.openxmlformats.org/drawingml/2006/table">
            <a:tbl>
              <a:tblPr firstRow="1" bandRow="1">
                <a:tableStyleId>{5C22544A-7EE6-4342-B048-85BDC9FD1C3A}</a:tableStyleId>
              </a:tblPr>
              <a:tblGrid>
                <a:gridCol w="2012634">
                  <a:extLst>
                    <a:ext uri="{9D8B030D-6E8A-4147-A177-3AD203B41FA5}">
                      <a16:colId xmlns:a16="http://schemas.microsoft.com/office/drawing/2014/main" val="433491110"/>
                    </a:ext>
                  </a:extLst>
                </a:gridCol>
                <a:gridCol w="696450">
                  <a:extLst>
                    <a:ext uri="{9D8B030D-6E8A-4147-A177-3AD203B41FA5}">
                      <a16:colId xmlns:a16="http://schemas.microsoft.com/office/drawing/2014/main" val="1659422454"/>
                    </a:ext>
                  </a:extLst>
                </a:gridCol>
                <a:gridCol w="4214067">
                  <a:extLst>
                    <a:ext uri="{9D8B030D-6E8A-4147-A177-3AD203B41FA5}">
                      <a16:colId xmlns:a16="http://schemas.microsoft.com/office/drawing/2014/main" val="798899558"/>
                    </a:ext>
                  </a:extLst>
                </a:gridCol>
              </a:tblGrid>
              <a:tr h="276026">
                <a:tc>
                  <a:txBody>
                    <a:bodyPr/>
                    <a:lstStyle/>
                    <a:p>
                      <a:pPr algn="ctr"/>
                      <a:r>
                        <a:rPr lang="en-US" sz="1100" dirty="0">
                          <a:solidFill>
                            <a:schemeClr val="bg1"/>
                          </a:solidFill>
                        </a:rPr>
                        <a:t>Model</a:t>
                      </a:r>
                    </a:p>
                  </a:txBody>
                  <a:tcPr>
                    <a:solidFill>
                      <a:srgbClr val="9986DE"/>
                    </a:solidFill>
                  </a:tcPr>
                </a:tc>
                <a:tc>
                  <a:txBody>
                    <a:bodyPr/>
                    <a:lstStyle/>
                    <a:p>
                      <a:pPr algn="ctr"/>
                      <a:r>
                        <a:rPr lang="en-US" sz="1100" dirty="0">
                          <a:solidFill>
                            <a:schemeClr val="bg1"/>
                          </a:solidFill>
                        </a:rPr>
                        <a:t>MAPE</a:t>
                      </a:r>
                    </a:p>
                  </a:txBody>
                  <a:tcPr>
                    <a:solidFill>
                      <a:srgbClr val="9986DE"/>
                    </a:solidFill>
                  </a:tcPr>
                </a:tc>
                <a:tc>
                  <a:txBody>
                    <a:bodyPr/>
                    <a:lstStyle/>
                    <a:p>
                      <a:pPr algn="ctr"/>
                      <a:r>
                        <a:rPr lang="en-US" sz="1100">
                          <a:solidFill>
                            <a:schemeClr val="bg1"/>
                          </a:solidFill>
                        </a:rPr>
                        <a:t>Notes</a:t>
                      </a:r>
                    </a:p>
                  </a:txBody>
                  <a:tcPr>
                    <a:solidFill>
                      <a:srgbClr val="9986DE"/>
                    </a:solidFill>
                  </a:tcPr>
                </a:tc>
                <a:extLst>
                  <a:ext uri="{0D108BD9-81ED-4DB2-BD59-A6C34878D82A}">
                    <a16:rowId xmlns:a16="http://schemas.microsoft.com/office/drawing/2014/main" val="2161613585"/>
                  </a:ext>
                </a:extLst>
              </a:tr>
              <a:tr h="26851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1" dirty="0">
                          <a:solidFill>
                            <a:schemeClr val="tx1">
                              <a:lumMod val="50000"/>
                              <a:lumOff val="50000"/>
                            </a:schemeClr>
                          </a:solidFill>
                        </a:rPr>
                        <a:t>Baseline (MA-3)</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tx1">
                              <a:lumMod val="50000"/>
                              <a:lumOff val="50000"/>
                            </a:schemeClr>
                          </a:solidFill>
                        </a:rPr>
                        <a:t>1,63%</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tx1">
                              <a:lumMod val="50000"/>
                              <a:lumOff val="50000"/>
                            </a:schemeClr>
                          </a:solidFill>
                        </a:rPr>
                        <a:t>Simple moving-average benchmark</a:t>
                      </a:r>
                    </a:p>
                  </a:txBody>
                  <a:tcPr/>
                </a:tc>
                <a:extLst>
                  <a:ext uri="{0D108BD9-81ED-4DB2-BD59-A6C34878D82A}">
                    <a16:rowId xmlns:a16="http://schemas.microsoft.com/office/drawing/2014/main" val="3183978414"/>
                  </a:ext>
                </a:extLst>
              </a:tr>
              <a:tr h="228467">
                <a:tc>
                  <a:txBody>
                    <a:bodyPr/>
                    <a:lstStyle/>
                    <a:p>
                      <a:r>
                        <a:rPr lang="en-US" sz="1100" b="1" dirty="0">
                          <a:solidFill>
                            <a:schemeClr val="tx1">
                              <a:lumMod val="50000"/>
                              <a:lumOff val="50000"/>
                            </a:schemeClr>
                          </a:solidFill>
                        </a:rPr>
                        <a:t>SES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tx1">
                              <a:lumMod val="50000"/>
                              <a:lumOff val="50000"/>
                            </a:schemeClr>
                          </a:solidFill>
                        </a:rPr>
                        <a:t>2,24%</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tx1">
                              <a:lumMod val="50000"/>
                              <a:lumOff val="50000"/>
                            </a:schemeClr>
                          </a:solidFill>
                        </a:rPr>
                        <a:t>Best simple statistical model. Tracks recent price level closely</a:t>
                      </a:r>
                    </a:p>
                  </a:txBody>
                  <a:tcPr/>
                </a:tc>
                <a:extLst>
                  <a:ext uri="{0D108BD9-81ED-4DB2-BD59-A6C34878D82A}">
                    <a16:rowId xmlns:a16="http://schemas.microsoft.com/office/drawing/2014/main" val="1337289616"/>
                  </a:ext>
                </a:extLst>
              </a:tr>
              <a:tr h="256428">
                <a:tc>
                  <a:txBody>
                    <a:bodyPr/>
                    <a:lstStyle/>
                    <a:p>
                      <a:r>
                        <a:rPr lang="en-US" sz="1100" b="1" dirty="0">
                          <a:solidFill>
                            <a:schemeClr val="tx1">
                              <a:lumMod val="50000"/>
                              <a:lumOff val="50000"/>
                            </a:schemeClr>
                          </a:solidFill>
                        </a:rPr>
                        <a:t>SARIMA (standard)</a:t>
                      </a:r>
                    </a:p>
                  </a:txBody>
                  <a:tcPr/>
                </a:tc>
                <a:tc>
                  <a:txBody>
                    <a:bodyPr/>
                    <a:lstStyle/>
                    <a:p>
                      <a:r>
                        <a:rPr lang="en-US" sz="1100" dirty="0">
                          <a:solidFill>
                            <a:schemeClr val="tx1">
                              <a:lumMod val="50000"/>
                              <a:lumOff val="50000"/>
                            </a:schemeClr>
                          </a:solidFill>
                        </a:rPr>
                        <a:t>4,22%</a:t>
                      </a:r>
                    </a:p>
                  </a:txBody>
                  <a:tcPr/>
                </a:tc>
                <a:tc>
                  <a:txBody>
                    <a:bodyPr/>
                    <a:lstStyle/>
                    <a:p>
                      <a:r>
                        <a:rPr lang="en-US" sz="1100" dirty="0">
                          <a:solidFill>
                            <a:schemeClr val="tx1">
                              <a:lumMod val="50000"/>
                              <a:lumOff val="50000"/>
                            </a:schemeClr>
                          </a:solidFill>
                        </a:rPr>
                        <a:t>Fits one pattern to the whole series, missing the 2023 regime shift</a:t>
                      </a:r>
                    </a:p>
                  </a:txBody>
                  <a:tcPr/>
                </a:tc>
                <a:extLst>
                  <a:ext uri="{0D108BD9-81ED-4DB2-BD59-A6C34878D82A}">
                    <a16:rowId xmlns:a16="http://schemas.microsoft.com/office/drawing/2014/main" val="1010902385"/>
                  </a:ext>
                </a:extLst>
              </a:tr>
              <a:tr h="246604">
                <a:tc>
                  <a:txBody>
                    <a:bodyPr/>
                    <a:lstStyle/>
                    <a:p>
                      <a:r>
                        <a:rPr lang="en-US" sz="1100" b="1" dirty="0">
                          <a:solidFill>
                            <a:schemeClr val="tx1">
                              <a:lumMod val="50000"/>
                              <a:lumOff val="50000"/>
                            </a:schemeClr>
                          </a:solidFill>
                        </a:rPr>
                        <a:t>Holt-Winters</a:t>
                      </a:r>
                    </a:p>
                  </a:txBody>
                  <a:tcPr/>
                </a:tc>
                <a:tc>
                  <a:txBody>
                    <a:bodyPr/>
                    <a:lstStyle/>
                    <a:p>
                      <a:r>
                        <a:rPr lang="en-US" sz="1100" dirty="0">
                          <a:solidFill>
                            <a:schemeClr val="tx1">
                              <a:lumMod val="50000"/>
                              <a:lumOff val="50000"/>
                            </a:schemeClr>
                          </a:solidFill>
                        </a:rPr>
                        <a:t>4,41%</a:t>
                      </a:r>
                    </a:p>
                  </a:txBody>
                  <a:tcPr/>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1100" dirty="0">
                          <a:solidFill>
                            <a:schemeClr val="tx1">
                              <a:lumMod val="50000"/>
                              <a:lumOff val="50000"/>
                            </a:schemeClr>
                          </a:solidFill>
                        </a:rPr>
                        <a:t>Seasonality zeroed out</a:t>
                      </a:r>
                    </a:p>
                  </a:txBody>
                  <a:tcPr/>
                </a:tc>
                <a:extLst>
                  <a:ext uri="{0D108BD9-81ED-4DB2-BD59-A6C34878D82A}">
                    <a16:rowId xmlns:a16="http://schemas.microsoft.com/office/drawing/2014/main" val="2663185391"/>
                  </a:ext>
                </a:extLst>
              </a:tr>
              <a:tr h="236780">
                <a:tc>
                  <a:txBody>
                    <a:bodyPr/>
                    <a:lstStyle/>
                    <a:p>
                      <a:r>
                        <a:rPr lang="en-US" sz="1100" b="1" dirty="0">
                          <a:solidFill>
                            <a:schemeClr val="tx1">
                              <a:lumMod val="50000"/>
                              <a:lumOff val="50000"/>
                            </a:schemeClr>
                          </a:solidFill>
                        </a:rPr>
                        <a:t>Prophet</a:t>
                      </a:r>
                    </a:p>
                  </a:txBody>
                  <a:tcPr/>
                </a:tc>
                <a:tc>
                  <a:txBody>
                    <a:bodyPr/>
                    <a:lstStyle/>
                    <a:p>
                      <a:r>
                        <a:rPr lang="en-US" sz="1100" dirty="0">
                          <a:solidFill>
                            <a:schemeClr val="tx1">
                              <a:lumMod val="50000"/>
                              <a:lumOff val="50000"/>
                            </a:schemeClr>
                          </a:solidFill>
                        </a:rPr>
                        <a:t>4,96%</a:t>
                      </a:r>
                    </a:p>
                  </a:txBody>
                  <a:tcPr/>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1100" dirty="0">
                          <a:solidFill>
                            <a:schemeClr val="tx1">
                              <a:lumMod val="50000"/>
                              <a:lumOff val="50000"/>
                            </a:schemeClr>
                          </a:solidFill>
                        </a:rPr>
                        <a:t>Overfitted seasonality</a:t>
                      </a:r>
                    </a:p>
                  </a:txBody>
                  <a:tcPr/>
                </a:tc>
                <a:extLst>
                  <a:ext uri="{0D108BD9-81ED-4DB2-BD59-A6C34878D82A}">
                    <a16:rowId xmlns:a16="http://schemas.microsoft.com/office/drawing/2014/main" val="1563269175"/>
                  </a:ext>
                </a:extLst>
              </a:tr>
              <a:tr h="242069">
                <a:tc>
                  <a:txBody>
                    <a:bodyPr/>
                    <a:lstStyle/>
                    <a:p>
                      <a:r>
                        <a:rPr lang="en-US" sz="1100" b="1" dirty="0">
                          <a:solidFill>
                            <a:schemeClr val="tx1">
                              <a:lumMod val="50000"/>
                              <a:lumOff val="50000"/>
                            </a:schemeClr>
                          </a:solidFill>
                        </a:rPr>
                        <a:t>Holt-Winters Trend</a:t>
                      </a:r>
                    </a:p>
                  </a:txBody>
                  <a:tcPr/>
                </a:tc>
                <a:tc>
                  <a:txBody>
                    <a:bodyPr/>
                    <a:lstStyle/>
                    <a:p>
                      <a:r>
                        <a:rPr lang="en-US" sz="1100" dirty="0">
                          <a:solidFill>
                            <a:schemeClr val="tx1">
                              <a:lumMod val="50000"/>
                              <a:lumOff val="50000"/>
                            </a:schemeClr>
                          </a:solidFill>
                        </a:rPr>
                        <a:t>8,95%</a:t>
                      </a:r>
                    </a:p>
                  </a:txBody>
                  <a:tcPr/>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1100" dirty="0">
                          <a:solidFill>
                            <a:schemeClr val="tx1">
                              <a:lumMod val="50000"/>
                              <a:lumOff val="50000"/>
                            </a:schemeClr>
                          </a:solidFill>
                        </a:rPr>
                        <a:t>Trend overshoot, no seasonal component</a:t>
                      </a:r>
                    </a:p>
                  </a:txBody>
                  <a:tcPr/>
                </a:tc>
                <a:extLst>
                  <a:ext uri="{0D108BD9-81ED-4DB2-BD59-A6C34878D82A}">
                    <a16:rowId xmlns:a16="http://schemas.microsoft.com/office/drawing/2014/main" val="4107062982"/>
                  </a:ext>
                </a:extLst>
              </a:tr>
              <a:tr h="393392">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b="1" dirty="0">
                          <a:solidFill>
                            <a:schemeClr val="tx1">
                              <a:lumMod val="50000"/>
                              <a:lumOff val="50000"/>
                            </a:schemeClr>
                          </a:solidFill>
                        </a:rPr>
                        <a:t>Regime-aware Adaptive SARIMA</a:t>
                      </a:r>
                    </a:p>
                  </a:txBody>
                  <a:tcPr>
                    <a:solidFill>
                      <a:srgbClr val="C9BEEA"/>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tx1">
                              <a:lumMod val="50000"/>
                              <a:lumOff val="50000"/>
                            </a:schemeClr>
                          </a:solidFill>
                        </a:rPr>
                        <a:t>1,65%</a:t>
                      </a:r>
                    </a:p>
                  </a:txBody>
                  <a:tcPr>
                    <a:solidFill>
                      <a:srgbClr val="C9BEEA"/>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a:solidFill>
                            <a:schemeClr val="tx1">
                              <a:lumMod val="50000"/>
                              <a:lumOff val="50000"/>
                            </a:schemeClr>
                          </a:solidFill>
                        </a:rPr>
                        <a:t>Adapts to abnormality/regime shifts</a:t>
                      </a:r>
                    </a:p>
                  </a:txBody>
                  <a:tcPr>
                    <a:solidFill>
                      <a:srgbClr val="C9BEEA"/>
                    </a:solidFill>
                  </a:tcPr>
                </a:tc>
                <a:extLst>
                  <a:ext uri="{0D108BD9-81ED-4DB2-BD59-A6C34878D82A}">
                    <a16:rowId xmlns:a16="http://schemas.microsoft.com/office/drawing/2014/main" val="2368294738"/>
                  </a:ext>
                </a:extLst>
              </a:tr>
            </a:tbl>
          </a:graphicData>
        </a:graphic>
      </p:graphicFrame>
      <p:pic>
        <p:nvPicPr>
          <p:cNvPr id="13" name="Copied Picture 13">
            <a:extLst>
              <a:ext uri="{FF2B5EF4-FFF2-40B4-BE49-F238E27FC236}">
                <a16:creationId xmlns:a16="http://schemas.microsoft.com/office/drawing/2014/main" id="{098C5A1E-651C-798D-5D81-541A1CCCDFF3}"/>
              </a:ext>
            </a:extLst>
          </p:cNvPr>
          <p:cNvPicPr>
            <a:picLocks noChangeAspect="1"/>
          </p:cNvPicPr>
          <p:nvPr/>
        </p:nvPicPr>
        <p:blipFill>
          <a:blip r:embed="rId3"/>
          <a:stretch/>
        </p:blipFill>
        <p:spPr>
          <a:xfrm>
            <a:off x="7901259" y="27680"/>
            <a:ext cx="1141141" cy="753153"/>
          </a:xfrm>
          <a:prstGeom prst="rect">
            <a:avLst/>
          </a:prstGeom>
        </p:spPr>
      </p:pic>
      <p:sp>
        <p:nvSpPr>
          <p:cNvPr id="4" name="Shape 3">
            <a:extLst>
              <a:ext uri="{FF2B5EF4-FFF2-40B4-BE49-F238E27FC236}">
                <a16:creationId xmlns:a16="http://schemas.microsoft.com/office/drawing/2014/main" id="{BBE4F0BF-02FE-632F-EA0C-D48CE047F8B4}"/>
              </a:ext>
            </a:extLst>
          </p:cNvPr>
          <p:cNvSpPr/>
          <p:nvPr/>
        </p:nvSpPr>
        <p:spPr>
          <a:xfrm>
            <a:off x="414182" y="3140235"/>
            <a:ext cx="8315636" cy="1787871"/>
          </a:xfrm>
          <a:prstGeom prst="roundRect">
            <a:avLst>
              <a:gd name="adj" fmla="val 3279"/>
            </a:avLst>
          </a:prstGeom>
          <a:solidFill>
            <a:srgbClr val="FFFFFF"/>
          </a:solidFill>
          <a:ln/>
          <a:effectLst>
            <a:outerShdw blurRad="88900" dist="38100" dir="5400000" algn="bl" rotWithShape="0">
              <a:srgbClr val="1A0F40">
                <a:alpha val="35000"/>
              </a:srgbClr>
            </a:outerShdw>
          </a:effectLst>
        </p:spPr>
        <p:txBody>
          <a:bodyPr/>
          <a:lstStyle/>
          <a:p>
            <a:endParaRPr lang="en-US" dirty="0"/>
          </a:p>
        </p:txBody>
      </p:sp>
      <p:sp>
        <p:nvSpPr>
          <p:cNvPr id="5" name="Text 4">
            <a:extLst>
              <a:ext uri="{FF2B5EF4-FFF2-40B4-BE49-F238E27FC236}">
                <a16:creationId xmlns:a16="http://schemas.microsoft.com/office/drawing/2014/main" id="{FEA073BF-4434-87C8-AF5E-3C33735C622A}"/>
              </a:ext>
            </a:extLst>
          </p:cNvPr>
          <p:cNvSpPr/>
          <p:nvPr/>
        </p:nvSpPr>
        <p:spPr>
          <a:xfrm>
            <a:off x="481568" y="3185577"/>
            <a:ext cx="8192531" cy="1742529"/>
          </a:xfrm>
          <a:prstGeom prst="rect">
            <a:avLst/>
          </a:prstGeom>
          <a:noFill/>
          <a:ln/>
        </p:spPr>
        <p:txBody>
          <a:bodyPr wrap="square" lIns="0" tIns="0" rIns="0" bIns="0" rtlCol="0" anchor="t"/>
          <a:lstStyle/>
          <a:p>
            <a:pPr marL="0" indent="0">
              <a:lnSpc>
                <a:spcPct val="108000"/>
              </a:lnSpc>
              <a:spcAft>
                <a:spcPts val="400"/>
              </a:spcAft>
              <a:buNone/>
            </a:pPr>
            <a:r>
              <a:rPr lang="en-US" sz="970" b="1" dirty="0">
                <a:solidFill>
                  <a:srgbClr val="2D1B69"/>
                </a:solidFill>
                <a:latin typeface="Calibri" pitchFamily="34" charset="0"/>
                <a:cs typeface="Calibri" pitchFamily="34" charset="-120"/>
              </a:rPr>
              <a:t>Model Selection Summary</a:t>
            </a:r>
          </a:p>
          <a:p>
            <a:pPr algn="just">
              <a:lnSpc>
                <a:spcPct val="108000"/>
              </a:lnSpc>
            </a:pPr>
            <a:r>
              <a:rPr lang="en-US" sz="970" dirty="0">
                <a:solidFill>
                  <a:srgbClr val="3A3A4A"/>
                </a:solidFill>
                <a:latin typeface="Calibri" pitchFamily="34" charset="0"/>
                <a:ea typeface="Calibri" pitchFamily="34" charset="-122"/>
                <a:cs typeface="Calibri" pitchFamily="34" charset="-120"/>
              </a:rPr>
              <a:t>The baseline achieved the lowest MAPE at 1.63%. Regime-aware adaptive SARIMA performed nearly as well at 1.65% and was </a:t>
            </a:r>
            <a:r>
              <a:rPr lang="en-US" sz="970" b="1" dirty="0">
                <a:solidFill>
                  <a:srgbClr val="3A3A4A"/>
                </a:solidFill>
                <a:latin typeface="Calibri" pitchFamily="34" charset="0"/>
                <a:ea typeface="Calibri" pitchFamily="34" charset="-122"/>
                <a:cs typeface="Calibri" pitchFamily="34" charset="-120"/>
              </a:rPr>
              <a:t>selected for its structural awareness </a:t>
            </a:r>
            <a:r>
              <a:rPr lang="en-US" sz="970" dirty="0">
                <a:solidFill>
                  <a:srgbClr val="3A3A4A"/>
                </a:solidFill>
                <a:latin typeface="Calibri" pitchFamily="34" charset="0"/>
                <a:ea typeface="Calibri" pitchFamily="34" charset="-122"/>
                <a:cs typeface="Calibri" pitchFamily="34" charset="-120"/>
              </a:rPr>
              <a:t>rather than superior point accuracy.</a:t>
            </a:r>
          </a:p>
          <a:p>
            <a:pPr algn="just">
              <a:lnSpc>
                <a:spcPct val="108000"/>
              </a:lnSpc>
            </a:pPr>
            <a:endParaRPr lang="en-US" sz="970" dirty="0">
              <a:solidFill>
                <a:srgbClr val="3A3A4A"/>
              </a:solidFill>
              <a:latin typeface="Calibri" pitchFamily="34" charset="0"/>
              <a:ea typeface="Calibri" pitchFamily="34" charset="-122"/>
              <a:cs typeface="Calibri" pitchFamily="34" charset="-120"/>
            </a:endParaRPr>
          </a:p>
          <a:p>
            <a:pPr algn="just">
              <a:lnSpc>
                <a:spcPct val="108000"/>
              </a:lnSpc>
            </a:pPr>
            <a:r>
              <a:rPr lang="en-US" sz="970" b="1" dirty="0">
                <a:solidFill>
                  <a:srgbClr val="3A3A4A"/>
                </a:solidFill>
                <a:latin typeface="Calibri" pitchFamily="34" charset="0"/>
                <a:ea typeface="Calibri" pitchFamily="34" charset="-122"/>
                <a:cs typeface="Calibri" pitchFamily="34" charset="-120"/>
              </a:rPr>
              <a:t>Every standard statistical model (SARIMA, Holt-Winters, Prophet, Holt's Linear) performed worse than Baseline</a:t>
            </a:r>
            <a:r>
              <a:rPr lang="en-US" sz="970" dirty="0">
                <a:solidFill>
                  <a:srgbClr val="3A3A4A"/>
                </a:solidFill>
                <a:latin typeface="Calibri" pitchFamily="34" charset="0"/>
                <a:ea typeface="Calibri" pitchFamily="34" charset="-122"/>
                <a:cs typeface="Calibri" pitchFamily="34" charset="-120"/>
              </a:rPr>
              <a:t> because none of them account for the regime shift caused by the 2023 feed cost crisis.</a:t>
            </a:r>
          </a:p>
          <a:p>
            <a:pPr algn="just">
              <a:lnSpc>
                <a:spcPct val="108000"/>
              </a:lnSpc>
            </a:pPr>
            <a:endParaRPr lang="en-US" sz="970" dirty="0">
              <a:solidFill>
                <a:srgbClr val="3A3A4A"/>
              </a:solidFill>
              <a:latin typeface="Calibri" pitchFamily="34" charset="0"/>
              <a:ea typeface="Calibri" pitchFamily="34" charset="-122"/>
              <a:cs typeface="Calibri" pitchFamily="34" charset="-120"/>
            </a:endParaRPr>
          </a:p>
          <a:p>
            <a:pPr algn="just">
              <a:lnSpc>
                <a:spcPct val="108000"/>
              </a:lnSpc>
            </a:pPr>
            <a:r>
              <a:rPr lang="en-US" sz="970" b="1" dirty="0">
                <a:solidFill>
                  <a:srgbClr val="3A3A4A"/>
                </a:solidFill>
                <a:latin typeface="Calibri" pitchFamily="34" charset="0"/>
                <a:ea typeface="Calibri" pitchFamily="34" charset="-122"/>
                <a:cs typeface="Calibri" pitchFamily="34" charset="-120"/>
              </a:rPr>
              <a:t>Regime-Aware Adaptive SARIMA closes that gap by detecting and adapting to the structural breaks in the data </a:t>
            </a:r>
            <a:r>
              <a:rPr lang="en-US" sz="970" dirty="0">
                <a:solidFill>
                  <a:srgbClr val="3A3A4A"/>
                </a:solidFill>
                <a:latin typeface="Calibri" pitchFamily="34" charset="0"/>
                <a:ea typeface="Calibri" pitchFamily="34" charset="-122"/>
                <a:cs typeface="Calibri" pitchFamily="34" charset="-120"/>
              </a:rPr>
              <a:t>rather than assuming one fixed pattern across the entire series. It is selected not because it beats Baseline outright, but because it's the only model that combines Baseline-level accuracy with genuine seasonal and structural awareness, making it the more reliable choice for forecasting beyond the training window.</a:t>
            </a:r>
          </a:p>
          <a:p>
            <a:pPr algn="just">
              <a:lnSpc>
                <a:spcPct val="108000"/>
              </a:lnSpc>
            </a:pPr>
            <a:endParaRPr lang="en-US" sz="970" dirty="0">
              <a:solidFill>
                <a:srgbClr val="3A3A4A"/>
              </a:solidFill>
              <a:latin typeface="Calibri" pitchFamily="34" charset="0"/>
              <a:ea typeface="Calibri" pitchFamily="34" charset="-122"/>
              <a:cs typeface="Calibri" pitchFamily="34" charset="-120"/>
            </a:endParaRPr>
          </a:p>
        </p:txBody>
      </p:sp>
    </p:spTree>
    <p:extLst>
      <p:ext uri="{BB962C8B-B14F-4D97-AF65-F5344CB8AC3E}">
        <p14:creationId xmlns:p14="http://schemas.microsoft.com/office/powerpoint/2010/main" val="41720881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a:extLst>
            <a:ext uri="{FF2B5EF4-FFF2-40B4-BE49-F238E27FC236}">
              <a16:creationId xmlns:a16="http://schemas.microsoft.com/office/drawing/2014/main" id="{0C2FE6B4-BB54-8B63-B876-C84B05F9D55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4ED6213-C3A0-6C63-F0CF-40D7F836FCE8}"/>
              </a:ext>
            </a:extLst>
          </p:cNvPr>
          <p:cNvSpPr/>
          <p:nvPr/>
        </p:nvSpPr>
        <p:spPr>
          <a:xfrm>
            <a:off x="367608" y="27680"/>
            <a:ext cx="8474825" cy="64008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Advanced Modeling : Regime Aware Forecasting</a:t>
            </a:r>
            <a:endParaRPr lang="en-US" sz="2400" dirty="0"/>
          </a:p>
        </p:txBody>
      </p:sp>
      <p:pic>
        <p:nvPicPr>
          <p:cNvPr id="13" name="Copied Picture 13">
            <a:extLst>
              <a:ext uri="{FF2B5EF4-FFF2-40B4-BE49-F238E27FC236}">
                <a16:creationId xmlns:a16="http://schemas.microsoft.com/office/drawing/2014/main" id="{0AF23C0B-AFDA-3EA1-2B74-10612090ABE2}"/>
              </a:ext>
            </a:extLst>
          </p:cNvPr>
          <p:cNvPicPr>
            <a:picLocks noChangeAspect="1"/>
          </p:cNvPicPr>
          <p:nvPr/>
        </p:nvPicPr>
        <p:blipFill>
          <a:blip r:embed="rId2"/>
          <a:stretch/>
        </p:blipFill>
        <p:spPr>
          <a:xfrm>
            <a:off x="7887559" y="9950"/>
            <a:ext cx="1141141" cy="753153"/>
          </a:xfrm>
          <a:prstGeom prst="rect">
            <a:avLst/>
          </a:prstGeom>
        </p:spPr>
      </p:pic>
      <p:sp>
        <p:nvSpPr>
          <p:cNvPr id="8" name="Shape 3">
            <a:extLst>
              <a:ext uri="{FF2B5EF4-FFF2-40B4-BE49-F238E27FC236}">
                <a16:creationId xmlns:a16="http://schemas.microsoft.com/office/drawing/2014/main" id="{AE8E6C26-7CAD-5786-FFF7-DDC5A92C3B2D}"/>
              </a:ext>
            </a:extLst>
          </p:cNvPr>
          <p:cNvSpPr/>
          <p:nvPr/>
        </p:nvSpPr>
        <p:spPr>
          <a:xfrm>
            <a:off x="3959420" y="2386017"/>
            <a:ext cx="4818820" cy="2600383"/>
          </a:xfrm>
          <a:prstGeom prst="roundRect">
            <a:avLst>
              <a:gd name="adj" fmla="val 3448"/>
            </a:avLst>
          </a:prstGeom>
          <a:solidFill>
            <a:srgbClr val="FFFFFF"/>
          </a:solidFill>
          <a:ln/>
          <a:effectLst>
            <a:outerShdw blurRad="88900" dist="38100" dir="5400000" algn="bl" rotWithShape="0">
              <a:srgbClr val="1A0F40">
                <a:alpha val="35000"/>
              </a:srgbClr>
            </a:outerShdw>
          </a:effectLst>
        </p:spPr>
        <p:txBody>
          <a:bodyPr/>
          <a:lstStyle/>
          <a:p>
            <a:endParaRPr lang="en-US" dirty="0"/>
          </a:p>
        </p:txBody>
      </p:sp>
      <p:graphicFrame>
        <p:nvGraphicFramePr>
          <p:cNvPr id="9" name="Table 8">
            <a:extLst>
              <a:ext uri="{FF2B5EF4-FFF2-40B4-BE49-F238E27FC236}">
                <a16:creationId xmlns:a16="http://schemas.microsoft.com/office/drawing/2014/main" id="{F3AF7690-FAF1-42A7-195D-EEFDD64BC4CE}"/>
              </a:ext>
            </a:extLst>
          </p:cNvPr>
          <p:cNvGraphicFramePr>
            <a:graphicFrameLocks noGrp="1"/>
          </p:cNvGraphicFramePr>
          <p:nvPr>
            <p:extLst>
              <p:ext uri="{D42A27DB-BD31-4B8C-83A1-F6EECF244321}">
                <p14:modId xmlns:p14="http://schemas.microsoft.com/office/powerpoint/2010/main" val="96221293"/>
              </p:ext>
            </p:extLst>
          </p:nvPr>
        </p:nvGraphicFramePr>
        <p:xfrm>
          <a:off x="1195815" y="2692400"/>
          <a:ext cx="2080785" cy="1790988"/>
        </p:xfrm>
        <a:graphic>
          <a:graphicData uri="http://schemas.openxmlformats.org/drawingml/2006/table">
            <a:tbl>
              <a:tblPr firstRow="1" bandRow="1">
                <a:tableStyleId>{5C22544A-7EE6-4342-B048-85BDC9FD1C3A}</a:tableStyleId>
              </a:tblPr>
              <a:tblGrid>
                <a:gridCol w="1329312">
                  <a:extLst>
                    <a:ext uri="{9D8B030D-6E8A-4147-A177-3AD203B41FA5}">
                      <a16:colId xmlns:a16="http://schemas.microsoft.com/office/drawing/2014/main" val="566555950"/>
                    </a:ext>
                  </a:extLst>
                </a:gridCol>
                <a:gridCol w="751473">
                  <a:extLst>
                    <a:ext uri="{9D8B030D-6E8A-4147-A177-3AD203B41FA5}">
                      <a16:colId xmlns:a16="http://schemas.microsoft.com/office/drawing/2014/main" val="3900739248"/>
                    </a:ext>
                  </a:extLst>
                </a:gridCol>
              </a:tblGrid>
              <a:tr h="447747">
                <a:tc>
                  <a:txBody>
                    <a:bodyPr/>
                    <a:lstStyle/>
                    <a:p>
                      <a:r>
                        <a:rPr lang="en-US" sz="1100" dirty="0"/>
                        <a:t>Model</a:t>
                      </a:r>
                    </a:p>
                  </a:txBody>
                  <a:tcPr>
                    <a:solidFill>
                      <a:srgbClr val="9986DE"/>
                    </a:solidFill>
                  </a:tcPr>
                </a:tc>
                <a:tc>
                  <a:txBody>
                    <a:bodyPr/>
                    <a:lstStyle/>
                    <a:p>
                      <a:r>
                        <a:rPr lang="en-US" sz="1100" dirty="0"/>
                        <a:t>MAPE</a:t>
                      </a:r>
                    </a:p>
                  </a:txBody>
                  <a:tcPr>
                    <a:solidFill>
                      <a:srgbClr val="9986DE"/>
                    </a:solidFill>
                  </a:tcPr>
                </a:tc>
                <a:extLst>
                  <a:ext uri="{0D108BD9-81ED-4DB2-BD59-A6C34878D82A}">
                    <a16:rowId xmlns:a16="http://schemas.microsoft.com/office/drawing/2014/main" val="1743120421"/>
                  </a:ext>
                </a:extLst>
              </a:tr>
              <a:tr h="447747">
                <a:tc>
                  <a:txBody>
                    <a:bodyPr/>
                    <a:lstStyle/>
                    <a:p>
                      <a:r>
                        <a:rPr lang="en-US" sz="1200" dirty="0"/>
                        <a:t>Static</a:t>
                      </a:r>
                    </a:p>
                  </a:txBody>
                  <a:tcPr/>
                </a:tc>
                <a:tc>
                  <a:txBody>
                    <a:bodyPr/>
                    <a:lstStyle/>
                    <a:p>
                      <a:r>
                        <a:rPr lang="en-US" sz="1200" dirty="0"/>
                        <a:t>4,22%</a:t>
                      </a:r>
                    </a:p>
                  </a:txBody>
                  <a:tcPr/>
                </a:tc>
                <a:extLst>
                  <a:ext uri="{0D108BD9-81ED-4DB2-BD59-A6C34878D82A}">
                    <a16:rowId xmlns:a16="http://schemas.microsoft.com/office/drawing/2014/main" val="3710161263"/>
                  </a:ext>
                </a:extLst>
              </a:tr>
              <a:tr h="447747">
                <a:tc>
                  <a:txBody>
                    <a:bodyPr/>
                    <a:lstStyle/>
                    <a:p>
                      <a:r>
                        <a:rPr lang="en-US" sz="1200" dirty="0"/>
                        <a:t>Adaptive</a:t>
                      </a:r>
                    </a:p>
                  </a:txBody>
                  <a:tcPr/>
                </a:tc>
                <a:tc>
                  <a:txBody>
                    <a:bodyPr/>
                    <a:lstStyle/>
                    <a:p>
                      <a:r>
                        <a:rPr lang="en-US" sz="1200" dirty="0"/>
                        <a:t>1,65%</a:t>
                      </a:r>
                    </a:p>
                  </a:txBody>
                  <a:tcPr/>
                </a:tc>
                <a:extLst>
                  <a:ext uri="{0D108BD9-81ED-4DB2-BD59-A6C34878D82A}">
                    <a16:rowId xmlns:a16="http://schemas.microsoft.com/office/drawing/2014/main" val="342858915"/>
                  </a:ext>
                </a:extLst>
              </a:tr>
              <a:tr h="447747">
                <a:tc>
                  <a:txBody>
                    <a:bodyPr/>
                    <a:lstStyle/>
                    <a:p>
                      <a:r>
                        <a:rPr lang="en-US" sz="1200" b="1" i="1" dirty="0">
                          <a:solidFill>
                            <a:srgbClr val="000000"/>
                          </a:solidFill>
                        </a:rPr>
                        <a:t>Error reduction</a:t>
                      </a:r>
                    </a:p>
                  </a:txBody>
                  <a:tcPr>
                    <a:solidFill>
                      <a:srgbClr val="C9BEEA"/>
                    </a:solidFill>
                  </a:tcPr>
                </a:tc>
                <a:tc>
                  <a:txBody>
                    <a:bodyPr/>
                    <a:lstStyle/>
                    <a:p>
                      <a:r>
                        <a:rPr lang="en-US" sz="1200" b="1" i="1" dirty="0">
                          <a:solidFill>
                            <a:srgbClr val="000000"/>
                          </a:solidFill>
                        </a:rPr>
                        <a:t>~61%</a:t>
                      </a:r>
                    </a:p>
                  </a:txBody>
                  <a:tcPr>
                    <a:solidFill>
                      <a:srgbClr val="C9BEEA"/>
                    </a:solidFill>
                  </a:tcPr>
                </a:tc>
                <a:extLst>
                  <a:ext uri="{0D108BD9-81ED-4DB2-BD59-A6C34878D82A}">
                    <a16:rowId xmlns:a16="http://schemas.microsoft.com/office/drawing/2014/main" val="4070092441"/>
                  </a:ext>
                </a:extLst>
              </a:tr>
            </a:tbl>
          </a:graphicData>
        </a:graphic>
      </p:graphicFrame>
      <p:sp>
        <p:nvSpPr>
          <p:cNvPr id="10" name="Text 4">
            <a:extLst>
              <a:ext uri="{FF2B5EF4-FFF2-40B4-BE49-F238E27FC236}">
                <a16:creationId xmlns:a16="http://schemas.microsoft.com/office/drawing/2014/main" id="{5564B824-6F50-AB23-C7D0-4C12459D98B6}"/>
              </a:ext>
            </a:extLst>
          </p:cNvPr>
          <p:cNvSpPr/>
          <p:nvPr/>
        </p:nvSpPr>
        <p:spPr>
          <a:xfrm>
            <a:off x="4118032" y="2455794"/>
            <a:ext cx="4530668" cy="2415886"/>
          </a:xfrm>
          <a:prstGeom prst="rect">
            <a:avLst/>
          </a:prstGeom>
          <a:noFill/>
          <a:ln/>
        </p:spPr>
        <p:txBody>
          <a:bodyPr wrap="square" lIns="0" tIns="0" rIns="0" bIns="0" rtlCol="0" anchor="t"/>
          <a:lstStyle/>
          <a:p>
            <a:pPr marL="0" indent="0">
              <a:spcAft>
                <a:spcPts val="400"/>
              </a:spcAft>
              <a:buNone/>
            </a:pPr>
            <a:r>
              <a:rPr lang="en-US" sz="970" b="1" dirty="0">
                <a:solidFill>
                  <a:srgbClr val="2D1B69"/>
                </a:solidFill>
                <a:latin typeface="Calibri" pitchFamily="34" charset="0"/>
                <a:cs typeface="Calibri" pitchFamily="34" charset="-120"/>
              </a:rPr>
              <a:t>Regime Detection</a:t>
            </a:r>
          </a:p>
          <a:p>
            <a:pPr marL="0" indent="0" algn="just">
              <a:spcAft>
                <a:spcPts val="400"/>
              </a:spcAft>
              <a:buNone/>
            </a:pPr>
            <a:r>
              <a:rPr lang="en-US" sz="970" b="1" dirty="0">
                <a:solidFill>
                  <a:srgbClr val="3A3A4A"/>
                </a:solidFill>
                <a:latin typeface="Calibri" pitchFamily="34" charset="0"/>
                <a:ea typeface="Calibri" pitchFamily="34" charset="-122"/>
                <a:cs typeface="Calibri" pitchFamily="34" charset="-120"/>
              </a:rPr>
              <a:t>The price series was segmented into three regimes based on two structural breaks corresponding to the corn feed crisis and post-crisis normalization. </a:t>
            </a:r>
            <a:endParaRPr lang="en-US" sz="970" dirty="0">
              <a:solidFill>
                <a:srgbClr val="3A3A4A"/>
              </a:solidFill>
              <a:latin typeface="Calibri" pitchFamily="34" charset="0"/>
              <a:ea typeface="Calibri" pitchFamily="34" charset="-122"/>
              <a:cs typeface="Calibri" pitchFamily="34" charset="-120"/>
            </a:endParaRPr>
          </a:p>
          <a:p>
            <a:pPr algn="just"/>
            <a:r>
              <a:rPr lang="en-US" sz="970" dirty="0">
                <a:solidFill>
                  <a:srgbClr val="3A3A4A"/>
                </a:solidFill>
                <a:latin typeface="Calibri" pitchFamily="34" charset="0"/>
                <a:ea typeface="Calibri" pitchFamily="34" charset="-122"/>
                <a:cs typeface="Calibri" pitchFamily="34" charset="-120"/>
              </a:rPr>
              <a:t>Each regime shows a distinct mean price level, confirming the market didn't move on one continuous trend, but </a:t>
            </a:r>
            <a:r>
              <a:rPr lang="en-US" sz="970" b="1" dirty="0">
                <a:solidFill>
                  <a:srgbClr val="3A3A4A"/>
                </a:solidFill>
                <a:latin typeface="Calibri" pitchFamily="34" charset="0"/>
                <a:ea typeface="Calibri" pitchFamily="34" charset="-122"/>
                <a:cs typeface="Calibri" pitchFamily="34" charset="-120"/>
              </a:rPr>
              <a:t>shifted between discrete phases.</a:t>
            </a:r>
          </a:p>
          <a:p>
            <a:pPr algn="just"/>
            <a:endParaRPr lang="en-US" sz="970" b="1" dirty="0">
              <a:solidFill>
                <a:srgbClr val="3A3A4A"/>
              </a:solidFill>
              <a:latin typeface="Calibri" pitchFamily="34" charset="0"/>
              <a:ea typeface="Calibri" pitchFamily="34" charset="-122"/>
              <a:cs typeface="Calibri" pitchFamily="34" charset="-120"/>
            </a:endParaRPr>
          </a:p>
          <a:p>
            <a:pPr algn="just"/>
            <a:r>
              <a:rPr lang="en-US" sz="970" dirty="0">
                <a:solidFill>
                  <a:srgbClr val="3A3A4A"/>
                </a:solidFill>
                <a:latin typeface="Calibri" pitchFamily="34" charset="0"/>
                <a:ea typeface="Calibri" pitchFamily="34" charset="-122"/>
                <a:cs typeface="Calibri" pitchFamily="34" charset="-120"/>
              </a:rPr>
              <a:t>Changepoints were detected using training data only, while the test period remained unseen until evaluation.</a:t>
            </a:r>
          </a:p>
          <a:p>
            <a:pPr algn="just"/>
            <a:endParaRPr lang="en-US" sz="970" dirty="0">
              <a:solidFill>
                <a:srgbClr val="3A3A4A"/>
              </a:solidFill>
              <a:latin typeface="Calibri" pitchFamily="34" charset="0"/>
              <a:ea typeface="Calibri" pitchFamily="34" charset="-122"/>
              <a:cs typeface="Calibri" pitchFamily="34" charset="-120"/>
            </a:endParaRPr>
          </a:p>
          <a:p>
            <a:pPr algn="just"/>
            <a:r>
              <a:rPr lang="en-US" sz="970" b="1" dirty="0">
                <a:solidFill>
                  <a:srgbClr val="2D1B69"/>
                </a:solidFill>
                <a:latin typeface="Calibri" pitchFamily="34" charset="0"/>
                <a:cs typeface="Calibri" pitchFamily="34" charset="-120"/>
              </a:rPr>
              <a:t>Adaptive Model Limitation</a:t>
            </a:r>
          </a:p>
          <a:p>
            <a:pPr algn="just"/>
            <a:r>
              <a:rPr lang="en-US" sz="970" dirty="0">
                <a:solidFill>
                  <a:srgbClr val="3A3A4A"/>
                </a:solidFill>
                <a:latin typeface="Calibri" pitchFamily="34" charset="0"/>
                <a:ea typeface="Calibri" pitchFamily="34" charset="-122"/>
                <a:cs typeface="Calibri" pitchFamily="34" charset="-120"/>
              </a:rPr>
              <a:t>The </a:t>
            </a:r>
            <a:r>
              <a:rPr lang="en-US" sz="970" b="1" dirty="0">
                <a:solidFill>
                  <a:srgbClr val="3A3A4A"/>
                </a:solidFill>
                <a:latin typeface="Calibri" pitchFamily="34" charset="0"/>
                <a:ea typeface="Calibri" pitchFamily="34" charset="-122"/>
                <a:cs typeface="Calibri" pitchFamily="34" charset="-120"/>
              </a:rPr>
              <a:t>adaptive model doesn't predict a break before it happens</a:t>
            </a:r>
            <a:r>
              <a:rPr lang="en-US" sz="970" dirty="0">
                <a:solidFill>
                  <a:srgbClr val="3A3A4A"/>
                </a:solidFill>
                <a:latin typeface="Calibri" pitchFamily="34" charset="0"/>
                <a:ea typeface="Calibri" pitchFamily="34" charset="-122"/>
                <a:cs typeface="Calibri" pitchFamily="34" charset="-120"/>
              </a:rPr>
              <a:t>, no model can. Its advantage comes from correcting faster once new data confirms a shift has occurred, rather than staying anchored to an outdated regime. This is the operational case for </a:t>
            </a:r>
            <a:r>
              <a:rPr lang="en-US" sz="970" b="1" dirty="0">
                <a:solidFill>
                  <a:srgbClr val="3A3A4A"/>
                </a:solidFill>
                <a:latin typeface="Calibri" pitchFamily="34" charset="0"/>
                <a:ea typeface="Calibri" pitchFamily="34" charset="-122"/>
                <a:cs typeface="Calibri" pitchFamily="34" charset="-120"/>
              </a:rPr>
              <a:t>walk-forward forecasting</a:t>
            </a:r>
            <a:r>
              <a:rPr lang="en-US" sz="970" dirty="0">
                <a:solidFill>
                  <a:srgbClr val="3A3A4A"/>
                </a:solidFill>
                <a:latin typeface="Calibri" pitchFamily="34" charset="0"/>
                <a:ea typeface="Calibri" pitchFamily="34" charset="-122"/>
                <a:cs typeface="Calibri" pitchFamily="34" charset="-120"/>
              </a:rPr>
              <a:t>: refit monthly as new prices are published, rather than committing to a single static model.</a:t>
            </a:r>
          </a:p>
          <a:p>
            <a:pPr algn="just"/>
            <a:endParaRPr lang="en-US" sz="970" dirty="0">
              <a:solidFill>
                <a:srgbClr val="3A3A4A"/>
              </a:solidFill>
              <a:latin typeface="Calibri" pitchFamily="34" charset="0"/>
              <a:ea typeface="Calibri" pitchFamily="34" charset="-122"/>
              <a:cs typeface="Calibri" pitchFamily="34" charset="-120"/>
            </a:endParaRPr>
          </a:p>
        </p:txBody>
      </p:sp>
      <p:pic>
        <p:nvPicPr>
          <p:cNvPr id="5" name="Picture 4">
            <a:extLst>
              <a:ext uri="{FF2B5EF4-FFF2-40B4-BE49-F238E27FC236}">
                <a16:creationId xmlns:a16="http://schemas.microsoft.com/office/drawing/2014/main" id="{6AB67799-57EF-5E04-CAA6-76A529D7C426}"/>
              </a:ext>
            </a:extLst>
          </p:cNvPr>
          <p:cNvPicPr>
            <a:picLocks noChangeAspect="1"/>
          </p:cNvPicPr>
          <p:nvPr/>
        </p:nvPicPr>
        <p:blipFill>
          <a:blip r:embed="rId3"/>
          <a:stretch>
            <a:fillRect/>
          </a:stretch>
        </p:blipFill>
        <p:spPr>
          <a:xfrm>
            <a:off x="1897809" y="660112"/>
            <a:ext cx="5348381" cy="1572352"/>
          </a:xfrm>
          <a:prstGeom prst="rect">
            <a:avLst/>
          </a:prstGeom>
        </p:spPr>
      </p:pic>
      <p:cxnSp>
        <p:nvCxnSpPr>
          <p:cNvPr id="18" name="Straight Arrow Connector 17">
            <a:extLst>
              <a:ext uri="{FF2B5EF4-FFF2-40B4-BE49-F238E27FC236}">
                <a16:creationId xmlns:a16="http://schemas.microsoft.com/office/drawing/2014/main" id="{089E54D7-DBEB-4DA0-588E-973721B1907F}"/>
              </a:ext>
            </a:extLst>
          </p:cNvPr>
          <p:cNvCxnSpPr>
            <a:cxnSpLocks/>
          </p:cNvCxnSpPr>
          <p:nvPr/>
        </p:nvCxnSpPr>
        <p:spPr>
          <a:xfrm flipH="1">
            <a:off x="6164580" y="1729740"/>
            <a:ext cx="1371600" cy="1143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Shape 3">
            <a:extLst>
              <a:ext uri="{FF2B5EF4-FFF2-40B4-BE49-F238E27FC236}">
                <a16:creationId xmlns:a16="http://schemas.microsoft.com/office/drawing/2014/main" id="{236680D7-6F36-4328-831F-0399BFCAFE70}"/>
              </a:ext>
            </a:extLst>
          </p:cNvPr>
          <p:cNvSpPr/>
          <p:nvPr/>
        </p:nvSpPr>
        <p:spPr>
          <a:xfrm>
            <a:off x="7553669" y="1435283"/>
            <a:ext cx="1288764" cy="408757"/>
          </a:xfrm>
          <a:prstGeom prst="roundRect">
            <a:avLst>
              <a:gd name="adj" fmla="val 3448"/>
            </a:avLst>
          </a:prstGeom>
          <a:solidFill>
            <a:srgbClr val="FFFFFF"/>
          </a:solidFill>
          <a:ln/>
          <a:effectLst>
            <a:outerShdw blurRad="88900" dist="38100" dir="5400000" algn="bl" rotWithShape="0">
              <a:srgbClr val="1A0F40">
                <a:alpha val="35000"/>
              </a:srgbClr>
            </a:outerShdw>
          </a:effectLst>
        </p:spPr>
        <p:txBody>
          <a:bodyPr/>
          <a:lstStyle/>
          <a:p>
            <a:pPr algn="ctr"/>
            <a:r>
              <a:rPr lang="en-US" sz="1050" dirty="0"/>
              <a:t>Test data starts in May 2025</a:t>
            </a:r>
          </a:p>
        </p:txBody>
      </p:sp>
    </p:spTree>
    <p:extLst>
      <p:ext uri="{BB962C8B-B14F-4D97-AF65-F5344CB8AC3E}">
        <p14:creationId xmlns:p14="http://schemas.microsoft.com/office/powerpoint/2010/main" val="32898366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a:extLst>
            <a:ext uri="{FF2B5EF4-FFF2-40B4-BE49-F238E27FC236}">
              <a16:creationId xmlns:a16="http://schemas.microsoft.com/office/drawing/2014/main" id="{B5B13258-4C35-A9DA-EC0F-1F54B549D5B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07E919A-5DE2-7866-4EDB-30D398DDFC66}"/>
              </a:ext>
            </a:extLst>
          </p:cNvPr>
          <p:cNvSpPr/>
          <p:nvPr/>
        </p:nvSpPr>
        <p:spPr>
          <a:xfrm>
            <a:off x="367608" y="27680"/>
            <a:ext cx="8474825" cy="64008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Final Forecast (Using Regime Aware Approach)</a:t>
            </a:r>
            <a:endParaRPr lang="en-US" sz="2600" dirty="0"/>
          </a:p>
        </p:txBody>
      </p:sp>
      <p:pic>
        <p:nvPicPr>
          <p:cNvPr id="13" name="Copied Picture 13">
            <a:extLst>
              <a:ext uri="{FF2B5EF4-FFF2-40B4-BE49-F238E27FC236}">
                <a16:creationId xmlns:a16="http://schemas.microsoft.com/office/drawing/2014/main" id="{B71C2C5B-7BAF-780B-B365-A04D06302C33}"/>
              </a:ext>
            </a:extLst>
          </p:cNvPr>
          <p:cNvPicPr>
            <a:picLocks noChangeAspect="1"/>
          </p:cNvPicPr>
          <p:nvPr/>
        </p:nvPicPr>
        <p:blipFill>
          <a:blip r:embed="rId3"/>
          <a:stretch/>
        </p:blipFill>
        <p:spPr>
          <a:xfrm>
            <a:off x="7881302" y="27680"/>
            <a:ext cx="1141141" cy="753153"/>
          </a:xfrm>
          <a:prstGeom prst="rect">
            <a:avLst/>
          </a:prstGeom>
        </p:spPr>
      </p:pic>
      <p:sp>
        <p:nvSpPr>
          <p:cNvPr id="7" name="Shape 3">
            <a:extLst>
              <a:ext uri="{FF2B5EF4-FFF2-40B4-BE49-F238E27FC236}">
                <a16:creationId xmlns:a16="http://schemas.microsoft.com/office/drawing/2014/main" id="{EC35B7C0-BC2D-AE26-BA03-4906F2D5C05E}"/>
              </a:ext>
            </a:extLst>
          </p:cNvPr>
          <p:cNvSpPr/>
          <p:nvPr/>
        </p:nvSpPr>
        <p:spPr>
          <a:xfrm>
            <a:off x="6037964" y="741679"/>
            <a:ext cx="2921308" cy="3776981"/>
          </a:xfrm>
          <a:prstGeom prst="roundRect">
            <a:avLst>
              <a:gd name="adj" fmla="val 3448"/>
            </a:avLst>
          </a:prstGeom>
          <a:solidFill>
            <a:srgbClr val="FFFFFF"/>
          </a:solidFill>
          <a:ln/>
          <a:effectLst>
            <a:outerShdw blurRad="88900" dist="38100" dir="5400000" algn="bl" rotWithShape="0">
              <a:srgbClr val="1A0F40">
                <a:alpha val="35000"/>
              </a:srgbClr>
            </a:outerShdw>
          </a:effectLst>
        </p:spPr>
        <p:txBody>
          <a:bodyPr/>
          <a:lstStyle/>
          <a:p>
            <a:endParaRPr lang="en-US"/>
          </a:p>
        </p:txBody>
      </p:sp>
      <p:pic>
        <p:nvPicPr>
          <p:cNvPr id="9" name="Picture 8">
            <a:extLst>
              <a:ext uri="{FF2B5EF4-FFF2-40B4-BE49-F238E27FC236}">
                <a16:creationId xmlns:a16="http://schemas.microsoft.com/office/drawing/2014/main" id="{9901783A-7786-6411-EF38-AEDDC33AC1C8}"/>
              </a:ext>
            </a:extLst>
          </p:cNvPr>
          <p:cNvPicPr>
            <a:picLocks noChangeAspect="1"/>
          </p:cNvPicPr>
          <p:nvPr/>
        </p:nvPicPr>
        <p:blipFill>
          <a:blip r:embed="rId4"/>
          <a:stretch>
            <a:fillRect/>
          </a:stretch>
        </p:blipFill>
        <p:spPr>
          <a:xfrm>
            <a:off x="285656" y="1443385"/>
            <a:ext cx="5569527" cy="2373568"/>
          </a:xfrm>
          <a:prstGeom prst="rect">
            <a:avLst/>
          </a:prstGeom>
        </p:spPr>
      </p:pic>
      <p:sp>
        <p:nvSpPr>
          <p:cNvPr id="10" name="Text 4">
            <a:extLst>
              <a:ext uri="{FF2B5EF4-FFF2-40B4-BE49-F238E27FC236}">
                <a16:creationId xmlns:a16="http://schemas.microsoft.com/office/drawing/2014/main" id="{5E78D6BE-6F3B-E63B-C6AB-34C04E5B88AA}"/>
              </a:ext>
            </a:extLst>
          </p:cNvPr>
          <p:cNvSpPr/>
          <p:nvPr/>
        </p:nvSpPr>
        <p:spPr>
          <a:xfrm>
            <a:off x="6115144" y="803407"/>
            <a:ext cx="2743200" cy="3598414"/>
          </a:xfrm>
          <a:prstGeom prst="rect">
            <a:avLst/>
          </a:prstGeom>
          <a:noFill/>
          <a:ln/>
        </p:spPr>
        <p:txBody>
          <a:bodyPr wrap="square" lIns="0" tIns="0" rIns="0" bIns="0" rtlCol="0" anchor="t"/>
          <a:lstStyle/>
          <a:p>
            <a:pPr marL="0" indent="0">
              <a:lnSpc>
                <a:spcPct val="108000"/>
              </a:lnSpc>
              <a:spcAft>
                <a:spcPts val="400"/>
              </a:spcAft>
              <a:buNone/>
            </a:pPr>
            <a:r>
              <a:rPr lang="en-US" sz="970" b="1" dirty="0">
                <a:solidFill>
                  <a:srgbClr val="2D1B69"/>
                </a:solidFill>
                <a:latin typeface="Calibri" pitchFamily="34" charset="0"/>
                <a:cs typeface="Calibri" pitchFamily="34" charset="-120"/>
              </a:rPr>
              <a:t>12-Month Forecast</a:t>
            </a:r>
            <a:endParaRPr lang="en-US" sz="970" b="1" dirty="0">
              <a:solidFill>
                <a:srgbClr val="2D1B69"/>
              </a:solidFill>
              <a:latin typeface="Calibri" pitchFamily="34" charset="0"/>
              <a:ea typeface="Calibri" pitchFamily="34" charset="-122"/>
              <a:cs typeface="Calibri" pitchFamily="34" charset="-120"/>
            </a:endParaRPr>
          </a:p>
          <a:p>
            <a:pPr algn="just">
              <a:lnSpc>
                <a:spcPct val="108000"/>
              </a:lnSpc>
            </a:pPr>
            <a:r>
              <a:rPr lang="en-US" sz="970" dirty="0">
                <a:solidFill>
                  <a:srgbClr val="3A3A4A"/>
                </a:solidFill>
                <a:latin typeface="Calibri" pitchFamily="34" charset="0"/>
                <a:ea typeface="Calibri" pitchFamily="34" charset="-122"/>
                <a:cs typeface="Calibri" pitchFamily="34" charset="-120"/>
              </a:rPr>
              <a:t>The final regime-aware SARIMA model projects egg prices through </a:t>
            </a:r>
            <a:r>
              <a:rPr lang="en-US" sz="970" b="1" dirty="0">
                <a:solidFill>
                  <a:srgbClr val="3A3A4A"/>
                </a:solidFill>
                <a:latin typeface="Calibri" pitchFamily="34" charset="0"/>
                <a:ea typeface="Calibri" pitchFamily="34" charset="-122"/>
                <a:cs typeface="Calibri" pitchFamily="34" charset="-120"/>
              </a:rPr>
              <a:t>January to December 2026</a:t>
            </a:r>
            <a:r>
              <a:rPr lang="en-US" sz="970" dirty="0">
                <a:solidFill>
                  <a:srgbClr val="3A3A4A"/>
                </a:solidFill>
                <a:latin typeface="Calibri" pitchFamily="34" charset="0"/>
                <a:ea typeface="Calibri" pitchFamily="34" charset="-122"/>
                <a:cs typeface="Calibri" pitchFamily="34" charset="-120"/>
              </a:rPr>
              <a:t>.</a:t>
            </a:r>
          </a:p>
          <a:p>
            <a:pPr algn="just">
              <a:lnSpc>
                <a:spcPct val="108000"/>
              </a:lnSpc>
            </a:pPr>
            <a:endParaRPr lang="en-US" sz="970" dirty="0">
              <a:solidFill>
                <a:srgbClr val="3A3A4A"/>
              </a:solidFill>
              <a:latin typeface="Calibri" pitchFamily="34" charset="0"/>
              <a:ea typeface="Calibri" pitchFamily="34" charset="-122"/>
              <a:cs typeface="Calibri" pitchFamily="34" charset="-120"/>
            </a:endParaRPr>
          </a:p>
          <a:p>
            <a:pPr algn="just">
              <a:lnSpc>
                <a:spcPct val="108000"/>
              </a:lnSpc>
            </a:pPr>
            <a:r>
              <a:rPr lang="en-US" sz="970" b="1" dirty="0">
                <a:solidFill>
                  <a:srgbClr val="2D1B69"/>
                </a:solidFill>
                <a:latin typeface="Calibri" pitchFamily="34" charset="0"/>
                <a:cs typeface="Calibri" pitchFamily="34" charset="-120"/>
              </a:rPr>
              <a:t>Uncertainty Widens the Horizon</a:t>
            </a:r>
            <a:endParaRPr lang="en-US" sz="970" b="1" dirty="0">
              <a:solidFill>
                <a:srgbClr val="2D1B69"/>
              </a:solidFill>
              <a:latin typeface="Calibri" pitchFamily="34" charset="0"/>
              <a:ea typeface="Calibri" pitchFamily="34" charset="-122"/>
              <a:cs typeface="Calibri" pitchFamily="34" charset="-120"/>
            </a:endParaRPr>
          </a:p>
          <a:p>
            <a:pPr algn="just">
              <a:lnSpc>
                <a:spcPct val="108000"/>
              </a:lnSpc>
            </a:pPr>
            <a:r>
              <a:rPr lang="en-US" sz="970" dirty="0">
                <a:solidFill>
                  <a:srgbClr val="3A3A4A"/>
                </a:solidFill>
                <a:latin typeface="Calibri" pitchFamily="34" charset="0"/>
                <a:ea typeface="Calibri" pitchFamily="34" charset="-122"/>
                <a:cs typeface="Calibri" pitchFamily="34" charset="-120"/>
              </a:rPr>
              <a:t>The 95% confidence interval starts narrow in January and widens substantially by December. A mathematically expected property of forecasting further from the last known data point, and a genuine signal: </a:t>
            </a:r>
            <a:r>
              <a:rPr lang="en-US" sz="970" b="1" dirty="0">
                <a:solidFill>
                  <a:srgbClr val="3A3A4A"/>
                </a:solidFill>
                <a:latin typeface="Calibri" pitchFamily="34" charset="0"/>
                <a:ea typeface="Calibri" pitchFamily="34" charset="-122"/>
                <a:cs typeface="Calibri" pitchFamily="34" charset="-120"/>
              </a:rPr>
              <a:t>confidence in month 1 is much higher than confidence in month 12.</a:t>
            </a:r>
          </a:p>
          <a:p>
            <a:pPr algn="just">
              <a:lnSpc>
                <a:spcPct val="108000"/>
              </a:lnSpc>
            </a:pPr>
            <a:endParaRPr lang="en-US" sz="970" dirty="0">
              <a:solidFill>
                <a:srgbClr val="3A3A4A"/>
              </a:solidFill>
              <a:latin typeface="Calibri" pitchFamily="34" charset="0"/>
              <a:ea typeface="Calibri" pitchFamily="34" charset="-122"/>
              <a:cs typeface="Calibri" pitchFamily="34" charset="-120"/>
            </a:endParaRPr>
          </a:p>
          <a:p>
            <a:pPr algn="just">
              <a:lnSpc>
                <a:spcPct val="108000"/>
              </a:lnSpc>
            </a:pPr>
            <a:r>
              <a:rPr lang="en-US" sz="970" b="1" dirty="0">
                <a:solidFill>
                  <a:srgbClr val="2D1B69"/>
                </a:solidFill>
                <a:latin typeface="Calibri" pitchFamily="34" charset="0"/>
                <a:cs typeface="Calibri" pitchFamily="34" charset="-120"/>
              </a:rPr>
              <a:t>January 2026: Forecast vs Actual</a:t>
            </a:r>
          </a:p>
          <a:p>
            <a:pPr algn="just">
              <a:lnSpc>
                <a:spcPct val="108000"/>
              </a:lnSpc>
            </a:pPr>
            <a:r>
              <a:rPr lang="en-US" sz="970" b="1" dirty="0">
                <a:solidFill>
                  <a:srgbClr val="3A3A4A"/>
                </a:solidFill>
                <a:latin typeface="Calibri" pitchFamily="34" charset="0"/>
                <a:ea typeface="Calibri" pitchFamily="34" charset="-122"/>
                <a:cs typeface="Calibri" pitchFamily="34" charset="-120"/>
              </a:rPr>
              <a:t>The gap is explained by Ramadan falling in February 2026</a:t>
            </a:r>
            <a:r>
              <a:rPr lang="en-US" sz="970" dirty="0">
                <a:solidFill>
                  <a:srgbClr val="3A3A4A"/>
                </a:solidFill>
                <a:latin typeface="Calibri" pitchFamily="34" charset="0"/>
                <a:ea typeface="Calibri" pitchFamily="34" charset="-122"/>
                <a:cs typeface="Calibri" pitchFamily="34" charset="-120"/>
              </a:rPr>
              <a:t>, the earliest date in the training dataset's history, pulling pre-Ramadan demand into January for the first time. </a:t>
            </a:r>
          </a:p>
          <a:p>
            <a:pPr algn="just">
              <a:lnSpc>
                <a:spcPct val="108000"/>
              </a:lnSpc>
            </a:pPr>
            <a:endParaRPr lang="en-US" sz="970" dirty="0">
              <a:solidFill>
                <a:srgbClr val="3A3A4A"/>
              </a:solidFill>
              <a:latin typeface="Calibri" pitchFamily="34" charset="0"/>
              <a:ea typeface="Calibri" pitchFamily="34" charset="-122"/>
              <a:cs typeface="Calibri" pitchFamily="34" charset="-120"/>
            </a:endParaRPr>
          </a:p>
          <a:p>
            <a:pPr algn="just">
              <a:lnSpc>
                <a:spcPct val="108000"/>
              </a:lnSpc>
            </a:pPr>
            <a:r>
              <a:rPr lang="en-US" sz="970" b="1" i="1" dirty="0">
                <a:solidFill>
                  <a:srgbClr val="3A3A4A"/>
                </a:solidFill>
                <a:latin typeface="Calibri" pitchFamily="34" charset="0"/>
                <a:ea typeface="Calibri" pitchFamily="34" charset="-122"/>
                <a:cs typeface="Calibri" pitchFamily="34" charset="-120"/>
              </a:rPr>
              <a:t>No model trained on 2022–2025 history had precedent for this specific lunar calendar shift, but the model's uncertainty band was wide enough to still capture the actual outcome.</a:t>
            </a:r>
          </a:p>
        </p:txBody>
      </p:sp>
    </p:spTree>
    <p:extLst>
      <p:ext uri="{BB962C8B-B14F-4D97-AF65-F5344CB8AC3E}">
        <p14:creationId xmlns:p14="http://schemas.microsoft.com/office/powerpoint/2010/main" val="14094635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1">
    <p:bg>
      <p:bgPr>
        <a:solidFill>
          <a:srgbClr val="2D1B69"/>
        </a:solidFill>
        <a:effectLst/>
      </p:bgPr>
    </p:bg>
    <p:spTree>
      <p:nvGrpSpPr>
        <p:cNvPr id="1" name=""/>
        <p:cNvGrpSpPr/>
        <p:nvPr/>
      </p:nvGrpSpPr>
      <p:grpSpPr>
        <a:xfrm>
          <a:off x="0" y="0"/>
          <a:ext cx="0" cy="0"/>
          <a:chOff x="0" y="0"/>
          <a:chExt cx="0" cy="0"/>
        </a:xfrm>
      </p:grpSpPr>
      <p:sp>
        <p:nvSpPr>
          <p:cNvPr id="2" name="Text 0"/>
          <p:cNvSpPr/>
          <p:nvPr/>
        </p:nvSpPr>
        <p:spPr>
          <a:xfrm>
            <a:off x="457200" y="1417320"/>
            <a:ext cx="8229600" cy="822960"/>
          </a:xfrm>
          <a:prstGeom prst="rect">
            <a:avLst/>
          </a:prstGeom>
          <a:noFill/>
          <a:ln/>
        </p:spPr>
        <p:txBody>
          <a:bodyPr wrap="square" lIns="0" tIns="0" rIns="0" bIns="0" rtlCol="0" anchor="ctr"/>
          <a:lstStyle/>
          <a:p>
            <a:pPr marL="0" indent="0" algn="ctr">
              <a:buNone/>
            </a:pPr>
            <a:r>
              <a:rPr lang="en-US" sz="4200" b="1" dirty="0">
                <a:solidFill>
                  <a:srgbClr val="FFFFFF"/>
                </a:solidFill>
                <a:latin typeface="Cambria" pitchFamily="34" charset="0"/>
                <a:ea typeface="Cambria" pitchFamily="34" charset="-122"/>
                <a:cs typeface="Cambria" pitchFamily="34" charset="-120"/>
              </a:rPr>
              <a:t>Dashboard Outputs</a:t>
            </a:r>
            <a:endParaRPr lang="en-US" sz="4200" dirty="0"/>
          </a:p>
        </p:txBody>
      </p:sp>
      <p:sp>
        <p:nvSpPr>
          <p:cNvPr id="3" name="Text 1"/>
          <p:cNvSpPr/>
          <p:nvPr/>
        </p:nvSpPr>
        <p:spPr>
          <a:xfrm>
            <a:off x="457200" y="2286000"/>
            <a:ext cx="8229600" cy="365760"/>
          </a:xfrm>
          <a:prstGeom prst="rect">
            <a:avLst/>
          </a:prstGeom>
          <a:noFill/>
          <a:ln/>
        </p:spPr>
        <p:txBody>
          <a:bodyPr wrap="square" lIns="0" tIns="0" rIns="0" bIns="0" rtlCol="0" anchor="ctr"/>
          <a:lstStyle/>
          <a:p>
            <a:pPr marL="0" indent="0" algn="ctr">
              <a:buNone/>
            </a:pPr>
            <a:r>
              <a:rPr lang="en-US" sz="1500" dirty="0">
                <a:solidFill>
                  <a:srgbClr val="C9BCE8"/>
                </a:solidFill>
                <a:latin typeface="Calibri" pitchFamily="34" charset="0"/>
                <a:ea typeface="Calibri" pitchFamily="34" charset="-122"/>
                <a:cs typeface="Calibri" pitchFamily="34" charset="-120"/>
              </a:rPr>
              <a:t>2 </a:t>
            </a:r>
            <a:r>
              <a:rPr lang="en-US" sz="1500">
                <a:solidFill>
                  <a:srgbClr val="C9BCE8"/>
                </a:solidFill>
                <a:latin typeface="Calibri" pitchFamily="34" charset="0"/>
                <a:ea typeface="Calibri" pitchFamily="34" charset="-122"/>
                <a:cs typeface="Calibri" pitchFamily="34" charset="-120"/>
              </a:rPr>
              <a:t>Interactive Dashboards</a:t>
            </a:r>
            <a:r>
              <a:rPr lang="en-US" sz="1500" dirty="0">
                <a:solidFill>
                  <a:srgbClr val="C9BCE8"/>
                </a:solidFill>
                <a:latin typeface="Calibri" pitchFamily="34" charset="0"/>
                <a:ea typeface="Calibri" pitchFamily="34" charset="-122"/>
                <a:cs typeface="Calibri" pitchFamily="34" charset="-120"/>
              </a:rPr>
              <a:t>  ·  Tableau Public</a:t>
            </a:r>
            <a:endParaRPr lang="en-US" sz="1500" dirty="0"/>
          </a:p>
        </p:txBody>
      </p:sp>
      <p:sp>
        <p:nvSpPr>
          <p:cNvPr id="4" name="Shape 2"/>
          <p:cNvSpPr/>
          <p:nvPr/>
        </p:nvSpPr>
        <p:spPr>
          <a:xfrm>
            <a:off x="2760692" y="2949069"/>
            <a:ext cx="1549191" cy="502920"/>
          </a:xfrm>
          <a:prstGeom prst="roundRect">
            <a:avLst>
              <a:gd name="adj" fmla="val 21818"/>
            </a:avLst>
          </a:prstGeom>
          <a:solidFill>
            <a:srgbClr val="473A77"/>
          </a:solidFill>
          <a:ln/>
        </p:spPr>
        <p:txBody>
          <a:bodyPr/>
          <a:lstStyle/>
          <a:p>
            <a:endParaRPr lang="en-US"/>
          </a:p>
        </p:txBody>
      </p:sp>
      <p:sp>
        <p:nvSpPr>
          <p:cNvPr id="5" name="Text 3"/>
          <p:cNvSpPr/>
          <p:nvPr/>
        </p:nvSpPr>
        <p:spPr>
          <a:xfrm>
            <a:off x="2760691" y="2949069"/>
            <a:ext cx="1549191"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Indonesia’s Commodity Overview</a:t>
            </a:r>
            <a:endParaRPr lang="en-US" sz="1300" dirty="0"/>
          </a:p>
        </p:txBody>
      </p:sp>
      <p:sp>
        <p:nvSpPr>
          <p:cNvPr id="9" name="Shape 4">
            <a:extLst>
              <a:ext uri="{FF2B5EF4-FFF2-40B4-BE49-F238E27FC236}">
                <a16:creationId xmlns:a16="http://schemas.microsoft.com/office/drawing/2014/main" id="{CDD2F62C-5724-040E-6744-66A332E6D016}"/>
              </a:ext>
            </a:extLst>
          </p:cNvPr>
          <p:cNvSpPr/>
          <p:nvPr/>
        </p:nvSpPr>
        <p:spPr>
          <a:xfrm>
            <a:off x="4572000" y="2939272"/>
            <a:ext cx="1649810" cy="502920"/>
          </a:xfrm>
          <a:prstGeom prst="roundRect">
            <a:avLst>
              <a:gd name="adj" fmla="val 21818"/>
            </a:avLst>
          </a:prstGeom>
          <a:solidFill>
            <a:srgbClr val="473A77"/>
          </a:solidFill>
          <a:ln/>
        </p:spPr>
        <p:txBody>
          <a:bodyPr/>
          <a:lstStyle/>
          <a:p>
            <a:endParaRPr lang="en-US" dirty="0"/>
          </a:p>
        </p:txBody>
      </p:sp>
      <p:sp>
        <p:nvSpPr>
          <p:cNvPr id="11" name="Text 5">
            <a:extLst>
              <a:ext uri="{FF2B5EF4-FFF2-40B4-BE49-F238E27FC236}">
                <a16:creationId xmlns:a16="http://schemas.microsoft.com/office/drawing/2014/main" id="{6BC28DDE-D049-026E-6212-6DB3AB19AFB2}"/>
              </a:ext>
            </a:extLst>
          </p:cNvPr>
          <p:cNvSpPr/>
          <p:nvPr/>
        </p:nvSpPr>
        <p:spPr>
          <a:xfrm>
            <a:off x="4572000" y="2949069"/>
            <a:ext cx="164981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Forecast</a:t>
            </a:r>
            <a:endParaRPr lang="en-US" sz="1300" dirty="0"/>
          </a:p>
        </p:txBody>
      </p:sp>
      <p:pic>
        <p:nvPicPr>
          <p:cNvPr id="12" name="Copied Picture 12">
            <a:extLst>
              <a:ext uri="{FF2B5EF4-FFF2-40B4-BE49-F238E27FC236}">
                <a16:creationId xmlns:a16="http://schemas.microsoft.com/office/drawing/2014/main" id="{098C5A1E-651C-798D-5D81-541A1CCCDFF3}"/>
              </a:ext>
            </a:extLst>
          </p:cNvPr>
          <p:cNvPicPr>
            <a:picLocks noChangeAspect="1"/>
          </p:cNvPicPr>
          <p:nvPr/>
        </p:nvPicPr>
        <p:blipFill>
          <a:blip r:embed="rId3"/>
          <a:stretch/>
        </p:blipFill>
        <p:spPr>
          <a:xfrm>
            <a:off x="7901259" y="101600"/>
            <a:ext cx="1141141" cy="753153"/>
          </a:xfrm>
          <a:prstGeom prst="rect">
            <a:avLst/>
          </a:prstGeom>
        </p:spPr>
      </p:pic>
    </p:spTree>
    <p:extLst>
      <p:ext uri="{BB962C8B-B14F-4D97-AF65-F5344CB8AC3E}">
        <p14:creationId xmlns:p14="http://schemas.microsoft.com/office/powerpoint/2010/main" val="2626976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p:cNvGrpSpPr/>
        <p:nvPr/>
      </p:nvGrpSpPr>
      <p:grpSpPr>
        <a:xfrm>
          <a:off x="0" y="0"/>
          <a:ext cx="0" cy="0"/>
          <a:chOff x="0" y="0"/>
          <a:chExt cx="0" cy="0"/>
        </a:xfrm>
      </p:grpSpPr>
      <p:sp>
        <p:nvSpPr>
          <p:cNvPr id="2" name="Text 0"/>
          <p:cNvSpPr/>
          <p:nvPr/>
        </p:nvSpPr>
        <p:spPr>
          <a:xfrm>
            <a:off x="494756" y="0"/>
            <a:ext cx="8503920" cy="731520"/>
          </a:xfrm>
          <a:prstGeom prst="rect">
            <a:avLst/>
          </a:prstGeom>
          <a:noFill/>
          <a:ln/>
        </p:spPr>
        <p:txBody>
          <a:bodyPr wrap="square" lIns="0" tIns="0" rIns="0" bIns="0" rtlCol="0" anchor="ctr"/>
          <a:lstStyle/>
          <a:p>
            <a:pPr marL="0" indent="0">
              <a:buNone/>
            </a:pPr>
            <a:r>
              <a:rPr lang="en-US" sz="2800" b="1">
                <a:solidFill>
                  <a:srgbClr val="FFFFFF"/>
                </a:solidFill>
                <a:latin typeface="Calibri" pitchFamily="34" charset="0"/>
                <a:ea typeface="Calibri" pitchFamily="34" charset="-122"/>
                <a:cs typeface="Calibri" pitchFamily="34" charset="-120"/>
              </a:rPr>
              <a:t>Dashboard 1: Indonesia’s Commodity Overview</a:t>
            </a:r>
            <a:endParaRPr lang="en-US" sz="2800" dirty="0"/>
          </a:p>
        </p:txBody>
      </p:sp>
      <p:pic>
        <p:nvPicPr>
          <p:cNvPr id="3" name="Copied Picture 3">
            <a:extLst>
              <a:ext uri="{FF2B5EF4-FFF2-40B4-BE49-F238E27FC236}">
                <a16:creationId xmlns:a16="http://schemas.microsoft.com/office/drawing/2014/main" id="{098C5A1E-651C-798D-5D81-541A1CCCDFF3}"/>
              </a:ext>
            </a:extLst>
          </p:cNvPr>
          <p:cNvPicPr>
            <a:picLocks noChangeAspect="1"/>
          </p:cNvPicPr>
          <p:nvPr/>
        </p:nvPicPr>
        <p:blipFill>
          <a:blip r:embed="rId3"/>
          <a:stretch/>
        </p:blipFill>
        <p:spPr>
          <a:xfrm>
            <a:off x="7901259" y="101600"/>
            <a:ext cx="1141141" cy="753153"/>
          </a:xfrm>
          <a:prstGeom prst="rect">
            <a:avLst/>
          </a:prstGeom>
        </p:spPr>
      </p:pic>
      <p:pic>
        <p:nvPicPr>
          <p:cNvPr id="11" name="Picture 10">
            <a:extLst>
              <a:ext uri="{FF2B5EF4-FFF2-40B4-BE49-F238E27FC236}">
                <a16:creationId xmlns:a16="http://schemas.microsoft.com/office/drawing/2014/main" id="{10731FBB-6438-53A4-B0C7-8EAF28A93A08}"/>
              </a:ext>
            </a:extLst>
          </p:cNvPr>
          <p:cNvPicPr>
            <a:picLocks noChangeAspect="1"/>
          </p:cNvPicPr>
          <p:nvPr/>
        </p:nvPicPr>
        <p:blipFill>
          <a:blip r:embed="rId4"/>
          <a:stretch>
            <a:fillRect/>
          </a:stretch>
        </p:blipFill>
        <p:spPr>
          <a:xfrm>
            <a:off x="1325607" y="833120"/>
            <a:ext cx="6841725" cy="4113487"/>
          </a:xfrm>
          <a:prstGeom prst="rect">
            <a:avLst/>
          </a:prstGeom>
        </p:spPr>
      </p:pic>
    </p:spTree>
    <p:extLst>
      <p:ext uri="{BB962C8B-B14F-4D97-AF65-F5344CB8AC3E}">
        <p14:creationId xmlns:p14="http://schemas.microsoft.com/office/powerpoint/2010/main" val="31221770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p:cNvGrpSpPr/>
        <p:nvPr/>
      </p:nvGrpSpPr>
      <p:grpSpPr>
        <a:xfrm>
          <a:off x="0" y="0"/>
          <a:ext cx="0" cy="0"/>
          <a:chOff x="0" y="0"/>
          <a:chExt cx="0" cy="0"/>
        </a:xfrm>
      </p:grpSpPr>
      <p:sp>
        <p:nvSpPr>
          <p:cNvPr id="2" name="Text 0"/>
          <p:cNvSpPr/>
          <p:nvPr/>
        </p:nvSpPr>
        <p:spPr>
          <a:xfrm>
            <a:off x="480249" y="-58189"/>
            <a:ext cx="8503920" cy="731520"/>
          </a:xfrm>
          <a:prstGeom prst="rect">
            <a:avLst/>
          </a:prstGeom>
          <a:noFill/>
          <a:ln/>
        </p:spPr>
        <p:txBody>
          <a:bodyPr wrap="square" lIns="0" tIns="0" rIns="0" bIns="0" rtlCol="0" anchor="ctr"/>
          <a:lstStyle/>
          <a:p>
            <a:pPr marL="0" indent="0">
              <a:buNone/>
            </a:pPr>
            <a:r>
              <a:rPr lang="en-US" sz="2800" b="1">
                <a:solidFill>
                  <a:srgbClr val="FFFFFF"/>
                </a:solidFill>
                <a:latin typeface="Calibri" pitchFamily="34" charset="0"/>
                <a:ea typeface="Calibri" pitchFamily="34" charset="-122"/>
                <a:cs typeface="Calibri" pitchFamily="34" charset="-120"/>
              </a:rPr>
              <a:t>Dashboard 2: Egg Forecast</a:t>
            </a:r>
            <a:endParaRPr lang="en-US" sz="2800" dirty="0"/>
          </a:p>
        </p:txBody>
      </p:sp>
      <p:pic>
        <p:nvPicPr>
          <p:cNvPr id="3" name="Copied Picture 3">
            <a:extLst>
              <a:ext uri="{FF2B5EF4-FFF2-40B4-BE49-F238E27FC236}">
                <a16:creationId xmlns:a16="http://schemas.microsoft.com/office/drawing/2014/main" id="{098C5A1E-651C-798D-5D81-541A1CCCDFF3}"/>
              </a:ext>
            </a:extLst>
          </p:cNvPr>
          <p:cNvPicPr>
            <a:picLocks noChangeAspect="1"/>
          </p:cNvPicPr>
          <p:nvPr/>
        </p:nvPicPr>
        <p:blipFill>
          <a:blip r:embed="rId3"/>
          <a:stretch/>
        </p:blipFill>
        <p:spPr>
          <a:xfrm>
            <a:off x="7901259" y="101600"/>
            <a:ext cx="1141141" cy="753153"/>
          </a:xfrm>
          <a:prstGeom prst="rect">
            <a:avLst/>
          </a:prstGeom>
        </p:spPr>
      </p:pic>
      <p:sp>
        <p:nvSpPr>
          <p:cNvPr id="5" name="TextBox 4">
            <a:extLst>
              <a:ext uri="{FF2B5EF4-FFF2-40B4-BE49-F238E27FC236}">
                <a16:creationId xmlns:a16="http://schemas.microsoft.com/office/drawing/2014/main" id="{738C5AF6-578E-1022-E28F-F9997BCABA56}"/>
              </a:ext>
            </a:extLst>
          </p:cNvPr>
          <p:cNvSpPr txBox="1"/>
          <p:nvPr/>
        </p:nvSpPr>
        <p:spPr>
          <a:xfrm>
            <a:off x="222738" y="4611162"/>
            <a:ext cx="6698169" cy="461665"/>
          </a:xfrm>
          <a:prstGeom prst="rect">
            <a:avLst/>
          </a:prstGeom>
          <a:noFill/>
        </p:spPr>
        <p:txBody>
          <a:bodyPr wrap="square">
            <a:spAutoFit/>
          </a:bodyPr>
          <a:lstStyle/>
          <a:p>
            <a:pPr algn="just">
              <a:buNone/>
            </a:pPr>
            <a:r>
              <a:rPr lang="en-US" sz="1200" b="1" i="1" dirty="0">
                <a:solidFill>
                  <a:schemeClr val="bg1"/>
                </a:solidFill>
              </a:rPr>
              <a:t>Note</a:t>
            </a:r>
            <a:r>
              <a:rPr lang="en-US" sz="1200" i="1" dirty="0">
                <a:solidFill>
                  <a:schemeClr val="bg1"/>
                </a:solidFill>
              </a:rPr>
              <a:t>: the dashboard version displays the point forecast only for readability. The full model output, including the 95% confidence interval already shown earlier.</a:t>
            </a:r>
            <a:endParaRPr lang="en-US" sz="1200" dirty="0">
              <a:solidFill>
                <a:schemeClr val="bg1"/>
              </a:solidFill>
            </a:endParaRPr>
          </a:p>
        </p:txBody>
      </p:sp>
      <p:pic>
        <p:nvPicPr>
          <p:cNvPr id="10" name="Picture 9">
            <a:extLst>
              <a:ext uri="{FF2B5EF4-FFF2-40B4-BE49-F238E27FC236}">
                <a16:creationId xmlns:a16="http://schemas.microsoft.com/office/drawing/2014/main" id="{CB5A286C-7599-9F4A-EDC5-1870B477B1A6}"/>
              </a:ext>
            </a:extLst>
          </p:cNvPr>
          <p:cNvPicPr>
            <a:picLocks noChangeAspect="1"/>
          </p:cNvPicPr>
          <p:nvPr/>
        </p:nvPicPr>
        <p:blipFill>
          <a:blip r:embed="rId4"/>
          <a:stretch>
            <a:fillRect/>
          </a:stretch>
        </p:blipFill>
        <p:spPr>
          <a:xfrm>
            <a:off x="1383105" y="673331"/>
            <a:ext cx="6377789" cy="3851975"/>
          </a:xfrm>
          <a:prstGeom prst="rect">
            <a:avLst/>
          </a:prstGeom>
        </p:spPr>
      </p:pic>
    </p:spTree>
    <p:extLst>
      <p:ext uri="{BB962C8B-B14F-4D97-AF65-F5344CB8AC3E}">
        <p14:creationId xmlns:p14="http://schemas.microsoft.com/office/powerpoint/2010/main" val="37852197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0">
    <p:bg>
      <p:bgPr>
        <a:solidFill>
          <a:srgbClr val="2D1B69"/>
        </a:solidFill>
        <a:effectLst/>
      </p:bgPr>
    </p:bg>
    <p:spTree>
      <p:nvGrpSpPr>
        <p:cNvPr id="1" name=""/>
        <p:cNvGrpSpPr/>
        <p:nvPr/>
      </p:nvGrpSpPr>
      <p:grpSpPr>
        <a:xfrm>
          <a:off x="0" y="0"/>
          <a:ext cx="0" cy="0"/>
          <a:chOff x="0" y="0"/>
          <a:chExt cx="0" cy="0"/>
        </a:xfrm>
      </p:grpSpPr>
      <p:sp>
        <p:nvSpPr>
          <p:cNvPr id="2" name="Text 0"/>
          <p:cNvSpPr/>
          <p:nvPr/>
        </p:nvSpPr>
        <p:spPr>
          <a:xfrm>
            <a:off x="250875" y="242271"/>
            <a:ext cx="4400000" cy="731520"/>
          </a:xfrm>
          <a:prstGeom prst="rect">
            <a:avLst/>
          </a:prstGeom>
          <a:noFill/>
          <a:ln/>
        </p:spPr>
        <p:txBody>
          <a:bodyPr wrap="square" lIns="0" tIns="0" rIns="0" bIns="0" rtlCol="0" anchor="ctr"/>
          <a:lstStyle/>
          <a:p>
            <a:pPr marL="0" indent="0">
              <a:buNone/>
            </a:pPr>
            <a:r>
              <a:rPr lang="en-US" sz="3200" b="1">
                <a:solidFill>
                  <a:srgbClr val="FFFFFF"/>
                </a:solidFill>
                <a:latin typeface="Calibri" pitchFamily="34" charset="0"/>
                <a:ea typeface="Calibri" pitchFamily="34" charset="-122"/>
                <a:cs typeface="Calibri" pitchFamily="34" charset="-120"/>
              </a:rPr>
              <a:t>Conclusions &amp; Recommendations</a:t>
            </a:r>
            <a:endParaRPr lang="en-US" sz="3800" dirty="0"/>
          </a:p>
        </p:txBody>
      </p:sp>
      <p:sp>
        <p:nvSpPr>
          <p:cNvPr id="3" name="Shape 1"/>
          <p:cNvSpPr/>
          <p:nvPr/>
        </p:nvSpPr>
        <p:spPr>
          <a:xfrm>
            <a:off x="4801014" y="274320"/>
            <a:ext cx="4041648" cy="1883188"/>
          </a:xfrm>
          <a:prstGeom prst="roundRect">
            <a:avLst>
              <a:gd name="adj" fmla="val 6667"/>
            </a:avLst>
          </a:prstGeom>
          <a:solidFill>
            <a:srgbClr val="FFFFFF"/>
          </a:solidFill>
          <a:ln/>
          <a:effectLst>
            <a:outerShdw blurRad="88900" dist="38100" dir="5400000" algn="bl" rotWithShape="0">
              <a:srgbClr val="1A0F40">
                <a:alpha val="35000"/>
              </a:srgbClr>
            </a:outerShdw>
          </a:effectLst>
        </p:spPr>
        <p:txBody>
          <a:bodyPr/>
          <a:lstStyle/>
          <a:p>
            <a:endParaRPr lang="en-US"/>
          </a:p>
        </p:txBody>
      </p:sp>
      <p:sp>
        <p:nvSpPr>
          <p:cNvPr id="4" name="Shape 2"/>
          <p:cNvSpPr/>
          <p:nvPr/>
        </p:nvSpPr>
        <p:spPr>
          <a:xfrm>
            <a:off x="4926687" y="1055540"/>
            <a:ext cx="457200" cy="457200"/>
          </a:xfrm>
          <a:prstGeom prst="ellipse">
            <a:avLst/>
          </a:prstGeom>
          <a:solidFill>
            <a:srgbClr val="5A3FA0"/>
          </a:solidFill>
          <a:ln/>
        </p:spPr>
        <p:txBody>
          <a:bodyPr/>
          <a:lstStyle/>
          <a:p>
            <a:endParaRPr lang="en-US"/>
          </a:p>
        </p:txBody>
      </p:sp>
      <p:sp>
        <p:nvSpPr>
          <p:cNvPr id="5" name="Text 3"/>
          <p:cNvSpPr/>
          <p:nvPr/>
        </p:nvSpPr>
        <p:spPr>
          <a:xfrm>
            <a:off x="4926687" y="1062298"/>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6" name="Text 4"/>
          <p:cNvSpPr/>
          <p:nvPr/>
        </p:nvSpPr>
        <p:spPr>
          <a:xfrm>
            <a:off x="5509560" y="344854"/>
            <a:ext cx="3035808" cy="1758266"/>
          </a:xfrm>
          <a:prstGeom prst="rect">
            <a:avLst/>
          </a:prstGeom>
          <a:noFill/>
          <a:ln/>
        </p:spPr>
        <p:txBody>
          <a:bodyPr wrap="square" lIns="0" tIns="0" rIns="0" bIns="0" rtlCol="0" anchor="t"/>
          <a:lstStyle/>
          <a:p>
            <a:pPr algn="just"/>
            <a:r>
              <a:rPr lang="en-US" sz="1200" b="1" u="sng" dirty="0">
                <a:solidFill>
                  <a:srgbClr val="2D1B69"/>
                </a:solidFill>
                <a:latin typeface="Calibri" pitchFamily="34" charset="0"/>
                <a:ea typeface="Calibri" pitchFamily="34" charset="-122"/>
                <a:cs typeface="Calibri" pitchFamily="34" charset="-120"/>
              </a:rPr>
              <a:t>Commercial Recommendation</a:t>
            </a:r>
          </a:p>
          <a:p>
            <a:pPr algn="just">
              <a:lnSpc>
                <a:spcPct val="105000"/>
              </a:lnSpc>
              <a:defRPr/>
            </a:pPr>
            <a:endParaRPr lang="en-US" sz="1100" noProof="0" dirty="0"/>
          </a:p>
          <a:p>
            <a:pPr algn="just">
              <a:lnSpc>
                <a:spcPct val="105000"/>
              </a:lnSpc>
              <a:defRPr/>
            </a:pPr>
            <a:r>
              <a:rPr lang="en-US" sz="970" b="1" dirty="0">
                <a:solidFill>
                  <a:srgbClr val="3A3A4A"/>
                </a:solidFill>
                <a:latin typeface="Calibri" pitchFamily="34" charset="0"/>
                <a:ea typeface="Calibri" pitchFamily="34" charset="-122"/>
                <a:cs typeface="Calibri" pitchFamily="34" charset="-120"/>
              </a:rPr>
              <a:t>U</a:t>
            </a:r>
            <a:r>
              <a:rPr kumimoji="0" lang="en-US" sz="970" b="1" i="0" u="none" strike="noStrike" kern="1200" cap="none" spc="0" normalizeH="0" baseline="0" noProof="0" dirty="0">
                <a:ln>
                  <a:noFill/>
                </a:ln>
                <a:solidFill>
                  <a:srgbClr val="3A3A4A"/>
                </a:solidFill>
                <a:effectLst/>
                <a:uLnTx/>
                <a:uFillTx/>
                <a:latin typeface="Calibri" pitchFamily="34" charset="0"/>
                <a:ea typeface="Calibri" pitchFamily="34" charset="-122"/>
                <a:cs typeface="Calibri" pitchFamily="34" charset="-120"/>
              </a:rPr>
              <a:t>se the forecast as an early-warning tool for inventory planning, particularly before predictable high-demand periods. Build a buffer stock around those periods each year. (like Ramadan, Christmas, etc.)</a:t>
            </a:r>
          </a:p>
          <a:p>
            <a:pPr algn="just">
              <a:lnSpc>
                <a:spcPct val="105000"/>
              </a:lnSpc>
              <a:defRPr/>
            </a:pPr>
            <a:endParaRPr kumimoji="0" lang="en-US" sz="970" b="0" i="0" u="none" strike="noStrike" kern="1200" cap="none" spc="0" normalizeH="0" baseline="0" noProof="0" dirty="0">
              <a:ln>
                <a:noFill/>
              </a:ln>
              <a:solidFill>
                <a:srgbClr val="3A3A4A"/>
              </a:solidFill>
              <a:effectLst/>
              <a:uLnTx/>
              <a:uFillTx/>
              <a:latin typeface="Calibri" pitchFamily="34" charset="0"/>
              <a:ea typeface="Calibri" pitchFamily="34" charset="-122"/>
              <a:cs typeface="Calibri" pitchFamily="34" charset="-120"/>
            </a:endParaRPr>
          </a:p>
          <a:p>
            <a:pPr algn="just">
              <a:lnSpc>
                <a:spcPct val="105000"/>
              </a:lnSpc>
              <a:defRPr/>
            </a:pPr>
            <a:r>
              <a:rPr kumimoji="0" lang="en-US" sz="970" b="0" i="0" u="none" strike="noStrike" kern="1200" cap="none" spc="0" normalizeH="0" baseline="0" noProof="0" dirty="0">
                <a:ln>
                  <a:noFill/>
                </a:ln>
                <a:solidFill>
                  <a:srgbClr val="3A3A4A"/>
                </a:solidFill>
                <a:effectLst/>
                <a:uLnTx/>
                <a:uFillTx/>
                <a:latin typeface="Calibri" pitchFamily="34" charset="0"/>
                <a:ea typeface="Calibri" pitchFamily="34" charset="-122"/>
                <a:cs typeface="Calibri" pitchFamily="34" charset="-120"/>
              </a:rPr>
              <a:t>Regional retailers across the Gulf already apply this principle, pre-positioning inventory weeks ahead of Ramadan rather than reacting to shortages after they occur (The Media Line, 2026).</a:t>
            </a:r>
          </a:p>
          <a:p>
            <a:pPr algn="just">
              <a:lnSpc>
                <a:spcPct val="105000"/>
              </a:lnSpc>
              <a:defRPr/>
            </a:pPr>
            <a:endParaRPr kumimoji="0" lang="en-US" sz="970" b="0" i="0" u="none" strike="noStrike" kern="1200" cap="none" spc="0" normalizeH="0" baseline="0" noProof="0" dirty="0">
              <a:ln>
                <a:noFill/>
              </a:ln>
              <a:solidFill>
                <a:srgbClr val="3A3A4A"/>
              </a:solidFill>
              <a:effectLst/>
              <a:uLnTx/>
              <a:uFillTx/>
              <a:latin typeface="Calibri" pitchFamily="34" charset="0"/>
              <a:ea typeface="Calibri" pitchFamily="34" charset="-122"/>
              <a:cs typeface="Calibri" pitchFamily="34" charset="-120"/>
            </a:endParaRPr>
          </a:p>
          <a:p>
            <a:pPr marL="0" marR="0" lvl="0" indent="0" algn="just" defTabSz="914400" rtl="0" eaLnBrk="1" fontAlgn="auto" latinLnBrk="0" hangingPunct="1">
              <a:lnSpc>
                <a:spcPct val="105000"/>
              </a:lnSpc>
              <a:spcBef>
                <a:spcPts val="0"/>
              </a:spcBef>
              <a:spcAft>
                <a:spcPts val="0"/>
              </a:spcAft>
              <a:buClrTx/>
              <a:buSzTx/>
              <a:buFontTx/>
              <a:buNone/>
              <a:tabLst/>
              <a:defRPr/>
            </a:pPr>
            <a:endParaRPr lang="en-US" sz="970" dirty="0">
              <a:solidFill>
                <a:srgbClr val="3A3A4A"/>
              </a:solidFill>
              <a:latin typeface="Calibri" pitchFamily="34" charset="0"/>
              <a:ea typeface="Calibri" pitchFamily="34" charset="-122"/>
              <a:cs typeface="Calibri" pitchFamily="34" charset="-120"/>
            </a:endParaRPr>
          </a:p>
          <a:p>
            <a:pPr marL="0" marR="0" lvl="0" indent="0" algn="just" defTabSz="914400" rtl="0" eaLnBrk="1" fontAlgn="auto" latinLnBrk="0" hangingPunct="1">
              <a:lnSpc>
                <a:spcPct val="105000"/>
              </a:lnSpc>
              <a:spcBef>
                <a:spcPts val="0"/>
              </a:spcBef>
              <a:spcAft>
                <a:spcPts val="0"/>
              </a:spcAft>
              <a:buClrTx/>
              <a:buSzTx/>
              <a:buFontTx/>
              <a:buNone/>
              <a:tabLst/>
              <a:defRPr/>
            </a:pPr>
            <a:endParaRPr kumimoji="0" lang="en-US" sz="970" b="0" i="0" u="none" strike="noStrike" kern="1200" cap="none" spc="0" normalizeH="0" baseline="0" noProof="0" dirty="0">
              <a:ln>
                <a:noFill/>
              </a:ln>
              <a:solidFill>
                <a:srgbClr val="3A3A4A"/>
              </a:solidFill>
              <a:effectLst/>
              <a:uLnTx/>
              <a:uFillTx/>
              <a:latin typeface="Calibri" pitchFamily="34" charset="0"/>
              <a:ea typeface="Calibri" pitchFamily="34" charset="-122"/>
              <a:cs typeface="Calibri" pitchFamily="34" charset="-120"/>
            </a:endParaRPr>
          </a:p>
          <a:p>
            <a:pPr algn="just"/>
            <a:endParaRPr lang="en-US" sz="1100" dirty="0"/>
          </a:p>
        </p:txBody>
      </p:sp>
      <p:sp>
        <p:nvSpPr>
          <p:cNvPr id="24" name="Shape 1">
            <a:extLst>
              <a:ext uri="{FF2B5EF4-FFF2-40B4-BE49-F238E27FC236}">
                <a16:creationId xmlns:a16="http://schemas.microsoft.com/office/drawing/2014/main" id="{549E13A8-CC28-4892-7C36-DABF2121A9DA}"/>
              </a:ext>
            </a:extLst>
          </p:cNvPr>
          <p:cNvSpPr/>
          <p:nvPr/>
        </p:nvSpPr>
        <p:spPr>
          <a:xfrm>
            <a:off x="250875" y="1119631"/>
            <a:ext cx="4321125" cy="3452369"/>
          </a:xfrm>
          <a:prstGeom prst="roundRect">
            <a:avLst>
              <a:gd name="adj" fmla="val 6667"/>
            </a:avLst>
          </a:prstGeom>
          <a:solidFill>
            <a:srgbClr val="FFFFFF"/>
          </a:solidFill>
          <a:ln/>
          <a:effectLst>
            <a:outerShdw blurRad="88900" dist="38100" dir="5400000" algn="bl" rotWithShape="0">
              <a:srgbClr val="1A0F40">
                <a:alpha val="35000"/>
              </a:srgbClr>
            </a:outerShdw>
          </a:effectLst>
        </p:spPr>
        <p:txBody>
          <a:bodyPr/>
          <a:lstStyle/>
          <a:p>
            <a:endParaRPr lang="en-US"/>
          </a:p>
        </p:txBody>
      </p:sp>
      <p:sp>
        <p:nvSpPr>
          <p:cNvPr id="25" name="Text 5">
            <a:extLst>
              <a:ext uri="{FF2B5EF4-FFF2-40B4-BE49-F238E27FC236}">
                <a16:creationId xmlns:a16="http://schemas.microsoft.com/office/drawing/2014/main" id="{ED6DF977-5EB6-A21D-1578-7313A70B38C5}"/>
              </a:ext>
            </a:extLst>
          </p:cNvPr>
          <p:cNvSpPr/>
          <p:nvPr/>
        </p:nvSpPr>
        <p:spPr>
          <a:xfrm>
            <a:off x="363950" y="1209810"/>
            <a:ext cx="4094973" cy="3140150"/>
          </a:xfrm>
          <a:prstGeom prst="rect">
            <a:avLst/>
          </a:prstGeom>
          <a:noFill/>
          <a:ln/>
        </p:spPr>
        <p:txBody>
          <a:bodyPr wrap="square" lIns="0" tIns="0" rIns="0" bIns="0" rtlCol="0" anchor="t"/>
          <a:lstStyle/>
          <a:p>
            <a:pPr algn="just">
              <a:lnSpc>
                <a:spcPct val="105000"/>
              </a:lnSpc>
            </a:pPr>
            <a:r>
              <a:rPr lang="en-US" sz="970" dirty="0">
                <a:solidFill>
                  <a:srgbClr val="3A3A4A"/>
                </a:solidFill>
                <a:latin typeface="Calibri" pitchFamily="34" charset="0"/>
                <a:ea typeface="Calibri" pitchFamily="34" charset="-122"/>
                <a:cs typeface="Calibri" pitchFamily="34" charset="-120"/>
              </a:rPr>
              <a:t>Egg prices in Indonesia </a:t>
            </a:r>
            <a:r>
              <a:rPr lang="en-US" sz="970" b="1" dirty="0">
                <a:solidFill>
                  <a:srgbClr val="3A3A4A"/>
                </a:solidFill>
                <a:latin typeface="Calibri" pitchFamily="34" charset="0"/>
                <a:ea typeface="Calibri" pitchFamily="34" charset="-122"/>
                <a:cs typeface="Calibri" pitchFamily="34" charset="-120"/>
              </a:rPr>
              <a:t>moved through two very different chapters over the past four years</a:t>
            </a:r>
            <a:r>
              <a:rPr lang="en-US" sz="970" dirty="0">
                <a:solidFill>
                  <a:srgbClr val="3A3A4A"/>
                </a:solidFill>
                <a:latin typeface="Calibri" pitchFamily="34" charset="0"/>
                <a:ea typeface="Calibri" pitchFamily="34" charset="-122"/>
                <a:cs typeface="Calibri" pitchFamily="34" charset="-120"/>
              </a:rPr>
              <a:t>: a real market shock in 2023 that no model saw coming, followed by a calmer stretch where fancy forecasting tools didn't add much value over simply looking at recent prices.</a:t>
            </a:r>
          </a:p>
          <a:p>
            <a:pPr algn="just">
              <a:lnSpc>
                <a:spcPct val="105000"/>
              </a:lnSpc>
            </a:pPr>
            <a:endParaRPr lang="en-US" sz="970" dirty="0">
              <a:solidFill>
                <a:srgbClr val="3A3A4A"/>
              </a:solidFill>
              <a:latin typeface="Calibri" pitchFamily="34" charset="0"/>
              <a:ea typeface="Calibri" pitchFamily="34" charset="-122"/>
              <a:cs typeface="Calibri" pitchFamily="34" charset="-120"/>
            </a:endParaRPr>
          </a:p>
          <a:p>
            <a:pPr algn="just">
              <a:lnSpc>
                <a:spcPct val="105000"/>
              </a:lnSpc>
            </a:pPr>
            <a:r>
              <a:rPr lang="en-US" sz="970" dirty="0">
                <a:solidFill>
                  <a:srgbClr val="3A3A4A"/>
                </a:solidFill>
                <a:latin typeface="Calibri" pitchFamily="34" charset="0"/>
                <a:ea typeface="Calibri" pitchFamily="34" charset="-122"/>
                <a:cs typeface="Calibri" pitchFamily="34" charset="-120"/>
              </a:rPr>
              <a:t>After testing different approaches, the clearest lesson wasn't which one "won”. It's that the right tool depends on the moment. </a:t>
            </a:r>
            <a:r>
              <a:rPr lang="en-US" sz="970" b="1" dirty="0">
                <a:solidFill>
                  <a:srgbClr val="3A3A4A"/>
                </a:solidFill>
                <a:latin typeface="Calibri" pitchFamily="34" charset="0"/>
                <a:ea typeface="Calibri" pitchFamily="34" charset="-122"/>
                <a:cs typeface="Calibri" pitchFamily="34" charset="-120"/>
              </a:rPr>
              <a:t>Simple methods work fine when the market is calm</a:t>
            </a:r>
            <a:r>
              <a:rPr lang="en-US" sz="970" dirty="0">
                <a:solidFill>
                  <a:srgbClr val="3A3A4A"/>
                </a:solidFill>
                <a:latin typeface="Calibri" pitchFamily="34" charset="0"/>
                <a:ea typeface="Calibri" pitchFamily="34" charset="-122"/>
                <a:cs typeface="Calibri" pitchFamily="34" charset="-120"/>
              </a:rPr>
              <a:t>, but a smarter, adaptive approach pays off specifically when things are shifting, reducing error by approximately 61% compared with static SARIMA during the 2023–2024 transition.</a:t>
            </a:r>
          </a:p>
          <a:p>
            <a:pPr algn="just">
              <a:lnSpc>
                <a:spcPct val="105000"/>
              </a:lnSpc>
            </a:pPr>
            <a:endParaRPr lang="en-US" sz="970" dirty="0">
              <a:solidFill>
                <a:srgbClr val="3A3A4A"/>
              </a:solidFill>
              <a:latin typeface="Calibri" pitchFamily="34" charset="0"/>
              <a:ea typeface="Calibri" pitchFamily="34" charset="-122"/>
              <a:cs typeface="Calibri" pitchFamily="34" charset="-120"/>
            </a:endParaRPr>
          </a:p>
          <a:p>
            <a:pPr algn="just">
              <a:lnSpc>
                <a:spcPct val="105000"/>
              </a:lnSpc>
            </a:pPr>
            <a:r>
              <a:rPr lang="en-US" sz="970" dirty="0">
                <a:solidFill>
                  <a:srgbClr val="3A3A4A"/>
                </a:solidFill>
                <a:latin typeface="Calibri" pitchFamily="34" charset="0"/>
                <a:ea typeface="Calibri" pitchFamily="34" charset="-122"/>
                <a:cs typeface="Calibri" pitchFamily="34" charset="-120"/>
              </a:rPr>
              <a:t>The January 2026 check-in taught a similar lesson. The range of possible outcomes the model predicted still covered what happened. </a:t>
            </a:r>
            <a:r>
              <a:rPr lang="en-US" sz="970" b="1" dirty="0">
                <a:solidFill>
                  <a:srgbClr val="3A3A4A"/>
                </a:solidFill>
                <a:latin typeface="Calibri" pitchFamily="34" charset="0"/>
                <a:ea typeface="Calibri" pitchFamily="34" charset="-122"/>
                <a:cs typeface="Calibri" pitchFamily="34" charset="-120"/>
              </a:rPr>
              <a:t>The gap came down to Ramadan falling earlier than it ever had in the four years of data </a:t>
            </a:r>
            <a:r>
              <a:rPr lang="en-US" sz="970" dirty="0">
                <a:solidFill>
                  <a:srgbClr val="3A3A4A"/>
                </a:solidFill>
                <a:latin typeface="Calibri" pitchFamily="34" charset="0"/>
                <a:ea typeface="Calibri" pitchFamily="34" charset="-122"/>
                <a:cs typeface="Calibri" pitchFamily="34" charset="-120"/>
              </a:rPr>
              <a:t>used to build the model, pulling holiday demand into a month that had never seen a spike before. The point forecast missed the January increase, although the actual price remained within the uncertainty level.</a:t>
            </a:r>
          </a:p>
          <a:p>
            <a:pPr algn="just">
              <a:lnSpc>
                <a:spcPct val="105000"/>
              </a:lnSpc>
            </a:pPr>
            <a:endParaRPr lang="en-US" sz="970" dirty="0">
              <a:solidFill>
                <a:srgbClr val="3A3A4A"/>
              </a:solidFill>
              <a:latin typeface="Calibri" pitchFamily="34" charset="0"/>
              <a:ea typeface="Calibri" pitchFamily="34" charset="-122"/>
              <a:cs typeface="Calibri" pitchFamily="34" charset="-120"/>
            </a:endParaRPr>
          </a:p>
          <a:p>
            <a:pPr algn="just">
              <a:lnSpc>
                <a:spcPct val="105000"/>
              </a:lnSpc>
            </a:pPr>
            <a:r>
              <a:rPr lang="en-US" sz="970" dirty="0">
                <a:solidFill>
                  <a:srgbClr val="3A3A4A"/>
                </a:solidFill>
                <a:latin typeface="Calibri" pitchFamily="34" charset="0"/>
                <a:ea typeface="Calibri" pitchFamily="34" charset="-122"/>
                <a:cs typeface="Calibri" pitchFamily="34" charset="-120"/>
              </a:rPr>
              <a:t>That's exactly why </a:t>
            </a:r>
            <a:r>
              <a:rPr lang="en-US" sz="970" b="1" dirty="0">
                <a:solidFill>
                  <a:srgbClr val="3A3A4A"/>
                </a:solidFill>
                <a:latin typeface="Calibri" pitchFamily="34" charset="0"/>
                <a:ea typeface="Calibri" pitchFamily="34" charset="-122"/>
                <a:cs typeface="Calibri" pitchFamily="34" charset="-120"/>
              </a:rPr>
              <a:t>statistics alone isn't enough here</a:t>
            </a:r>
            <a:r>
              <a:rPr lang="en-US" sz="970" dirty="0">
                <a:solidFill>
                  <a:srgbClr val="3A3A4A"/>
                </a:solidFill>
                <a:latin typeface="Calibri" pitchFamily="34" charset="0"/>
                <a:ea typeface="Calibri" pitchFamily="34" charset="-122"/>
                <a:cs typeface="Calibri" pitchFamily="34" charset="-120"/>
              </a:rPr>
              <a:t>. A model can learn from the past, but it can't know what it's never been shown. Recognizing that gap, and </a:t>
            </a:r>
            <a:r>
              <a:rPr lang="en-US" sz="970" b="1" dirty="0">
                <a:solidFill>
                  <a:srgbClr val="3A3A4A"/>
                </a:solidFill>
                <a:latin typeface="Calibri" pitchFamily="34" charset="0"/>
                <a:ea typeface="Calibri" pitchFamily="34" charset="-122"/>
                <a:cs typeface="Calibri" pitchFamily="34" charset="-120"/>
              </a:rPr>
              <a:t>stepping in with real-world judgment when it appears, is still a human job</a:t>
            </a:r>
            <a:r>
              <a:rPr lang="en-US" sz="970" dirty="0">
                <a:solidFill>
                  <a:srgbClr val="3A3A4A"/>
                </a:solidFill>
                <a:latin typeface="Calibri" pitchFamily="34" charset="0"/>
                <a:ea typeface="Calibri" pitchFamily="34" charset="-122"/>
                <a:cs typeface="Calibri" pitchFamily="34" charset="-120"/>
              </a:rPr>
              <a:t>.</a:t>
            </a:r>
          </a:p>
          <a:p>
            <a:pPr marL="0" indent="0" algn="just">
              <a:lnSpc>
                <a:spcPct val="105000"/>
              </a:lnSpc>
              <a:buNone/>
            </a:pPr>
            <a:endParaRPr lang="en-US" sz="970" dirty="0">
              <a:solidFill>
                <a:srgbClr val="3A3A4A"/>
              </a:solidFill>
              <a:latin typeface="Calibri" pitchFamily="34" charset="0"/>
              <a:cs typeface="Calibri" pitchFamily="34" charset="-120"/>
            </a:endParaRPr>
          </a:p>
        </p:txBody>
      </p:sp>
      <p:pic>
        <p:nvPicPr>
          <p:cNvPr id="26" name="Copied Picture 26">
            <a:extLst>
              <a:ext uri="{FF2B5EF4-FFF2-40B4-BE49-F238E27FC236}">
                <a16:creationId xmlns:a16="http://schemas.microsoft.com/office/drawing/2014/main" id="{098C5A1E-651C-798D-5D81-541A1CCCDFF3}"/>
              </a:ext>
            </a:extLst>
          </p:cNvPr>
          <p:cNvPicPr>
            <a:picLocks noChangeAspect="1"/>
          </p:cNvPicPr>
          <p:nvPr/>
        </p:nvPicPr>
        <p:blipFill>
          <a:blip r:embed="rId3"/>
          <a:stretch/>
        </p:blipFill>
        <p:spPr>
          <a:xfrm>
            <a:off x="28061" y="4440139"/>
            <a:ext cx="1141141" cy="753153"/>
          </a:xfrm>
          <a:prstGeom prst="rect">
            <a:avLst/>
          </a:prstGeom>
        </p:spPr>
      </p:pic>
      <p:sp>
        <p:nvSpPr>
          <p:cNvPr id="7" name="Shape 1">
            <a:extLst>
              <a:ext uri="{FF2B5EF4-FFF2-40B4-BE49-F238E27FC236}">
                <a16:creationId xmlns:a16="http://schemas.microsoft.com/office/drawing/2014/main" id="{02A072C9-9738-3979-A7F2-91D6FA016B1B}"/>
              </a:ext>
            </a:extLst>
          </p:cNvPr>
          <p:cNvSpPr/>
          <p:nvPr/>
        </p:nvSpPr>
        <p:spPr>
          <a:xfrm>
            <a:off x="4743428" y="2293960"/>
            <a:ext cx="4041648" cy="2679328"/>
          </a:xfrm>
          <a:prstGeom prst="roundRect">
            <a:avLst>
              <a:gd name="adj" fmla="val 6667"/>
            </a:avLst>
          </a:prstGeom>
          <a:solidFill>
            <a:srgbClr val="FFFFFF"/>
          </a:solidFill>
          <a:ln/>
          <a:effectLst>
            <a:outerShdw blurRad="88900" dist="38100" dir="5400000" algn="bl" rotWithShape="0">
              <a:srgbClr val="1A0F40">
                <a:alpha val="35000"/>
              </a:srgbClr>
            </a:outerShdw>
          </a:effectLst>
        </p:spPr>
        <p:txBody>
          <a:bodyPr/>
          <a:lstStyle/>
          <a:p>
            <a:endParaRPr lang="en-US"/>
          </a:p>
        </p:txBody>
      </p:sp>
      <p:sp>
        <p:nvSpPr>
          <p:cNvPr id="12" name="Shape 2">
            <a:extLst>
              <a:ext uri="{FF2B5EF4-FFF2-40B4-BE49-F238E27FC236}">
                <a16:creationId xmlns:a16="http://schemas.microsoft.com/office/drawing/2014/main" id="{C272F90C-141F-2060-78B8-8F7764204677}"/>
              </a:ext>
            </a:extLst>
          </p:cNvPr>
          <p:cNvSpPr/>
          <p:nvPr/>
        </p:nvSpPr>
        <p:spPr>
          <a:xfrm>
            <a:off x="4920485" y="3320953"/>
            <a:ext cx="457200" cy="457200"/>
          </a:xfrm>
          <a:prstGeom prst="ellipse">
            <a:avLst/>
          </a:prstGeom>
          <a:solidFill>
            <a:srgbClr val="5A3FA0"/>
          </a:solidFill>
          <a:ln/>
        </p:spPr>
        <p:txBody>
          <a:bodyPr/>
          <a:lstStyle/>
          <a:p>
            <a:endParaRPr lang="en-US"/>
          </a:p>
        </p:txBody>
      </p:sp>
      <p:sp>
        <p:nvSpPr>
          <p:cNvPr id="13" name="Text 3">
            <a:extLst>
              <a:ext uri="{FF2B5EF4-FFF2-40B4-BE49-F238E27FC236}">
                <a16:creationId xmlns:a16="http://schemas.microsoft.com/office/drawing/2014/main" id="{0E84E184-4AB3-5513-EA9E-980F3A66EB8F}"/>
              </a:ext>
            </a:extLst>
          </p:cNvPr>
          <p:cNvSpPr/>
          <p:nvPr/>
        </p:nvSpPr>
        <p:spPr>
          <a:xfrm>
            <a:off x="4920485" y="3327711"/>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4" name="Text 4">
            <a:extLst>
              <a:ext uri="{FF2B5EF4-FFF2-40B4-BE49-F238E27FC236}">
                <a16:creationId xmlns:a16="http://schemas.microsoft.com/office/drawing/2014/main" id="{5F1535AD-41AB-89AF-13B2-AE933A4B047B}"/>
              </a:ext>
            </a:extLst>
          </p:cNvPr>
          <p:cNvSpPr/>
          <p:nvPr/>
        </p:nvSpPr>
        <p:spPr>
          <a:xfrm>
            <a:off x="5509561" y="2428066"/>
            <a:ext cx="3035808" cy="2545222"/>
          </a:xfrm>
          <a:prstGeom prst="rect">
            <a:avLst/>
          </a:prstGeom>
          <a:noFill/>
          <a:ln/>
        </p:spPr>
        <p:txBody>
          <a:bodyPr wrap="square" lIns="0" tIns="0" rIns="0" bIns="0" rtlCol="0" anchor="t"/>
          <a:lstStyle/>
          <a:p>
            <a:pPr algn="just"/>
            <a:r>
              <a:rPr lang="en-US" sz="1200" b="1" u="sng" dirty="0">
                <a:solidFill>
                  <a:srgbClr val="2D1B69"/>
                </a:solidFill>
                <a:latin typeface="Calibri" pitchFamily="34" charset="0"/>
                <a:ea typeface="Calibri" pitchFamily="34" charset="-122"/>
                <a:cs typeface="Calibri" pitchFamily="34" charset="-120"/>
              </a:rPr>
              <a:t>Policy Recommendation</a:t>
            </a:r>
          </a:p>
          <a:p>
            <a:pPr algn="just"/>
            <a:endParaRPr lang="en-US" sz="970" dirty="0">
              <a:solidFill>
                <a:srgbClr val="3A3A4A"/>
              </a:solidFill>
              <a:latin typeface="Calibri" pitchFamily="34" charset="0"/>
              <a:ea typeface="Calibri" pitchFamily="34" charset="-122"/>
              <a:cs typeface="Calibri" pitchFamily="34" charset="-120"/>
            </a:endParaRPr>
          </a:p>
          <a:p>
            <a:pPr algn="just">
              <a:lnSpc>
                <a:spcPct val="105000"/>
              </a:lnSpc>
              <a:defRPr/>
            </a:pPr>
            <a:r>
              <a:rPr kumimoji="0" lang="en-US" sz="970" b="1" i="0" u="none" strike="noStrike" kern="1200" cap="none" spc="0" normalizeH="0" baseline="0" noProof="0" dirty="0">
                <a:ln>
                  <a:noFill/>
                </a:ln>
                <a:solidFill>
                  <a:srgbClr val="3A3A4A"/>
                </a:solidFill>
                <a:effectLst/>
                <a:uLnTx/>
                <a:uFillTx/>
                <a:latin typeface="Calibri" pitchFamily="34" charset="0"/>
                <a:ea typeface="Calibri" pitchFamily="34" charset="-122"/>
                <a:cs typeface="Calibri" pitchFamily="34" charset="-120"/>
              </a:rPr>
              <a:t>Extend this regime-detection approach to other unregulated staples. Government agencies can combine the forecast, uncertainty range and regional price differences with current supply information to identify where intervention may be needed, such as coordinating distribution, monitoring potential shortages or preparing market-stabilization measures.</a:t>
            </a:r>
          </a:p>
          <a:p>
            <a:pPr algn="just">
              <a:lnSpc>
                <a:spcPct val="105000"/>
              </a:lnSpc>
              <a:defRPr/>
            </a:pPr>
            <a:endParaRPr lang="en-US" sz="970" dirty="0">
              <a:solidFill>
                <a:srgbClr val="3A3A4A"/>
              </a:solidFill>
              <a:latin typeface="Calibri" pitchFamily="34" charset="0"/>
              <a:ea typeface="Calibri" pitchFamily="34" charset="-122"/>
              <a:cs typeface="Calibri" pitchFamily="34" charset="-120"/>
            </a:endParaRPr>
          </a:p>
          <a:p>
            <a:pPr algn="just">
              <a:lnSpc>
                <a:spcPct val="105000"/>
              </a:lnSpc>
              <a:defRPr/>
            </a:pPr>
            <a:r>
              <a:rPr kumimoji="0" lang="en-US" sz="970" b="0" i="0" u="none" strike="noStrike" kern="1200" cap="none" spc="0" normalizeH="0" baseline="0" noProof="0" dirty="0">
                <a:ln>
                  <a:noFill/>
                </a:ln>
                <a:solidFill>
                  <a:srgbClr val="3A3A4A"/>
                </a:solidFill>
                <a:effectLst/>
                <a:uLnTx/>
                <a:uFillTx/>
                <a:latin typeface="Calibri" pitchFamily="34" charset="0"/>
                <a:ea typeface="Calibri" pitchFamily="34" charset="-122"/>
                <a:cs typeface="Calibri" pitchFamily="34" charset="-120"/>
              </a:rPr>
              <a:t>This direction is backed by emerging research: a 2026 Indonesian study on multi-commodity food price forecasting ahead of Eid Al-Fitr independently confirms that Indonesian food prices require dedicated, calendar-aware forecasting around Ramadan (</a:t>
            </a:r>
            <a:r>
              <a:rPr kumimoji="0" lang="en-US" sz="970" b="0" i="0" u="none" strike="noStrike" kern="1200" cap="none" spc="0" normalizeH="0" baseline="0" noProof="0" dirty="0" err="1">
                <a:ln>
                  <a:noFill/>
                </a:ln>
                <a:solidFill>
                  <a:srgbClr val="3A3A4A"/>
                </a:solidFill>
                <a:effectLst/>
                <a:uLnTx/>
                <a:uFillTx/>
                <a:latin typeface="Calibri" pitchFamily="34" charset="0"/>
                <a:ea typeface="Calibri" pitchFamily="34" charset="-122"/>
                <a:cs typeface="Calibri" pitchFamily="34" charset="-120"/>
              </a:rPr>
              <a:t>Murtani</a:t>
            </a:r>
            <a:r>
              <a:rPr kumimoji="0" lang="en-US" sz="970" b="0" i="0" u="none" strike="noStrike" kern="1200" cap="none" spc="0" normalizeH="0" baseline="0" noProof="0" dirty="0">
                <a:ln>
                  <a:noFill/>
                </a:ln>
                <a:solidFill>
                  <a:srgbClr val="3A3A4A"/>
                </a:solidFill>
                <a:effectLst/>
                <a:uLnTx/>
                <a:uFillTx/>
                <a:latin typeface="Calibri" pitchFamily="34" charset="0"/>
                <a:ea typeface="Calibri" pitchFamily="34" charset="-122"/>
                <a:cs typeface="Calibri" pitchFamily="34" charset="-120"/>
              </a:rPr>
              <a:t>, Kobi, &amp; Imelda, 2026).</a:t>
            </a:r>
            <a:endParaRPr lang="en-US" sz="1200" dirty="0"/>
          </a:p>
        </p:txBody>
      </p:sp>
    </p:spTree>
    <p:extLst>
      <p:ext uri="{BB962C8B-B14F-4D97-AF65-F5344CB8AC3E}">
        <p14:creationId xmlns:p14="http://schemas.microsoft.com/office/powerpoint/2010/main" val="28072730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2D1B69"/>
        </a:solidFill>
        <a:effectLst/>
      </p:bgPr>
    </p:bg>
    <p:spTree>
      <p:nvGrpSpPr>
        <p:cNvPr id="1" name="">
          <a:extLst>
            <a:ext uri="{FF2B5EF4-FFF2-40B4-BE49-F238E27FC236}">
              <a16:creationId xmlns:a16="http://schemas.microsoft.com/office/drawing/2014/main" id="{A1C3404F-8F33-E196-6F05-E7459F457F5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4994852-D625-07E0-4458-EAA2B577A661}"/>
              </a:ext>
            </a:extLst>
          </p:cNvPr>
          <p:cNvSpPr/>
          <p:nvPr/>
        </p:nvSpPr>
        <p:spPr>
          <a:xfrm>
            <a:off x="502920" y="475488"/>
            <a:ext cx="8229600" cy="73152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cs typeface="Calibri" pitchFamily="34" charset="-120"/>
              </a:rPr>
              <a:t>Reflection</a:t>
            </a:r>
            <a:endParaRPr lang="en-US" sz="3800" dirty="0"/>
          </a:p>
        </p:txBody>
      </p:sp>
      <p:sp>
        <p:nvSpPr>
          <p:cNvPr id="4" name="Shape 2">
            <a:extLst>
              <a:ext uri="{FF2B5EF4-FFF2-40B4-BE49-F238E27FC236}">
                <a16:creationId xmlns:a16="http://schemas.microsoft.com/office/drawing/2014/main" id="{A1D384FE-3866-7FFA-114E-48780BC8CF30}"/>
              </a:ext>
            </a:extLst>
          </p:cNvPr>
          <p:cNvSpPr/>
          <p:nvPr/>
        </p:nvSpPr>
        <p:spPr>
          <a:xfrm>
            <a:off x="502920" y="1298121"/>
            <a:ext cx="8229600" cy="731520"/>
          </a:xfrm>
          <a:prstGeom prst="roundRect">
            <a:avLst>
              <a:gd name="adj" fmla="val 8929"/>
            </a:avLst>
          </a:prstGeom>
          <a:solidFill>
            <a:srgbClr val="FFFFFF"/>
          </a:solidFill>
          <a:ln/>
          <a:effectLst>
            <a:outerShdw blurRad="88900" dist="38100" dir="5400000" algn="bl" rotWithShape="0">
              <a:srgbClr val="1A0F40">
                <a:alpha val="35000"/>
              </a:srgbClr>
            </a:outerShdw>
          </a:effectLst>
        </p:spPr>
        <p:txBody>
          <a:bodyPr/>
          <a:lstStyle/>
          <a:p>
            <a:endParaRPr lang="en-US"/>
          </a:p>
        </p:txBody>
      </p:sp>
      <p:sp>
        <p:nvSpPr>
          <p:cNvPr id="7" name="Text 4">
            <a:extLst>
              <a:ext uri="{FF2B5EF4-FFF2-40B4-BE49-F238E27FC236}">
                <a16:creationId xmlns:a16="http://schemas.microsoft.com/office/drawing/2014/main" id="{817689A4-74EA-CF23-A385-B61314612AE3}"/>
              </a:ext>
            </a:extLst>
          </p:cNvPr>
          <p:cNvSpPr/>
          <p:nvPr/>
        </p:nvSpPr>
        <p:spPr>
          <a:xfrm>
            <a:off x="723356" y="1389561"/>
            <a:ext cx="548640" cy="274320"/>
          </a:xfrm>
          <a:prstGeom prst="rect">
            <a:avLst/>
          </a:prstGeom>
          <a:noFill/>
          <a:ln/>
        </p:spPr>
        <p:txBody>
          <a:bodyPr wrap="square" lIns="0" tIns="0" rIns="0" bIns="0" rtlCol="0" anchor="ctr"/>
          <a:lstStyle/>
          <a:p>
            <a:pPr marL="0" indent="0">
              <a:buNone/>
            </a:pPr>
            <a:r>
              <a:rPr lang="en-US" sz="1200" b="1" dirty="0">
                <a:solidFill>
                  <a:srgbClr val="D99A2B"/>
                </a:solidFill>
                <a:latin typeface="Calibri" pitchFamily="34" charset="0"/>
                <a:ea typeface="Calibri" pitchFamily="34" charset="-122"/>
                <a:cs typeface="Calibri" pitchFamily="34" charset="-120"/>
              </a:rPr>
              <a:t>01</a:t>
            </a:r>
            <a:endParaRPr lang="en-US" sz="1200" dirty="0"/>
          </a:p>
        </p:txBody>
      </p:sp>
      <p:sp>
        <p:nvSpPr>
          <p:cNvPr id="8" name="Text 5">
            <a:extLst>
              <a:ext uri="{FF2B5EF4-FFF2-40B4-BE49-F238E27FC236}">
                <a16:creationId xmlns:a16="http://schemas.microsoft.com/office/drawing/2014/main" id="{1C2BAE9D-B62A-5DC7-6841-590BEC13F59C}"/>
              </a:ext>
            </a:extLst>
          </p:cNvPr>
          <p:cNvSpPr/>
          <p:nvPr/>
        </p:nvSpPr>
        <p:spPr>
          <a:xfrm>
            <a:off x="1317712" y="1336003"/>
            <a:ext cx="6492240" cy="329184"/>
          </a:xfrm>
          <a:prstGeom prst="rect">
            <a:avLst/>
          </a:prstGeom>
          <a:noFill/>
          <a:ln/>
        </p:spPr>
        <p:txBody>
          <a:bodyPr wrap="square" lIns="0" tIns="0" rIns="0" bIns="0" rtlCol="0" anchor="ctr"/>
          <a:lstStyle/>
          <a:p>
            <a:pPr marL="0" indent="0">
              <a:buNone/>
            </a:pPr>
            <a:r>
              <a:rPr lang="en-US" sz="1400" b="1" dirty="0">
                <a:solidFill>
                  <a:srgbClr val="2D1B69"/>
                </a:solidFill>
                <a:latin typeface="Calibri" pitchFamily="34" charset="0"/>
                <a:ea typeface="Calibri" pitchFamily="34" charset="-122"/>
                <a:cs typeface="Calibri" pitchFamily="34" charset="-120"/>
              </a:rPr>
              <a:t>What this dataset cannot answer</a:t>
            </a:r>
            <a:endParaRPr lang="en-US" sz="1400" dirty="0"/>
          </a:p>
        </p:txBody>
      </p:sp>
      <p:sp>
        <p:nvSpPr>
          <p:cNvPr id="9" name="Text 6">
            <a:extLst>
              <a:ext uri="{FF2B5EF4-FFF2-40B4-BE49-F238E27FC236}">
                <a16:creationId xmlns:a16="http://schemas.microsoft.com/office/drawing/2014/main" id="{E50F3349-A696-8E22-E99D-7B98215E5306}"/>
              </a:ext>
            </a:extLst>
          </p:cNvPr>
          <p:cNvSpPr/>
          <p:nvPr/>
        </p:nvSpPr>
        <p:spPr>
          <a:xfrm>
            <a:off x="613134" y="1648005"/>
            <a:ext cx="8027946" cy="512064"/>
          </a:xfrm>
          <a:prstGeom prst="rect">
            <a:avLst/>
          </a:prstGeom>
          <a:noFill/>
          <a:ln/>
        </p:spPr>
        <p:txBody>
          <a:bodyPr wrap="square" lIns="0" tIns="0" rIns="0" bIns="0" rtlCol="0" anchor="t"/>
          <a:lstStyle/>
          <a:p>
            <a:pPr algn="just">
              <a:lnSpc>
                <a:spcPct val="105000"/>
              </a:lnSpc>
            </a:pPr>
            <a:r>
              <a:rPr lang="en-US" sz="1030" dirty="0">
                <a:solidFill>
                  <a:srgbClr val="3A3A4A"/>
                </a:solidFill>
                <a:latin typeface="Calibri" pitchFamily="34" charset="0"/>
                <a:ea typeface="Calibri" pitchFamily="34" charset="-122"/>
                <a:cs typeface="Calibri" pitchFamily="34" charset="-120"/>
              </a:rPr>
              <a:t>With only 4 years of data and just one major price shock, we can't cleanly tell apart "this happened because of Ramadan" from "this happened because of the 2023 feed crisis"  as they overlapped in the only window we had. We'd need several more years of data to separate the two properly.</a:t>
            </a:r>
            <a:endParaRPr lang="en-US" sz="1030" dirty="0"/>
          </a:p>
        </p:txBody>
      </p:sp>
      <p:sp>
        <p:nvSpPr>
          <p:cNvPr id="10" name="Shape 7">
            <a:extLst>
              <a:ext uri="{FF2B5EF4-FFF2-40B4-BE49-F238E27FC236}">
                <a16:creationId xmlns:a16="http://schemas.microsoft.com/office/drawing/2014/main" id="{6CF4E27F-1A7D-6945-8FFC-C97374DF7CE8}"/>
              </a:ext>
            </a:extLst>
          </p:cNvPr>
          <p:cNvSpPr/>
          <p:nvPr/>
        </p:nvSpPr>
        <p:spPr>
          <a:xfrm>
            <a:off x="502916" y="2204684"/>
            <a:ext cx="8229600" cy="968362"/>
          </a:xfrm>
          <a:prstGeom prst="roundRect">
            <a:avLst>
              <a:gd name="adj" fmla="val 8929"/>
            </a:avLst>
          </a:prstGeom>
          <a:solidFill>
            <a:srgbClr val="FFFFFF"/>
          </a:solidFill>
          <a:ln/>
          <a:effectLst>
            <a:outerShdw blurRad="88900" dist="38100" dir="5400000" algn="bl" rotWithShape="0">
              <a:srgbClr val="1A0F40">
                <a:alpha val="35000"/>
              </a:srgbClr>
            </a:outerShdw>
          </a:effectLst>
        </p:spPr>
        <p:txBody>
          <a:bodyPr/>
          <a:lstStyle/>
          <a:p>
            <a:endParaRPr lang="en-US"/>
          </a:p>
        </p:txBody>
      </p:sp>
      <p:sp>
        <p:nvSpPr>
          <p:cNvPr id="13" name="Text 9">
            <a:extLst>
              <a:ext uri="{FF2B5EF4-FFF2-40B4-BE49-F238E27FC236}">
                <a16:creationId xmlns:a16="http://schemas.microsoft.com/office/drawing/2014/main" id="{1946EFBC-39C8-CBF5-A186-E56CE53C89E5}"/>
              </a:ext>
            </a:extLst>
          </p:cNvPr>
          <p:cNvSpPr/>
          <p:nvPr/>
        </p:nvSpPr>
        <p:spPr>
          <a:xfrm>
            <a:off x="723352" y="2319728"/>
            <a:ext cx="548640" cy="274320"/>
          </a:xfrm>
          <a:prstGeom prst="rect">
            <a:avLst/>
          </a:prstGeom>
          <a:noFill/>
          <a:ln/>
        </p:spPr>
        <p:txBody>
          <a:bodyPr wrap="square" lIns="0" tIns="0" rIns="0" bIns="0" rtlCol="0" anchor="ctr"/>
          <a:lstStyle/>
          <a:p>
            <a:pPr marL="0" indent="0">
              <a:buNone/>
            </a:pPr>
            <a:r>
              <a:rPr lang="en-US" sz="1200" b="1" dirty="0">
                <a:solidFill>
                  <a:srgbClr val="2E9684"/>
                </a:solidFill>
                <a:latin typeface="Calibri" pitchFamily="34" charset="0"/>
                <a:ea typeface="Calibri" pitchFamily="34" charset="-122"/>
                <a:cs typeface="Calibri" pitchFamily="34" charset="-120"/>
              </a:rPr>
              <a:t>02</a:t>
            </a:r>
            <a:endParaRPr lang="en-US" sz="1200" dirty="0"/>
          </a:p>
        </p:txBody>
      </p:sp>
      <p:sp>
        <p:nvSpPr>
          <p:cNvPr id="14" name="Text 10">
            <a:extLst>
              <a:ext uri="{FF2B5EF4-FFF2-40B4-BE49-F238E27FC236}">
                <a16:creationId xmlns:a16="http://schemas.microsoft.com/office/drawing/2014/main" id="{9BAF945B-14EF-B3EC-22A2-EAD5D75A54A2}"/>
              </a:ext>
            </a:extLst>
          </p:cNvPr>
          <p:cNvSpPr/>
          <p:nvPr/>
        </p:nvSpPr>
        <p:spPr>
          <a:xfrm>
            <a:off x="1317712" y="2278018"/>
            <a:ext cx="6492240" cy="329184"/>
          </a:xfrm>
          <a:prstGeom prst="rect">
            <a:avLst/>
          </a:prstGeom>
          <a:noFill/>
          <a:ln/>
        </p:spPr>
        <p:txBody>
          <a:bodyPr wrap="square" lIns="0" tIns="0" rIns="0" bIns="0" rtlCol="0" anchor="ctr"/>
          <a:lstStyle/>
          <a:p>
            <a:r>
              <a:rPr lang="en-US" sz="1400" b="1">
                <a:solidFill>
                  <a:srgbClr val="2D1B69"/>
                </a:solidFill>
                <a:latin typeface="Calibri" pitchFamily="34" charset="0"/>
                <a:ea typeface="Calibri" pitchFamily="34" charset="-122"/>
                <a:cs typeface="Calibri" pitchFamily="34" charset="-120"/>
              </a:rPr>
              <a:t>What changed during the analysis process</a:t>
            </a:r>
            <a:endParaRPr lang="en-US" sz="1400" dirty="0"/>
          </a:p>
        </p:txBody>
      </p:sp>
      <p:sp>
        <p:nvSpPr>
          <p:cNvPr id="15" name="Text 11">
            <a:extLst>
              <a:ext uri="{FF2B5EF4-FFF2-40B4-BE49-F238E27FC236}">
                <a16:creationId xmlns:a16="http://schemas.microsoft.com/office/drawing/2014/main" id="{F8806F5F-0DC8-F5EE-41BC-A5E0FAB3FD70}"/>
              </a:ext>
            </a:extLst>
          </p:cNvPr>
          <p:cNvSpPr/>
          <p:nvPr/>
        </p:nvSpPr>
        <p:spPr>
          <a:xfrm>
            <a:off x="613134" y="2576136"/>
            <a:ext cx="8027946" cy="512064"/>
          </a:xfrm>
          <a:prstGeom prst="rect">
            <a:avLst/>
          </a:prstGeom>
          <a:noFill/>
          <a:ln/>
        </p:spPr>
        <p:txBody>
          <a:bodyPr wrap="square" lIns="0" tIns="0" rIns="0" bIns="0" rtlCol="0" anchor="t"/>
          <a:lstStyle/>
          <a:p>
            <a:pPr algn="just">
              <a:lnSpc>
                <a:spcPct val="105000"/>
              </a:lnSpc>
            </a:pPr>
            <a:r>
              <a:rPr lang="en-US" sz="1050" dirty="0"/>
              <a:t>We started out trying to build the most advanced model possible. A failed attempt to bake Ramadan directly into the model (which made things much worse) also pushed the final answer toward a human-in-the-loop approach instead of a purely statistical one. The initial pipeline contained data leakage in changepoint detection, so the process was corrected to use training data only and all test results were recalculated.</a:t>
            </a:r>
            <a:endParaRPr lang="en-US" sz="1030" dirty="0"/>
          </a:p>
        </p:txBody>
      </p:sp>
      <p:sp>
        <p:nvSpPr>
          <p:cNvPr id="16" name="Shape 12">
            <a:extLst>
              <a:ext uri="{FF2B5EF4-FFF2-40B4-BE49-F238E27FC236}">
                <a16:creationId xmlns:a16="http://schemas.microsoft.com/office/drawing/2014/main" id="{8E0598D8-6385-6C6F-94D7-4B2CF7796830}"/>
              </a:ext>
            </a:extLst>
          </p:cNvPr>
          <p:cNvSpPr/>
          <p:nvPr/>
        </p:nvSpPr>
        <p:spPr>
          <a:xfrm>
            <a:off x="502914" y="3376880"/>
            <a:ext cx="8229600" cy="968362"/>
          </a:xfrm>
          <a:prstGeom prst="roundRect">
            <a:avLst>
              <a:gd name="adj" fmla="val 8929"/>
            </a:avLst>
          </a:prstGeom>
          <a:solidFill>
            <a:srgbClr val="FFFFFF"/>
          </a:solidFill>
          <a:ln/>
          <a:effectLst>
            <a:outerShdw blurRad="88900" dist="38100" dir="5400000" algn="bl" rotWithShape="0">
              <a:srgbClr val="1A0F40">
                <a:alpha val="35000"/>
              </a:srgbClr>
            </a:outerShdw>
          </a:effectLst>
        </p:spPr>
        <p:txBody>
          <a:bodyPr/>
          <a:lstStyle/>
          <a:p>
            <a:endParaRPr lang="en-US"/>
          </a:p>
        </p:txBody>
      </p:sp>
      <p:sp>
        <p:nvSpPr>
          <p:cNvPr id="19" name="Text 14">
            <a:extLst>
              <a:ext uri="{FF2B5EF4-FFF2-40B4-BE49-F238E27FC236}">
                <a16:creationId xmlns:a16="http://schemas.microsoft.com/office/drawing/2014/main" id="{63526231-DFF9-04AC-1F04-54CB65BBD4A3}"/>
              </a:ext>
            </a:extLst>
          </p:cNvPr>
          <p:cNvSpPr/>
          <p:nvPr/>
        </p:nvSpPr>
        <p:spPr>
          <a:xfrm>
            <a:off x="723352" y="3523184"/>
            <a:ext cx="548640" cy="274320"/>
          </a:xfrm>
          <a:prstGeom prst="rect">
            <a:avLst/>
          </a:prstGeom>
          <a:noFill/>
          <a:ln/>
        </p:spPr>
        <p:txBody>
          <a:bodyPr wrap="square" lIns="0" tIns="0" rIns="0" bIns="0" rtlCol="0" anchor="ctr"/>
          <a:lstStyle/>
          <a:p>
            <a:pPr marL="0" indent="0">
              <a:buNone/>
            </a:pPr>
            <a:r>
              <a:rPr lang="en-US" sz="1200" b="1" dirty="0">
                <a:solidFill>
                  <a:srgbClr val="5A3FA0"/>
                </a:solidFill>
                <a:latin typeface="Calibri" pitchFamily="34" charset="0"/>
                <a:ea typeface="Calibri" pitchFamily="34" charset="-122"/>
                <a:cs typeface="Calibri" pitchFamily="34" charset="-120"/>
              </a:rPr>
              <a:t>03</a:t>
            </a:r>
            <a:endParaRPr lang="en-US" sz="1200" dirty="0"/>
          </a:p>
        </p:txBody>
      </p:sp>
      <p:sp>
        <p:nvSpPr>
          <p:cNvPr id="20" name="Text 15">
            <a:extLst>
              <a:ext uri="{FF2B5EF4-FFF2-40B4-BE49-F238E27FC236}">
                <a16:creationId xmlns:a16="http://schemas.microsoft.com/office/drawing/2014/main" id="{5870D297-9BE2-656C-86FF-B508B357EE00}"/>
              </a:ext>
            </a:extLst>
          </p:cNvPr>
          <p:cNvSpPr/>
          <p:nvPr/>
        </p:nvSpPr>
        <p:spPr>
          <a:xfrm>
            <a:off x="1317712" y="3494446"/>
            <a:ext cx="6492240" cy="329184"/>
          </a:xfrm>
          <a:prstGeom prst="rect">
            <a:avLst/>
          </a:prstGeom>
          <a:noFill/>
          <a:ln/>
        </p:spPr>
        <p:txBody>
          <a:bodyPr wrap="square" lIns="0" tIns="0" rIns="0" bIns="0" rtlCol="0" anchor="ctr"/>
          <a:lstStyle/>
          <a:p>
            <a:r>
              <a:rPr lang="en-US" sz="1400" b="1">
                <a:solidFill>
                  <a:srgbClr val="2D1B69"/>
                </a:solidFill>
                <a:latin typeface="Calibri" pitchFamily="34" charset="0"/>
                <a:ea typeface="Calibri" pitchFamily="34" charset="-122"/>
                <a:cs typeface="Calibri" pitchFamily="34" charset="-120"/>
              </a:rPr>
              <a:t>What still needs to be validated</a:t>
            </a:r>
            <a:r>
              <a:rPr lang="en-US" sz="1400" b="1" dirty="0">
                <a:solidFill>
                  <a:srgbClr val="2D1B69"/>
                </a:solidFill>
                <a:latin typeface="Calibri" pitchFamily="34" charset="0"/>
                <a:ea typeface="Calibri" pitchFamily="34" charset="-122"/>
                <a:cs typeface="Calibri" pitchFamily="34" charset="-120"/>
              </a:rPr>
              <a:t>?</a:t>
            </a:r>
            <a:endParaRPr lang="en-US" sz="1400" dirty="0"/>
          </a:p>
        </p:txBody>
      </p:sp>
      <p:sp>
        <p:nvSpPr>
          <p:cNvPr id="21" name="Text 16">
            <a:extLst>
              <a:ext uri="{FF2B5EF4-FFF2-40B4-BE49-F238E27FC236}">
                <a16:creationId xmlns:a16="http://schemas.microsoft.com/office/drawing/2014/main" id="{B24460BD-9B18-95F4-6CBE-8E2137674F43}"/>
              </a:ext>
            </a:extLst>
          </p:cNvPr>
          <p:cNvSpPr/>
          <p:nvPr/>
        </p:nvSpPr>
        <p:spPr>
          <a:xfrm>
            <a:off x="613134" y="3862801"/>
            <a:ext cx="8027946" cy="441704"/>
          </a:xfrm>
          <a:prstGeom prst="rect">
            <a:avLst/>
          </a:prstGeom>
          <a:noFill/>
          <a:ln/>
        </p:spPr>
        <p:txBody>
          <a:bodyPr wrap="square" lIns="0" tIns="0" rIns="0" bIns="0" rtlCol="0" anchor="t"/>
          <a:lstStyle/>
          <a:p>
            <a:pPr algn="just">
              <a:lnSpc>
                <a:spcPct val="105000"/>
              </a:lnSpc>
            </a:pPr>
            <a:r>
              <a:rPr lang="en-US" sz="1050" dirty="0"/>
              <a:t>We've only checked the forecast against one real month so far (January 2026). More months are needed to know if this was a one-off or a pattern. It's also worth checking whether other everyday foods (like chicken), not just eggs, show the same Ramadan-driven blind spot.</a:t>
            </a:r>
          </a:p>
        </p:txBody>
      </p:sp>
      <p:pic>
        <p:nvPicPr>
          <p:cNvPr id="3" name="Copied Picture 26">
            <a:extLst>
              <a:ext uri="{FF2B5EF4-FFF2-40B4-BE49-F238E27FC236}">
                <a16:creationId xmlns:a16="http://schemas.microsoft.com/office/drawing/2014/main" id="{0C6E99DB-AB0A-944D-CB18-C8F0D4B12593}"/>
              </a:ext>
            </a:extLst>
          </p:cNvPr>
          <p:cNvPicPr>
            <a:picLocks noChangeAspect="1"/>
          </p:cNvPicPr>
          <p:nvPr/>
        </p:nvPicPr>
        <p:blipFill>
          <a:blip r:embed="rId3"/>
          <a:stretch/>
        </p:blipFill>
        <p:spPr>
          <a:xfrm>
            <a:off x="7887393" y="98911"/>
            <a:ext cx="1141141" cy="753153"/>
          </a:xfrm>
          <a:prstGeom prst="rect">
            <a:avLst/>
          </a:prstGeom>
        </p:spPr>
      </p:pic>
    </p:spTree>
    <p:extLst>
      <p:ext uri="{BB962C8B-B14F-4D97-AF65-F5344CB8AC3E}">
        <p14:creationId xmlns:p14="http://schemas.microsoft.com/office/powerpoint/2010/main" val="22901654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2">
    <p:bg>
      <p:bgPr>
        <a:solidFill>
          <a:srgbClr val="2D1B69"/>
        </a:solidFill>
        <a:effectLst/>
      </p:bgPr>
    </p:bg>
    <p:spTree>
      <p:nvGrpSpPr>
        <p:cNvPr id="1" name=""/>
        <p:cNvGrpSpPr/>
        <p:nvPr/>
      </p:nvGrpSpPr>
      <p:grpSpPr>
        <a:xfrm>
          <a:off x="0" y="0"/>
          <a:ext cx="0" cy="0"/>
          <a:chOff x="0" y="0"/>
          <a:chExt cx="0" cy="0"/>
        </a:xfrm>
      </p:grpSpPr>
      <p:sp>
        <p:nvSpPr>
          <p:cNvPr id="2" name="Shape 0"/>
          <p:cNvSpPr/>
          <p:nvPr/>
        </p:nvSpPr>
        <p:spPr>
          <a:xfrm>
            <a:off x="6949440" y="-1280160"/>
            <a:ext cx="3840480" cy="3840480"/>
          </a:xfrm>
          <a:prstGeom prst="ellipse">
            <a:avLst/>
          </a:prstGeom>
          <a:solidFill>
            <a:srgbClr val="3B2C6E"/>
          </a:solidFill>
          <a:ln/>
        </p:spPr>
        <p:txBody>
          <a:bodyPr/>
          <a:lstStyle/>
          <a:p>
            <a:endParaRPr lang="en-US"/>
          </a:p>
        </p:txBody>
      </p:sp>
      <p:sp>
        <p:nvSpPr>
          <p:cNvPr id="3" name="Shape 1"/>
          <p:cNvSpPr/>
          <p:nvPr/>
        </p:nvSpPr>
        <p:spPr>
          <a:xfrm>
            <a:off x="-1097280" y="3474720"/>
            <a:ext cx="2743200" cy="2743200"/>
          </a:xfrm>
          <a:prstGeom prst="ellipse">
            <a:avLst/>
          </a:prstGeom>
          <a:solidFill>
            <a:srgbClr val="3B2C6E"/>
          </a:solidFill>
          <a:ln/>
        </p:spPr>
        <p:txBody>
          <a:bodyPr/>
          <a:lstStyle/>
          <a:p>
            <a:endParaRPr lang="en-US"/>
          </a:p>
        </p:txBody>
      </p:sp>
      <p:sp>
        <p:nvSpPr>
          <p:cNvPr id="4" name="Text 2"/>
          <p:cNvSpPr/>
          <p:nvPr/>
        </p:nvSpPr>
        <p:spPr>
          <a:xfrm>
            <a:off x="457200" y="2114550"/>
            <a:ext cx="8229600" cy="914400"/>
          </a:xfrm>
          <a:prstGeom prst="rect">
            <a:avLst/>
          </a:prstGeom>
          <a:noFill/>
          <a:ln/>
        </p:spPr>
        <p:txBody>
          <a:bodyPr wrap="square" lIns="0" tIns="0" rIns="0" bIns="0" rtlCol="0" anchor="ctr"/>
          <a:lstStyle/>
          <a:p>
            <a:pPr marL="0" indent="0" algn="ctr">
              <a:buNone/>
            </a:pPr>
            <a:r>
              <a:rPr lang="en-US" sz="9600" b="1" dirty="0">
                <a:solidFill>
                  <a:srgbClr val="FFFFFF"/>
                </a:solidFill>
                <a:latin typeface="Cambria" pitchFamily="34" charset="0"/>
                <a:ea typeface="Cambria" pitchFamily="34" charset="-122"/>
                <a:cs typeface="Cambria" pitchFamily="34" charset="-120"/>
              </a:rPr>
              <a:t>Q&amp;A</a:t>
            </a:r>
            <a:endParaRPr lang="en-US" sz="9600" dirty="0"/>
          </a:p>
        </p:txBody>
      </p:sp>
      <p:pic>
        <p:nvPicPr>
          <p:cNvPr id="5" name="Copied Picture 5">
            <a:extLst>
              <a:ext uri="{FF2B5EF4-FFF2-40B4-BE49-F238E27FC236}">
                <a16:creationId xmlns:a16="http://schemas.microsoft.com/office/drawing/2014/main" id="{098C5A1E-651C-798D-5D81-541A1CCCDFF3}"/>
              </a:ext>
            </a:extLst>
          </p:cNvPr>
          <p:cNvPicPr>
            <a:picLocks noChangeAspect="1"/>
          </p:cNvPicPr>
          <p:nvPr/>
        </p:nvPicPr>
        <p:blipFill>
          <a:blip r:embed="rId3"/>
          <a:stretch/>
        </p:blipFill>
        <p:spPr>
          <a:xfrm>
            <a:off x="127000" y="38099"/>
            <a:ext cx="1518920" cy="1012613"/>
          </a:xfrm>
          <a:prstGeom prst="rect">
            <a:avLst/>
          </a:prstGeom>
        </p:spPr>
      </p:pic>
    </p:spTree>
    <p:extLst>
      <p:ext uri="{BB962C8B-B14F-4D97-AF65-F5344CB8AC3E}">
        <p14:creationId xmlns:p14="http://schemas.microsoft.com/office/powerpoint/2010/main" val="4228673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A61B9BA-C216-884C-BFA5-8A05D87EC5EA}">
  <we:reference id="wa200010001" version="1.0.0.1" store="en-US" storeType="OMEX"/>
  <we:alternateReferences>
    <we:reference id="wa200010001" version="1.0.0.1" store="en-US" storeType="OMEX"/>
  </we:alternateReferences>
  <we:properties>
    <we:property name="claude.fileId" value="&quot;a7b4197f-1595-451b-b952-e39a978490f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9672</TotalTime>
  <Words>4296</Words>
  <Application>Microsoft Macintosh PowerPoint</Application>
  <PresentationFormat>On-screen Show (16:9)</PresentationFormat>
  <Paragraphs>566</Paragraphs>
  <Slides>35</Slides>
  <Notes>30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Calibri</vt:lpstr>
      <vt:lpstr>Cambria</vt:lpstr>
      <vt:lpstr>Courier New</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Strategic Growth Project</dc:title>
  <dc:subject>PptxGenJS Presentation</dc:subject>
  <dc:creator>Quratul Nurlina Oktavialin Thahir</dc:creator>
  <cp:lastModifiedBy>Quratul Thaher</cp:lastModifiedBy>
  <cp:revision>129</cp:revision>
  <dcterms:created xsi:type="dcterms:W3CDTF">2026-06-21T05:13:10Z</dcterms:created>
  <dcterms:modified xsi:type="dcterms:W3CDTF">2026-07-19T11:37:10Z</dcterms:modified>
</cp:coreProperties>
</file>